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2" r:id="rId5"/>
    <p:sldId id="261" r:id="rId6"/>
    <p:sldId id="262" r:id="rId7"/>
    <p:sldId id="263" r:id="rId8"/>
    <p:sldId id="264" r:id="rId9"/>
    <p:sldId id="265" r:id="rId10"/>
    <p:sldId id="27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Lan" userId="6e5153f3021ffb3d" providerId="LiveId" clId="{F3DAA5EA-721E-4D4E-896D-D343572A93C3}"/>
    <pc:docChg chg="undo custSel addSld delSld modSld sldOrd">
      <pc:chgData name="Nguyen Lan" userId="6e5153f3021ffb3d" providerId="LiveId" clId="{F3DAA5EA-721E-4D4E-896D-D343572A93C3}" dt="2026-09-10T03:40:00.463" v="185" actId="47"/>
      <pc:docMkLst>
        <pc:docMk/>
      </pc:docMkLst>
      <pc:sldChg chg="modSp mod">
        <pc:chgData name="Nguyen Lan" userId="6e5153f3021ffb3d" providerId="LiveId" clId="{F3DAA5EA-721E-4D4E-896D-D343572A93C3}" dt="2026-09-06T17:08:27.455" v="181" actId="20577"/>
        <pc:sldMkLst>
          <pc:docMk/>
          <pc:sldMk cId="0" sldId="257"/>
        </pc:sldMkLst>
        <pc:spChg chg="mod">
          <ac:chgData name="Nguyen Lan" userId="6e5153f3021ffb3d" providerId="LiveId" clId="{F3DAA5EA-721E-4D4E-896D-D343572A93C3}" dt="2026-09-06T17:08:27.455" v="181" actId="20577"/>
          <ac:spMkLst>
            <pc:docMk/>
            <pc:sldMk cId="0" sldId="257"/>
            <ac:spMk id="10" creationId="{00000000-0000-0000-0000-000000000000}"/>
          </ac:spMkLst>
        </pc:spChg>
        <pc:spChg chg="mod">
          <ac:chgData name="Nguyen Lan" userId="6e5153f3021ffb3d" providerId="LiveId" clId="{F3DAA5EA-721E-4D4E-896D-D343572A93C3}" dt="2026-09-06T07:54:00.908" v="68" actId="20577"/>
          <ac:spMkLst>
            <pc:docMk/>
            <pc:sldMk cId="0" sldId="257"/>
            <ac:spMk id="24" creationId="{00000000-0000-0000-0000-000000000000}"/>
          </ac:spMkLst>
        </pc:spChg>
      </pc:sldChg>
      <pc:sldChg chg="modSp mod">
        <pc:chgData name="Nguyen Lan" userId="6e5153f3021ffb3d" providerId="LiveId" clId="{F3DAA5EA-721E-4D4E-896D-D343572A93C3}" dt="2026-09-05T19:13:01.057" v="8" actId="1076"/>
        <pc:sldMkLst>
          <pc:docMk/>
          <pc:sldMk cId="0" sldId="258"/>
        </pc:sldMkLst>
        <pc:spChg chg="mod">
          <ac:chgData name="Nguyen Lan" userId="6e5153f3021ffb3d" providerId="LiveId" clId="{F3DAA5EA-721E-4D4E-896D-D343572A93C3}" dt="2026-09-05T19:13:01.057" v="8" actId="1076"/>
          <ac:spMkLst>
            <pc:docMk/>
            <pc:sldMk cId="0" sldId="258"/>
            <ac:spMk id="4" creationId="{00000000-0000-0000-0000-000000000000}"/>
          </ac:spMkLst>
        </pc:spChg>
      </pc:sldChg>
      <pc:sldChg chg="modSp del mod">
        <pc:chgData name="Nguyen Lan" userId="6e5153f3021ffb3d" providerId="LiveId" clId="{F3DAA5EA-721E-4D4E-896D-D343572A93C3}" dt="2026-09-10T03:37:53.944" v="182" actId="47"/>
        <pc:sldMkLst>
          <pc:docMk/>
          <pc:sldMk cId="0" sldId="259"/>
        </pc:sldMkLst>
      </pc:sldChg>
      <pc:sldChg chg="del">
        <pc:chgData name="Nguyen Lan" userId="6e5153f3021ffb3d" providerId="LiveId" clId="{F3DAA5EA-721E-4D4E-896D-D343572A93C3}" dt="2026-09-10T03:40:00.463" v="185" actId="47"/>
        <pc:sldMkLst>
          <pc:docMk/>
          <pc:sldMk cId="0" sldId="260"/>
        </pc:sldMkLst>
      </pc:sldChg>
      <pc:sldChg chg="modSp mod">
        <pc:chgData name="Nguyen Lan" userId="6e5153f3021ffb3d" providerId="LiveId" clId="{F3DAA5EA-721E-4D4E-896D-D343572A93C3}" dt="2026-09-06T07:49:00.417" v="15" actId="1036"/>
        <pc:sldMkLst>
          <pc:docMk/>
          <pc:sldMk cId="0" sldId="269"/>
        </pc:sldMkLst>
        <pc:spChg chg="mod">
          <ac:chgData name="Nguyen Lan" userId="6e5153f3021ffb3d" providerId="LiveId" clId="{F3DAA5EA-721E-4D4E-896D-D343572A93C3}" dt="2026-09-06T07:49:00.417" v="15" actId="1036"/>
          <ac:spMkLst>
            <pc:docMk/>
            <pc:sldMk cId="0" sldId="269"/>
            <ac:spMk id="4" creationId="{00000000-0000-0000-0000-000000000000}"/>
          </ac:spMkLst>
        </pc:spChg>
      </pc:sldChg>
      <pc:sldChg chg="ord">
        <pc:chgData name="Nguyen Lan" userId="6e5153f3021ffb3d" providerId="LiveId" clId="{F3DAA5EA-721E-4D4E-896D-D343572A93C3}" dt="2026-09-06T12:03:04.272" v="72"/>
        <pc:sldMkLst>
          <pc:docMk/>
          <pc:sldMk cId="4062975976" sldId="272"/>
        </pc:sldMkLst>
      </pc:sldChg>
      <pc:sldChg chg="del">
        <pc:chgData name="Nguyen Lan" userId="6e5153f3021ffb3d" providerId="LiveId" clId="{F3DAA5EA-721E-4D4E-896D-D343572A93C3}" dt="2026-09-10T03:38:04.737" v="183" actId="47"/>
        <pc:sldMkLst>
          <pc:docMk/>
          <pc:sldMk cId="80764101" sldId="273"/>
        </pc:sldMkLst>
      </pc:sldChg>
      <pc:sldChg chg="del">
        <pc:chgData name="Nguyen Lan" userId="6e5153f3021ffb3d" providerId="LiveId" clId="{F3DAA5EA-721E-4D4E-896D-D343572A93C3}" dt="2026-09-10T03:38:07.744" v="184" actId="47"/>
        <pc:sldMkLst>
          <pc:docMk/>
          <pc:sldMk cId="4015683605" sldId="274"/>
        </pc:sldMkLst>
      </pc:sldChg>
      <pc:sldChg chg="del">
        <pc:chgData name="Nguyen Lan" userId="6e5153f3021ffb3d" providerId="LiveId" clId="{F3DAA5EA-721E-4D4E-896D-D343572A93C3}" dt="2026-09-06T12:46:20.834" v="73" actId="47"/>
        <pc:sldMkLst>
          <pc:docMk/>
          <pc:sldMk cId="239061964" sldId="275"/>
        </pc:sldMkLst>
      </pc:sldChg>
      <pc:sldChg chg="addSp modSp new mod">
        <pc:chgData name="Nguyen Lan" userId="6e5153f3021ffb3d" providerId="LiveId" clId="{F3DAA5EA-721E-4D4E-896D-D343572A93C3}" dt="2026-09-06T15:49:29.706" v="78" actId="14100"/>
        <pc:sldMkLst>
          <pc:docMk/>
          <pc:sldMk cId="2697281301" sldId="275"/>
        </pc:sldMkLst>
        <pc:picChg chg="add mod">
          <ac:chgData name="Nguyen Lan" userId="6e5153f3021ffb3d" providerId="LiveId" clId="{F3DAA5EA-721E-4D4E-896D-D343572A93C3}" dt="2026-09-06T15:49:29.706" v="78" actId="14100"/>
          <ac:picMkLst>
            <pc:docMk/>
            <pc:sldMk cId="2697281301" sldId="275"/>
            <ac:picMk id="3" creationId="{13AB4313-2640-F867-856F-EB5800840B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43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ban giám khảo, nhóm em xin giới thiệu dự án LOBBY LOOP. Lobby không đơn thuần là nơi khách đứng chờ — đó là điểm chạm cuối cùng trước khi khách vào phòng chiếu, và cũng là nơi doanh nghiệp đang bỏ lỡ rất nhiều giá trị. Trong phần trình bày hôm nay, nhóm em sẽ chỉ ra ba điểm gãy đang tồn tại trong luồng vận hành tại Lobby, và cách LOBBY LOOP biến những điểm gãy rời rạc đó thành một vòng lặp vận hành khép kín — bán tốt hơn, vận hành nhẹ hơn, hiểu khách hàng tốt hơn. Đây không phải một ý tưởng trên giấy, mà là một logic vận hành có thể triển khai thực tế.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khảo sát thực tế vận hành tại Lobby, nhóm em nhận ra vấn đề không nằm ở một khâu đơn lẻ, mà xuất hiện xuyên suốt cả luồng vận hành — từ trước, trong, đến sau giao dịch. Ba điểm gãy này là: SELL — bán hàng bị giới hạn trước giao dịch; OPERATE — vẫn còn thao tác thủ công trong và sau giao dịch; và LISTEN — khách hàng mất thời gian khi đánh giá dịch vụ sau trải nghiệm. Đây chính là khung sườn cho toàn bộ phần trình bày hôm nay. Hãy cùng đi sâu vào từng điểm gãy, bắt đầu từ SELL.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Lobby, nhân viên hoàn toàn có thể chủ động tư vấn khách mua thêm bắp nước. Nhưng vấn đề nằm ở công cụ: Tablet Lobby chỉ hiển thị một vài combo lớn, trong khi POS tại quầy Concession có đầy đủ danh mục sản phẩm hơn rất nhiều. Lobby được giao target doanh thu, nhưng công cụ bán hàng lại không cho phép họ phục vụ đúng nhu cầu khách. Đây là điểm nhóm em muốn nhấn mạnh nhất: khách hàng không thiếu nhu cầu, chúng ta chỉ đang thiếu công cụ để phục vụ nhu cầu đó ngay tại thời điểm khách cần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đầu tiên không phải là mở toàn bộ danh mục POS lên Tablet Lobby — làm vậy sẽ vượt quá khả năng phục vụ thực tế. Thay vào đó, LOBBY LOOP đề xuất một cơ chế đồng bộ có kiểm soát: quản lý được quyền lựa chọn những sản phẩm phù hợp với khả năng phục vụ tại Lobby, có nhu cầu cao, và không yêu cầu chế biến phức tạp. Kết quả là Lobby có nhiều lựa chọn hơn để tư vấn khách, dễ đạt target hơn, và giảm xung đột KPI với quầy Concession. Nhưng bán được hàng mới chỉ là bước đầu — một giao dịch thành công vẫn tạo ra một điểm gãy khác.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khách thanh toán và nhận hàng, quy trình chưa dừng lại ở đó. Nhân viên vẫn phải bấm Redeem thủ công để hệ thống trừ tồn kho. Đây chính là bước rủi ro nhất trong toàn bộ quy trình: nhân viên có thể quên, hoặc Redeem thiếu một vài sản phẩm. Hệ quả là tồn kho thực tế lệch so với hệ thống, và đến cuối ca, quản lý cùng nhân viên phải mất thời gian truy tìm nguyên nhân lệch hàng. Vấn đề này không chỉ dừng ở việc thiếu hàng — nó kéo dài thời gian làm việc, phát sinh chi phí vận hành, và khiến nhân viên mệt mỏi sau một ca dài.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thứ hai loại bỏ hoàn toàn bước nhân viên phải nhớ Redeem thủ công. Ngay khi giao dịch chuyển sang trạng thái thành công, hệ thống sẽ tự động ghi nhận và trừ tồn kho — giống cách một máy POS vận hành. Nhìn vào hai luồng Before và After, có thể thấy rõ: chúng ta loại bỏ hẳn một bước thao tác con người dễ sai sót nhất. Rủi ro quên Redeem gần như bằng không, tồn kho chính xác hơn, và mục tiêu của dự án là đưa thời gian đối soát cuối ca từ khoảng 30 đến 60 phút xuống dưới 10 phút. Nhưng bán được hàng và vận hành trơn tru vẫn chưa đủ — chúng ta còn cần thực sự lắng nghe khách hàng.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gãy thứ ba nằm ở bước cuối cùng trong trải nghiệm khách hàng: khảo sát đánh giá dịch vụ. Hiện tại, mã QR Feedback cho toàn cụm rạp có tới 13 câu hỏi. Vấn đề không phải là càng nhiều câu hỏi thì càng tốt — mà ngược lại: càng nhiều câu hỏi, khách càng mất thời gian, càng khó chịu, và tỉ lệ hoàn thành khảo sát càng giảm. Hệ quả là nhiều khách chọn đại cho xong hoặc đóng trình duyệt giữa chừng, khiến dữ liệu bị ô nhiễm. Và điều đáng lo hơn là ban quản trị có thể đang ra quyết định dựa trên những dữ liệu không thực sự phản ánh đúng trải nghiệm khách hàng.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thứ ba dựa trên nguyên tắc Ask Less – Ask Right: hỏi ít hơn, nhưng hỏi đúng. Nếu khách hài lòng, hệ thống chỉ hỏi 2 đến 3 câu cốt lõi để lấy chỉ số nhanh rồi kết thúc ngay. Nhưng nếu khách không hài lòng, hệ thống sẽ tự động mở rộng, hỏi sâu hơn về thái độ nhân viên, chất lượng F&amp;B, vệ sinh — để tìm ra nguyên nhân gốc rễ. Đây chỉ là bản concept minh họa giao diện, chưa phải sản phẩm đã triển khai. Nhưng logic ở đây rất rõ ràng: không phải hỏi nhiều hơn, mà là hỏi đúng người, đúng thời điểm, đúng vấn đề — vừa giảm khó chịu cho khách, vừa tăng chất lượng dữ liệu.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vấn đề tưởng như độc lập — bán hàng, vận hành, và lắng nghe khách hàng — thực ra nằm trong cùng một luồng vận hành tại Lobby. Và ba giải pháp của LOBBY LOOP cũng vậy: không phải ba sáng kiến rời rạc, mà là một hệ thống nối tiếp nhau. SELL giúp Lobby bán được nhiều hơn, AUTOMATE giúp vận hành nhẹ nhàng hơn sau khi bán, và LISTEN giúp hiểu khách hàng tốt hơn sau khi họ trải nghiệm dịch vụ. Khi nhìn tổng thể, đây chính là một hệ thống khép kín, không phải các mảnh ghép riêng lẻ.</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tổng thể, sự khác biệt giữa Before và After rất rõ ràng trên cả năm khía cạnh: khả năng bán hàng linh hoạt hơn, tồn kho được ghi nhận tự động thay vì thủ công, thời gian đối soát rút ngắn đáng kể, khảo sát khách hàng ngắn gọn và đúng trọng tâm hơn, và mối quan hệ cạnh tranh nội bộ giữa Lobby với Concession cũng cân bằng hơn. Đây không phải những thay đổi rời rạc — mà là kết quả của cùng một logic vận hành được áp dụng xuyên suốt ba điểm gãy ban đầu.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ba giải pháp được triển khai đồng thời, tác động sẽ lan tỏa trên nhiều khía cạnh vận hành: doanh thu có thêm cơ hội tăng nhờ Lobby bán được nhiều hơn, khối lượng thao tác thủ công giảm xuống, độ chính xác tồn kho được cải thiện, trải nghiệm khách hàng nhanh hơn ở cả hai đầu — mua hàng và đánh giá — và chất lượng dữ liệu phản hồi cũng tốt hơn. Nhóm em xin nhấn mạnh: đây là các xu hướng định tính dựa trên logic vận hành mới, không phải số liệu đã đo lường thực tế, vì dự án chưa được triển khai chính thức.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trong toàn bộ phần trình bày. Khi ba giải pháp được kết nối lại với nhau, chúng không dừng ở việc sửa từng điểm gãy riêng lẻ — mà tạo thành một vòng lặp vận hành khép kín: bán được nhiều hơn, ghi nhận chính xác hơn, hiểu khách hàng tốt hơn, từ đó cải thiện dịch vụ, và cuối cùng quay lại tăng doanh thu để tiếp tục bán nhiều hơn nữa. Đây chính là ý nghĩa của cái tên LOBBY LOOP — không phải một giải pháp một lần, mà là một vòng lặp tự cải thiện liên tục.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kết thúc, nhóm em muốn đặt một câu hỏi ngược lại cho ban giám khảo: nếu chúng ta không thay đổi gì, điều gì sẽ xảy ra? Nếu không đồng bộ Tablet với POS, Lobby sẽ tiếp tục mất cơ hội bán hàng và khó đạt target. Nếu không tự động hóa Redeem, nhân viên vẫn phải phụ thuộc vào thao tác thủ công, với nguy cơ lệch tồn kho lặp lại mỗi ca. Và nếu không rút gọn Feedback, chúng ta sẽ tiếp tục thu về dữ liệu kém chất lượng, khó xác định đúng vấn đề cần cải thiện. Đây không phải rủi ro trong tương lai — đây là những gì đang lặp lại mỗi ngày, ngay lúc này.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LOBBY LOOP không chỉ giải quyết một vấn đề đơn lẻ tại Lobby. Chúng tôi xây dựng một luồng vận hành đơn giản hơn cho nhân viên, thuận tiện hơn cho khách hàng, và hiệu quả hơn cho doanh nghiệp. Ba giải pháp — đồng bộ công cụ bán hàng, tự động hóa vận hành, và lắng nghe khách hàng thông minh hơn — không đứng riêng lẻ, mà nối thành một vòng lặp tự cải thiện liên tục. Sell more. Work smarter. Listen better. Đó chính là LOBBY LOOP. Xin cảm ơn ban giám khảo đã lắng nghe phần trình bày của nhóm 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F5A623">
              <a:alpha val="8000"/>
            </a:srgbClr>
          </a:solidFill>
          <a:ln/>
        </p:spPr>
      </p:sp>
      <p:sp>
        <p:nvSpPr>
          <p:cNvPr id="3" name="Shape 1"/>
          <p:cNvSpPr/>
          <p:nvPr/>
        </p:nvSpPr>
        <p:spPr>
          <a:xfrm>
            <a:off x="-2286000" y="4389120"/>
            <a:ext cx="5029200" cy="5029200"/>
          </a:xfrm>
          <a:prstGeom prst="ellipse">
            <a:avLst/>
          </a:prstGeom>
          <a:solidFill>
            <a:srgbClr val="F5A623">
              <a:alpha val="6000"/>
            </a:srgbClr>
          </a:solidFill>
          <a:ln/>
        </p:spPr>
      </p:sp>
      <p:sp>
        <p:nvSpPr>
          <p:cNvPr id="4" name="Text 2"/>
          <p:cNvSpPr txBox="1"/>
          <p:nvPr/>
        </p:nvSpPr>
        <p:spPr>
          <a:xfrm>
            <a:off x="370378" y="731520"/>
            <a:ext cx="9144000" cy="365760"/>
          </a:xfrm>
          <a:prstGeom prst="rect">
            <a:avLst/>
          </a:prstGeom>
          <a:noFill/>
          <a:ln/>
        </p:spPr>
        <p:txBody>
          <a:bodyPr wrap="square" lIns="0" tIns="0" rIns="0" bIns="0" rtlCol="0" anchor="ctr"/>
          <a:lstStyle/>
          <a:p>
            <a:pPr marL="0" indent="0">
              <a:buNone/>
            </a:pPr>
            <a:r>
              <a:rPr lang="en-US" sz="2000" b="1" kern="0" spc="260" dirty="0">
                <a:solidFill>
                  <a:srgbClr val="F5A623"/>
                </a:solidFill>
                <a:latin typeface="Arial" panose="020B0604020202020204" pitchFamily="34" charset="0"/>
                <a:ea typeface="Calibri" pitchFamily="34" charset="-122"/>
                <a:cs typeface="Arial" panose="020B0604020202020204" pitchFamily="34" charset="0"/>
              </a:rPr>
              <a:t>GLX HACKATHON  ·  LOBBY EXPERIENCE INNOVATION</a:t>
            </a:r>
            <a:endParaRPr lang="en-US" sz="2000" dirty="0">
              <a:latin typeface="Arial" panose="020B0604020202020204" pitchFamily="34" charset="0"/>
              <a:cs typeface="Arial" panose="020B0604020202020204" pitchFamily="34" charset="0"/>
            </a:endParaRPr>
          </a:p>
        </p:txBody>
      </p:sp>
      <p:sp>
        <p:nvSpPr>
          <p:cNvPr id="5" name="Text 3"/>
          <p:cNvSpPr txBox="1"/>
          <p:nvPr/>
        </p:nvSpPr>
        <p:spPr>
          <a:xfrm>
            <a:off x="777240" y="2331720"/>
            <a:ext cx="10607040" cy="1737360"/>
          </a:xfrm>
          <a:prstGeom prst="rect">
            <a:avLst/>
          </a:prstGeom>
          <a:noFill/>
          <a:ln/>
        </p:spPr>
        <p:txBody>
          <a:bodyPr wrap="square" lIns="0" tIns="0" rIns="0" bIns="0" rtlCol="0" anchor="ctr"/>
          <a:lstStyle/>
          <a:p>
            <a:pPr marL="0" indent="0">
              <a:buNone/>
            </a:pPr>
            <a:r>
              <a:rPr lang="en-US" sz="8800" b="1" dirty="0">
                <a:solidFill>
                  <a:srgbClr val="FFFFFF"/>
                </a:solidFill>
                <a:latin typeface="Arial" panose="020B0604020202020204" pitchFamily="34" charset="0"/>
                <a:ea typeface="Arial" pitchFamily="34" charset="-122"/>
                <a:cs typeface="Arial" panose="020B0604020202020204" pitchFamily="34" charset="0"/>
              </a:rPr>
              <a:t>LOBBY LOOP</a:t>
            </a:r>
            <a:endParaRPr lang="en-US" sz="8800" dirty="0">
              <a:latin typeface="Arial" panose="020B0604020202020204" pitchFamily="34" charset="0"/>
              <a:cs typeface="Arial" panose="020B0604020202020204" pitchFamily="34" charset="0"/>
            </a:endParaRPr>
          </a:p>
        </p:txBody>
      </p:sp>
      <p:sp>
        <p:nvSpPr>
          <p:cNvPr id="6" name="Shape 4"/>
          <p:cNvSpPr/>
          <p:nvPr/>
        </p:nvSpPr>
        <p:spPr>
          <a:xfrm>
            <a:off x="841248" y="3977640"/>
            <a:ext cx="2011680" cy="0"/>
          </a:xfrm>
          <a:prstGeom prst="line">
            <a:avLst/>
          </a:prstGeom>
          <a:noFill/>
          <a:ln w="31750">
            <a:solidFill>
              <a:srgbClr val="F5A623"/>
            </a:solidFill>
            <a:prstDash val="solid"/>
          </a:ln>
        </p:spPr>
      </p:sp>
      <p:sp>
        <p:nvSpPr>
          <p:cNvPr id="7" name="Text 5"/>
          <p:cNvSpPr txBox="1"/>
          <p:nvPr/>
        </p:nvSpPr>
        <p:spPr>
          <a:xfrm>
            <a:off x="822960" y="4160520"/>
            <a:ext cx="9875520" cy="502920"/>
          </a:xfrm>
          <a:prstGeom prst="rect">
            <a:avLst/>
          </a:prstGeom>
          <a:noFill/>
          <a:ln/>
        </p:spPr>
        <p:txBody>
          <a:bodyPr wrap="square" lIns="0" tIns="0" rIns="0" bIns="0" rtlCol="0" anchor="ctr"/>
          <a:lstStyle/>
          <a:p>
            <a:pPr marL="0" indent="0">
              <a:buNone/>
            </a:pPr>
            <a:r>
              <a:rPr lang="en-US" sz="2000" b="1" kern="0" spc="100" dirty="0">
                <a:solidFill>
                  <a:srgbClr val="C7CCD1"/>
                </a:solidFill>
                <a:latin typeface="Arial" panose="020B0604020202020204" pitchFamily="34" charset="0"/>
                <a:ea typeface="Arial" pitchFamily="34" charset="-122"/>
                <a:cs typeface="Arial" panose="020B0604020202020204" pitchFamily="34" charset="0"/>
              </a:rPr>
              <a:t>TỐI ƯU HÓA TOÀN DIỆN LUỒNG VẬN HÀNH TẠI LOBBY</a:t>
            </a:r>
            <a:endParaRPr lang="en-US" sz="2000" dirty="0">
              <a:latin typeface="Arial" panose="020B0604020202020204" pitchFamily="34" charset="0"/>
              <a:cs typeface="Arial" panose="020B0604020202020204" pitchFamily="34" charset="0"/>
            </a:endParaRPr>
          </a:p>
        </p:txBody>
      </p:sp>
      <p:sp>
        <p:nvSpPr>
          <p:cNvPr id="8" name="Text 6"/>
          <p:cNvSpPr txBox="1"/>
          <p:nvPr/>
        </p:nvSpPr>
        <p:spPr>
          <a:xfrm>
            <a:off x="822960" y="4892040"/>
            <a:ext cx="9601200" cy="548640"/>
          </a:xfrm>
          <a:prstGeom prst="rect">
            <a:avLst/>
          </a:prstGeom>
          <a:noFill/>
          <a:ln/>
        </p:spPr>
        <p:txBody>
          <a:bodyPr wrap="square" lIns="0" tIns="0" rIns="0" bIns="0" rtlCol="0" anchor="ctr"/>
          <a:lstStyle/>
          <a:p>
            <a:pPr marL="0" indent="0">
              <a:buNone/>
            </a:pPr>
            <a:r>
              <a:rPr lang="en-US" sz="1500" i="1" dirty="0">
                <a:solidFill>
                  <a:srgbClr val="82888F"/>
                </a:solidFill>
                <a:latin typeface="Arial" panose="020B0604020202020204" pitchFamily="34" charset="0"/>
                <a:ea typeface="Calibri" pitchFamily="34" charset="-122"/>
                <a:cs typeface="Arial" panose="020B0604020202020204" pitchFamily="34" charset="0"/>
              </a:rPr>
              <a:t>“Từ một điểm bán hàng rời rạc → trở thành một vòng lặp vận hành khép kín.”</a:t>
            </a:r>
            <a:endParaRPr lang="en-US" sz="1500" dirty="0">
              <a:latin typeface="Arial" panose="020B0604020202020204" pitchFamily="34" charset="0"/>
              <a:cs typeface="Arial" panose="020B0604020202020204" pitchFamily="34" charset="0"/>
            </a:endParaRPr>
          </a:p>
        </p:txBody>
      </p:sp>
      <p:sp>
        <p:nvSpPr>
          <p:cNvPr id="9" name="Shape 7"/>
          <p:cNvSpPr/>
          <p:nvPr/>
        </p:nvSpPr>
        <p:spPr>
          <a:xfrm>
            <a:off x="10287000" y="5440680"/>
            <a:ext cx="91440" cy="91440"/>
          </a:xfrm>
          <a:prstGeom prst="ellipse">
            <a:avLst/>
          </a:prstGeom>
          <a:solidFill>
            <a:srgbClr val="F5A623"/>
          </a:solidFill>
          <a:ln/>
        </p:spPr>
      </p:sp>
      <p:sp>
        <p:nvSpPr>
          <p:cNvPr id="10" name="Shape 8"/>
          <p:cNvSpPr/>
          <p:nvPr/>
        </p:nvSpPr>
        <p:spPr>
          <a:xfrm>
            <a:off x="10724540" y="6195060"/>
            <a:ext cx="91440" cy="91440"/>
          </a:xfrm>
          <a:prstGeom prst="ellipse">
            <a:avLst/>
          </a:prstGeom>
          <a:solidFill>
            <a:srgbClr val="F5A623"/>
          </a:solidFill>
          <a:ln/>
        </p:spPr>
      </p:sp>
      <p:sp>
        <p:nvSpPr>
          <p:cNvPr id="11" name="Shape 9"/>
          <p:cNvSpPr/>
          <p:nvPr/>
        </p:nvSpPr>
        <p:spPr>
          <a:xfrm>
            <a:off x="9849460" y="6195060"/>
            <a:ext cx="91440" cy="91440"/>
          </a:xfrm>
          <a:prstGeom prst="ellipse">
            <a:avLst/>
          </a:prstGeom>
          <a:solidFill>
            <a:srgbClr val="F5A623"/>
          </a:solidFill>
          <a:ln/>
        </p:spPr>
      </p:sp>
      <p:sp>
        <p:nvSpPr>
          <p:cNvPr id="12" name="Shape 10"/>
          <p:cNvSpPr/>
          <p:nvPr/>
        </p:nvSpPr>
        <p:spPr>
          <a:xfrm>
            <a:off x="10332720" y="5486400"/>
            <a:ext cx="437540" cy="754380"/>
          </a:xfrm>
          <a:prstGeom prst="line">
            <a:avLst/>
          </a:prstGeom>
          <a:noFill/>
          <a:ln w="15875">
            <a:solidFill>
              <a:srgbClr val="262B33"/>
            </a:solidFill>
            <a:prstDash val="solid"/>
          </a:ln>
        </p:spPr>
      </p:sp>
      <p:sp>
        <p:nvSpPr>
          <p:cNvPr id="13" name="Shape 11"/>
          <p:cNvSpPr/>
          <p:nvPr/>
        </p:nvSpPr>
        <p:spPr>
          <a:xfrm>
            <a:off x="10770260" y="6240780"/>
            <a:ext cx="0" cy="0"/>
          </a:xfrm>
          <a:prstGeom prst="line">
            <a:avLst/>
          </a:prstGeom>
          <a:noFill/>
          <a:ln w="15875">
            <a:solidFill>
              <a:srgbClr val="262B33"/>
            </a:solidFill>
            <a:prstDash val="solid"/>
          </a:ln>
        </p:spPr>
      </p:sp>
      <p:sp>
        <p:nvSpPr>
          <p:cNvPr id="14" name="Shape 12"/>
          <p:cNvSpPr/>
          <p:nvPr/>
        </p:nvSpPr>
        <p:spPr>
          <a:xfrm>
            <a:off x="9895180" y="6240780"/>
            <a:ext cx="437540" cy="0"/>
          </a:xfrm>
          <a:prstGeom prst="line">
            <a:avLst/>
          </a:prstGeom>
          <a:noFill/>
          <a:ln w="15875">
            <a:solidFill>
              <a:srgbClr val="262B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273872" y="405563"/>
            <a:ext cx="8229600" cy="292608"/>
          </a:xfrm>
          <a:prstGeom prst="rect">
            <a:avLst/>
          </a:prstGeom>
          <a:noFill/>
          <a:ln/>
        </p:spPr>
        <p:txBody>
          <a:bodyPr wrap="square" lIns="0" tIns="0" rIns="0" bIns="0" rtlCol="0" anchor="ctr"/>
          <a:lstStyle/>
          <a:p>
            <a:pPr marL="0" indent="0">
              <a:buNone/>
            </a:pPr>
            <a:r>
              <a:rPr lang="en-US" sz="2800" b="1" kern="0" spc="220" dirty="0">
                <a:solidFill>
                  <a:srgbClr val="F5A623"/>
                </a:solidFill>
                <a:latin typeface="Arial" panose="020B0604020202020204" pitchFamily="34" charset="0"/>
                <a:ea typeface="Arial" pitchFamily="34" charset="-122"/>
                <a:cs typeface="Arial" panose="020B0604020202020204" pitchFamily="34" charset="0"/>
              </a:rPr>
              <a:t>HIỆN TRẠNG</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3400" b="1" dirty="0">
                <a:solidFill>
                  <a:srgbClr val="FFFFFF"/>
                </a:solidFill>
                <a:latin typeface="Arial" panose="020B0604020202020204" pitchFamily="34" charset="0"/>
                <a:ea typeface="Arial" pitchFamily="34" charset="-122"/>
                <a:cs typeface="Arial" panose="020B0604020202020204" pitchFamily="34" charset="0"/>
              </a:rPr>
              <a:t>Lobby đang có 3 điểm gãy</a:t>
            </a:r>
            <a:endParaRPr lang="en-US" sz="3400" dirty="0">
              <a:latin typeface="Arial" panose="020B0604020202020204" pitchFamily="34" charset="0"/>
              <a:cs typeface="Arial" panose="020B0604020202020204" pitchFamily="34" charset="0"/>
            </a:endParaRPr>
          </a:p>
        </p:txBody>
      </p:sp>
      <p:sp>
        <p:nvSpPr>
          <p:cNvPr id="5" name="Shape 3"/>
          <p:cNvSpPr/>
          <p:nvPr/>
        </p:nvSpPr>
        <p:spPr>
          <a:xfrm>
            <a:off x="640080" y="1965960"/>
            <a:ext cx="3246120" cy="3931920"/>
          </a:xfrm>
          <a:prstGeom prst="roundRect">
            <a:avLst>
              <a:gd name="adj" fmla="val 3380"/>
            </a:avLst>
          </a:prstGeom>
          <a:solidFill>
            <a:srgbClr val="15181D"/>
          </a:solidFill>
          <a:ln w="12700">
            <a:solidFill>
              <a:srgbClr val="262B33"/>
            </a:solidFill>
            <a:prstDash val="solid"/>
          </a:ln>
        </p:spPr>
      </p:sp>
      <p:sp>
        <p:nvSpPr>
          <p:cNvPr id="6" name="Shape 4"/>
          <p:cNvSpPr/>
          <p:nvPr/>
        </p:nvSpPr>
        <p:spPr>
          <a:xfrm>
            <a:off x="960120" y="2331720"/>
            <a:ext cx="566928" cy="566928"/>
          </a:xfrm>
          <a:prstGeom prst="ellipse">
            <a:avLst/>
          </a:prstGeom>
          <a:solidFill>
            <a:srgbClr val="3A2E14"/>
          </a:solidFill>
          <a:ln/>
        </p:spPr>
      </p:sp>
      <p:sp>
        <p:nvSpPr>
          <p:cNvPr id="7" name="Text 5"/>
          <p:cNvSpPr txBox="1"/>
          <p:nvPr/>
        </p:nvSpPr>
        <p:spPr>
          <a:xfrm>
            <a:off x="960120" y="2331720"/>
            <a:ext cx="566928" cy="566928"/>
          </a:xfrm>
          <a:prstGeom prst="rect">
            <a:avLst/>
          </a:prstGeom>
          <a:noFill/>
          <a:ln/>
        </p:spPr>
        <p:txBody>
          <a:bodyPr wrap="square" lIns="0" tIns="0" rIns="0" bIns="0" rtlCol="0" anchor="ctr"/>
          <a:lstStyle/>
          <a:p>
            <a:pPr marL="0" indent="0" algn="ctr">
              <a:buNone/>
            </a:pPr>
            <a:r>
              <a:rPr lang="en-US" sz="1500" b="1" dirty="0">
                <a:solidFill>
                  <a:srgbClr val="F5A623"/>
                </a:solidFill>
                <a:latin typeface="Arial" panose="020B0604020202020204" pitchFamily="34" charset="0"/>
                <a:ea typeface="Arial" pitchFamily="34" charset="-122"/>
                <a:cs typeface="Arial" panose="020B0604020202020204" pitchFamily="34" charset="0"/>
              </a:rPr>
              <a:t>01</a:t>
            </a:r>
            <a:endParaRPr lang="en-US" sz="1500" dirty="0">
              <a:latin typeface="Arial" panose="020B0604020202020204" pitchFamily="34" charset="0"/>
              <a:cs typeface="Arial" panose="020B0604020202020204" pitchFamily="34" charset="0"/>
            </a:endParaRPr>
          </a:p>
        </p:txBody>
      </p:sp>
      <p:sp>
        <p:nvSpPr>
          <p:cNvPr id="8" name="Text 6"/>
          <p:cNvSpPr txBox="1"/>
          <p:nvPr/>
        </p:nvSpPr>
        <p:spPr>
          <a:xfrm>
            <a:off x="9601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Arial" panose="020B0604020202020204" pitchFamily="34" charset="0"/>
                <a:ea typeface="Arial" pitchFamily="34" charset="-122"/>
                <a:cs typeface="Arial" panose="020B0604020202020204" pitchFamily="34" charset="0"/>
              </a:rPr>
              <a:t>SELL</a:t>
            </a:r>
            <a:endParaRPr lang="en-US" sz="2400" dirty="0">
              <a:latin typeface="Arial" panose="020B0604020202020204" pitchFamily="34" charset="0"/>
              <a:cs typeface="Arial" panose="020B0604020202020204" pitchFamily="34" charset="0"/>
            </a:endParaRPr>
          </a:p>
        </p:txBody>
      </p:sp>
      <p:sp>
        <p:nvSpPr>
          <p:cNvPr id="9" name="Shape 7"/>
          <p:cNvSpPr/>
          <p:nvPr/>
        </p:nvSpPr>
        <p:spPr>
          <a:xfrm>
            <a:off x="960120" y="3721608"/>
            <a:ext cx="502920" cy="0"/>
          </a:xfrm>
          <a:prstGeom prst="line">
            <a:avLst/>
          </a:prstGeom>
          <a:noFill/>
          <a:ln w="25400">
            <a:solidFill>
              <a:srgbClr val="F5A623"/>
            </a:solidFill>
            <a:prstDash val="solid"/>
          </a:ln>
        </p:spPr>
      </p:sp>
      <p:sp>
        <p:nvSpPr>
          <p:cNvPr id="10" name="Text 8"/>
          <p:cNvSpPr txBox="1"/>
          <p:nvPr/>
        </p:nvSpPr>
        <p:spPr>
          <a:xfrm>
            <a:off x="9601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C7CCD1"/>
                </a:solidFill>
                <a:latin typeface="Arial" panose="020B0604020202020204" pitchFamily="34" charset="0"/>
                <a:ea typeface="Calibri" pitchFamily="34" charset="-122"/>
                <a:cs typeface="Arial" panose="020B0604020202020204" pitchFamily="34" charset="0"/>
              </a:rPr>
              <a:t>Bán hàng bị giới hạn</a:t>
            </a:r>
            <a:endParaRPr lang="en-US" sz="1450" dirty="0">
              <a:latin typeface="Arial" panose="020B0604020202020204" pitchFamily="34" charset="0"/>
              <a:cs typeface="Arial" panose="020B0604020202020204" pitchFamily="34" charset="0"/>
            </a:endParaRPr>
          </a:p>
          <a:p>
            <a:pPr marL="0" indent="0">
              <a:lnSpc>
                <a:spcPct val="125000"/>
              </a:lnSpc>
              <a:buNone/>
            </a:pPr>
            <a:r>
              <a:rPr lang="en-US" sz="1450" dirty="0">
                <a:solidFill>
                  <a:srgbClr val="C7CCD1"/>
                </a:solidFill>
                <a:latin typeface="Arial" panose="020B0604020202020204" pitchFamily="34" charset="0"/>
                <a:ea typeface="Calibri" pitchFamily="34" charset="-122"/>
                <a:cs typeface="Arial" panose="020B0604020202020204" pitchFamily="34" charset="0"/>
              </a:rPr>
              <a:t>trước </a:t>
            </a:r>
            <a:r>
              <a:rPr lang="en-US" sz="1450" dirty="0" err="1">
                <a:solidFill>
                  <a:srgbClr val="C7CCD1"/>
                </a:solidFill>
                <a:latin typeface="Arial" panose="020B0604020202020204" pitchFamily="34" charset="0"/>
                <a:ea typeface="Calibri" pitchFamily="34" charset="-122"/>
                <a:cs typeface="Arial" panose="020B0604020202020204" pitchFamily="34" charset="0"/>
              </a:rPr>
              <a:t>giao</a:t>
            </a:r>
            <a:r>
              <a:rPr lang="en-US" sz="1450" dirty="0">
                <a:solidFill>
                  <a:srgbClr val="C7CCD1"/>
                </a:solidFill>
                <a:latin typeface="Arial" panose="020B0604020202020204" pitchFamily="34" charset="0"/>
                <a:ea typeface="Calibri" pitchFamily="34" charset="-122"/>
                <a:cs typeface="Arial" panose="020B0604020202020204" pitchFamily="34" charset="0"/>
              </a:rPr>
              <a:t> </a:t>
            </a:r>
            <a:r>
              <a:rPr lang="en-US" sz="1450" dirty="0" err="1">
                <a:solidFill>
                  <a:srgbClr val="C7CCD1"/>
                </a:solidFill>
                <a:latin typeface="Arial" panose="020B0604020202020204" pitchFamily="34" charset="0"/>
                <a:ea typeface="Calibri" pitchFamily="34" charset="-122"/>
                <a:cs typeface="Arial" panose="020B0604020202020204" pitchFamily="34" charset="0"/>
              </a:rPr>
              <a:t>dịch</a:t>
            </a:r>
            <a:r>
              <a:rPr lang="en-US" sz="1450" dirty="0">
                <a:solidFill>
                  <a:srgbClr val="C7CCD1"/>
                </a:solidFill>
                <a:latin typeface="Arial" panose="020B0604020202020204" pitchFamily="34" charset="0"/>
                <a:ea typeface="Calibri" pitchFamily="34" charset="-122"/>
                <a:cs typeface="Arial" panose="020B0604020202020204" pitchFamily="34" charset="0"/>
              </a:rPr>
              <a:t> </a:t>
            </a:r>
            <a:r>
              <a:rPr lang="vi-VN" sz="1450" dirty="0">
                <a:solidFill>
                  <a:srgbClr val="C7CCD1"/>
                </a:solidFill>
                <a:latin typeface="Arial" panose="020B0604020202020204" pitchFamily="34" charset="0"/>
                <a:ea typeface="Calibri" pitchFamily="34" charset="-122"/>
                <a:cs typeface="Arial" panose="020B0604020202020204" pitchFamily="34" charset="0"/>
              </a:rPr>
              <a:t>và phương thức thanh toán</a:t>
            </a:r>
            <a:endParaRPr lang="en-US" sz="1450" dirty="0">
              <a:latin typeface="Arial" panose="020B0604020202020204" pitchFamily="34" charset="0"/>
              <a:cs typeface="Arial" panose="020B0604020202020204" pitchFamily="34" charset="0"/>
            </a:endParaRPr>
          </a:p>
        </p:txBody>
      </p:sp>
      <p:sp>
        <p:nvSpPr>
          <p:cNvPr id="11" name="Text 9"/>
          <p:cNvSpPr txBox="1"/>
          <p:nvPr/>
        </p:nvSpPr>
        <p:spPr>
          <a:xfrm>
            <a:off x="960120" y="5303520"/>
            <a:ext cx="2606040" cy="457200"/>
          </a:xfrm>
          <a:prstGeom prst="rect">
            <a:avLst/>
          </a:prstGeom>
          <a:noFill/>
          <a:ln/>
        </p:spPr>
        <p:txBody>
          <a:bodyPr wrap="square" lIns="0" tIns="0" rIns="0" bIns="0" rtlCol="0" anchor="ctr"/>
          <a:lstStyle/>
          <a:p>
            <a:pPr marL="0" indent="0">
              <a:buNone/>
            </a:pPr>
            <a:r>
              <a:rPr lang="en-US" sz="1050" i="1" dirty="0">
                <a:solidFill>
                  <a:srgbClr val="82888F"/>
                </a:solidFill>
                <a:latin typeface="Arial" panose="020B0604020202020204" pitchFamily="34" charset="0"/>
                <a:ea typeface="Calibri" pitchFamily="34" charset="-122"/>
                <a:cs typeface="Arial" panose="020B0604020202020204" pitchFamily="34" charset="0"/>
              </a:rPr>
              <a:t>Điểm gãy trước giao dịch</a:t>
            </a:r>
            <a:endParaRPr lang="en-US" sz="1050" dirty="0">
              <a:latin typeface="Arial" panose="020B0604020202020204" pitchFamily="34" charset="0"/>
              <a:cs typeface="Arial" panose="020B0604020202020204" pitchFamily="34" charset="0"/>
            </a:endParaRPr>
          </a:p>
        </p:txBody>
      </p:sp>
      <p:sp>
        <p:nvSpPr>
          <p:cNvPr id="12" name="Shape 10"/>
          <p:cNvSpPr/>
          <p:nvPr/>
        </p:nvSpPr>
        <p:spPr>
          <a:xfrm>
            <a:off x="4297680" y="1965960"/>
            <a:ext cx="3246120" cy="3931920"/>
          </a:xfrm>
          <a:prstGeom prst="roundRect">
            <a:avLst>
              <a:gd name="adj" fmla="val 3380"/>
            </a:avLst>
          </a:prstGeom>
          <a:solidFill>
            <a:srgbClr val="15181D"/>
          </a:solidFill>
          <a:ln w="12700">
            <a:solidFill>
              <a:srgbClr val="262B33"/>
            </a:solidFill>
            <a:prstDash val="solid"/>
          </a:ln>
        </p:spPr>
      </p:sp>
      <p:sp>
        <p:nvSpPr>
          <p:cNvPr id="13" name="Shape 11"/>
          <p:cNvSpPr/>
          <p:nvPr/>
        </p:nvSpPr>
        <p:spPr>
          <a:xfrm>
            <a:off x="4617720" y="2331720"/>
            <a:ext cx="566928" cy="566928"/>
          </a:xfrm>
          <a:prstGeom prst="ellipse">
            <a:avLst/>
          </a:prstGeom>
          <a:solidFill>
            <a:srgbClr val="3A2E14"/>
          </a:solidFill>
          <a:ln/>
        </p:spPr>
      </p:sp>
      <p:sp>
        <p:nvSpPr>
          <p:cNvPr id="14" name="Text 12"/>
          <p:cNvSpPr txBox="1"/>
          <p:nvPr/>
        </p:nvSpPr>
        <p:spPr>
          <a:xfrm>
            <a:off x="4617720" y="2331720"/>
            <a:ext cx="566928" cy="566928"/>
          </a:xfrm>
          <a:prstGeom prst="rect">
            <a:avLst/>
          </a:prstGeom>
          <a:noFill/>
          <a:ln/>
        </p:spPr>
        <p:txBody>
          <a:bodyPr wrap="square" lIns="0" tIns="0" rIns="0" bIns="0" rtlCol="0" anchor="ctr"/>
          <a:lstStyle/>
          <a:p>
            <a:pPr marL="0" indent="0" algn="ctr">
              <a:buNone/>
            </a:pPr>
            <a:r>
              <a:rPr lang="en-US" sz="1500" b="1" dirty="0">
                <a:solidFill>
                  <a:srgbClr val="F5A623"/>
                </a:solidFill>
                <a:latin typeface="Arial" panose="020B0604020202020204" pitchFamily="34" charset="0"/>
                <a:ea typeface="Arial" pitchFamily="34" charset="-122"/>
                <a:cs typeface="Arial" panose="020B0604020202020204" pitchFamily="34" charset="0"/>
              </a:rPr>
              <a:t>02</a:t>
            </a:r>
            <a:endParaRPr lang="en-US" sz="1500" dirty="0">
              <a:latin typeface="Arial" panose="020B0604020202020204" pitchFamily="34" charset="0"/>
              <a:cs typeface="Arial" panose="020B0604020202020204" pitchFamily="34" charset="0"/>
            </a:endParaRPr>
          </a:p>
        </p:txBody>
      </p:sp>
      <p:sp>
        <p:nvSpPr>
          <p:cNvPr id="15" name="Text 13"/>
          <p:cNvSpPr txBox="1"/>
          <p:nvPr/>
        </p:nvSpPr>
        <p:spPr>
          <a:xfrm>
            <a:off x="46177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Arial" panose="020B0604020202020204" pitchFamily="34" charset="0"/>
                <a:ea typeface="Arial" pitchFamily="34" charset="-122"/>
                <a:cs typeface="Arial" panose="020B0604020202020204" pitchFamily="34" charset="0"/>
              </a:rPr>
              <a:t>OPERATE</a:t>
            </a:r>
            <a:endParaRPr lang="en-US" sz="2400" dirty="0">
              <a:latin typeface="Arial" panose="020B0604020202020204" pitchFamily="34" charset="0"/>
              <a:cs typeface="Arial" panose="020B0604020202020204" pitchFamily="34" charset="0"/>
            </a:endParaRPr>
          </a:p>
        </p:txBody>
      </p:sp>
      <p:sp>
        <p:nvSpPr>
          <p:cNvPr id="16" name="Shape 14"/>
          <p:cNvSpPr/>
          <p:nvPr/>
        </p:nvSpPr>
        <p:spPr>
          <a:xfrm>
            <a:off x="4617720" y="3721608"/>
            <a:ext cx="502920" cy="0"/>
          </a:xfrm>
          <a:prstGeom prst="line">
            <a:avLst/>
          </a:prstGeom>
          <a:noFill/>
          <a:ln w="25400">
            <a:solidFill>
              <a:srgbClr val="F5A623"/>
            </a:solidFill>
            <a:prstDash val="solid"/>
          </a:ln>
        </p:spPr>
      </p:sp>
      <p:sp>
        <p:nvSpPr>
          <p:cNvPr id="17" name="Text 15"/>
          <p:cNvSpPr txBox="1"/>
          <p:nvPr/>
        </p:nvSpPr>
        <p:spPr>
          <a:xfrm>
            <a:off x="46177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C7CCD1"/>
                </a:solidFill>
                <a:latin typeface="Arial" panose="020B0604020202020204" pitchFamily="34" charset="0"/>
                <a:ea typeface="Calibri" pitchFamily="34" charset="-122"/>
                <a:cs typeface="Arial" panose="020B0604020202020204" pitchFamily="34" charset="0"/>
              </a:rPr>
              <a:t>Thao tác thủ công</a:t>
            </a:r>
            <a:endParaRPr lang="en-US" sz="1450" dirty="0">
              <a:latin typeface="Arial" panose="020B0604020202020204" pitchFamily="34" charset="0"/>
              <a:cs typeface="Arial" panose="020B0604020202020204" pitchFamily="34" charset="0"/>
            </a:endParaRPr>
          </a:p>
          <a:p>
            <a:pPr marL="0" indent="0">
              <a:lnSpc>
                <a:spcPct val="125000"/>
              </a:lnSpc>
              <a:buNone/>
            </a:pPr>
            <a:r>
              <a:rPr lang="en-US" sz="1450" dirty="0">
                <a:solidFill>
                  <a:srgbClr val="C7CCD1"/>
                </a:solidFill>
                <a:latin typeface="Arial" panose="020B0604020202020204" pitchFamily="34" charset="0"/>
                <a:ea typeface="Calibri" pitchFamily="34" charset="-122"/>
                <a:cs typeface="Arial" panose="020B0604020202020204" pitchFamily="34" charset="0"/>
              </a:rPr>
              <a:t>sau giao dịch</a:t>
            </a:r>
            <a:endParaRPr lang="en-US" sz="1450" dirty="0">
              <a:latin typeface="Arial" panose="020B0604020202020204" pitchFamily="34" charset="0"/>
              <a:cs typeface="Arial" panose="020B0604020202020204" pitchFamily="34" charset="0"/>
            </a:endParaRPr>
          </a:p>
        </p:txBody>
      </p:sp>
      <p:sp>
        <p:nvSpPr>
          <p:cNvPr id="18" name="Text 16"/>
          <p:cNvSpPr txBox="1"/>
          <p:nvPr/>
        </p:nvSpPr>
        <p:spPr>
          <a:xfrm>
            <a:off x="4617720" y="5303520"/>
            <a:ext cx="2606040" cy="457200"/>
          </a:xfrm>
          <a:prstGeom prst="rect">
            <a:avLst/>
          </a:prstGeom>
          <a:noFill/>
          <a:ln/>
        </p:spPr>
        <p:txBody>
          <a:bodyPr wrap="square" lIns="0" tIns="0" rIns="0" bIns="0" rtlCol="0" anchor="ctr"/>
          <a:lstStyle/>
          <a:p>
            <a:pPr marL="0" indent="0">
              <a:buNone/>
            </a:pPr>
            <a:r>
              <a:rPr lang="en-US" sz="1050" i="1" dirty="0">
                <a:solidFill>
                  <a:srgbClr val="82888F"/>
                </a:solidFill>
                <a:latin typeface="Arial" panose="020B0604020202020204" pitchFamily="34" charset="0"/>
                <a:ea typeface="Calibri" pitchFamily="34" charset="-122"/>
                <a:cs typeface="Arial" panose="020B0604020202020204" pitchFamily="34" charset="0"/>
              </a:rPr>
              <a:t>Điểm gãy trong &amp; sau giao dịch</a:t>
            </a:r>
            <a:endParaRPr lang="en-US" sz="1050" dirty="0">
              <a:latin typeface="Arial" panose="020B0604020202020204" pitchFamily="34" charset="0"/>
              <a:cs typeface="Arial" panose="020B0604020202020204" pitchFamily="34" charset="0"/>
            </a:endParaRPr>
          </a:p>
        </p:txBody>
      </p:sp>
      <p:sp>
        <p:nvSpPr>
          <p:cNvPr id="19" name="Shape 17"/>
          <p:cNvSpPr/>
          <p:nvPr/>
        </p:nvSpPr>
        <p:spPr>
          <a:xfrm>
            <a:off x="7955280" y="1965960"/>
            <a:ext cx="3246120" cy="3931920"/>
          </a:xfrm>
          <a:prstGeom prst="roundRect">
            <a:avLst>
              <a:gd name="adj" fmla="val 3380"/>
            </a:avLst>
          </a:prstGeom>
          <a:solidFill>
            <a:srgbClr val="15181D"/>
          </a:solidFill>
          <a:ln w="12700">
            <a:solidFill>
              <a:srgbClr val="262B33"/>
            </a:solidFill>
            <a:prstDash val="solid"/>
          </a:ln>
        </p:spPr>
      </p:sp>
      <p:sp>
        <p:nvSpPr>
          <p:cNvPr id="20" name="Shape 18"/>
          <p:cNvSpPr/>
          <p:nvPr/>
        </p:nvSpPr>
        <p:spPr>
          <a:xfrm>
            <a:off x="8275320" y="2331720"/>
            <a:ext cx="566928" cy="566928"/>
          </a:xfrm>
          <a:prstGeom prst="ellipse">
            <a:avLst/>
          </a:prstGeom>
          <a:solidFill>
            <a:srgbClr val="3A2E14"/>
          </a:solidFill>
          <a:ln/>
        </p:spPr>
      </p:sp>
      <p:sp>
        <p:nvSpPr>
          <p:cNvPr id="21" name="Text 19"/>
          <p:cNvSpPr txBox="1"/>
          <p:nvPr/>
        </p:nvSpPr>
        <p:spPr>
          <a:xfrm>
            <a:off x="8275320" y="2331720"/>
            <a:ext cx="566928" cy="566928"/>
          </a:xfrm>
          <a:prstGeom prst="rect">
            <a:avLst/>
          </a:prstGeom>
          <a:noFill/>
          <a:ln/>
        </p:spPr>
        <p:txBody>
          <a:bodyPr wrap="square" lIns="0" tIns="0" rIns="0" bIns="0" rtlCol="0" anchor="ctr"/>
          <a:lstStyle/>
          <a:p>
            <a:pPr marL="0" indent="0" algn="ctr">
              <a:buNone/>
            </a:pPr>
            <a:r>
              <a:rPr lang="en-US" sz="1500" b="1" dirty="0">
                <a:solidFill>
                  <a:srgbClr val="F5A623"/>
                </a:solidFill>
                <a:latin typeface="Arial" panose="020B0604020202020204" pitchFamily="34" charset="0"/>
                <a:ea typeface="Arial" pitchFamily="34" charset="-122"/>
                <a:cs typeface="Arial" panose="020B0604020202020204" pitchFamily="34" charset="0"/>
              </a:rPr>
              <a:t>03</a:t>
            </a:r>
            <a:endParaRPr lang="en-US" sz="1500" dirty="0">
              <a:latin typeface="Arial" panose="020B0604020202020204" pitchFamily="34" charset="0"/>
              <a:cs typeface="Arial" panose="020B0604020202020204" pitchFamily="34" charset="0"/>
            </a:endParaRPr>
          </a:p>
        </p:txBody>
      </p:sp>
      <p:sp>
        <p:nvSpPr>
          <p:cNvPr id="22" name="Text 20"/>
          <p:cNvSpPr txBox="1"/>
          <p:nvPr/>
        </p:nvSpPr>
        <p:spPr>
          <a:xfrm>
            <a:off x="8275320" y="3108960"/>
            <a:ext cx="2606040" cy="502920"/>
          </a:xfrm>
          <a:prstGeom prst="rect">
            <a:avLst/>
          </a:prstGeom>
          <a:noFill/>
          <a:ln/>
        </p:spPr>
        <p:txBody>
          <a:bodyPr wrap="square" lIns="0" tIns="0" rIns="0" bIns="0" rtlCol="0" anchor="ctr"/>
          <a:lstStyle/>
          <a:p>
            <a:pPr marL="0" indent="0">
              <a:buNone/>
            </a:pPr>
            <a:r>
              <a:rPr lang="en-US" sz="2400" b="1" kern="0" spc="100" dirty="0">
                <a:solidFill>
                  <a:srgbClr val="FFFFFF"/>
                </a:solidFill>
                <a:latin typeface="Arial" panose="020B0604020202020204" pitchFamily="34" charset="0"/>
                <a:ea typeface="Arial" pitchFamily="34" charset="-122"/>
                <a:cs typeface="Arial" panose="020B0604020202020204" pitchFamily="34" charset="0"/>
              </a:rPr>
              <a:t>LISTEN</a:t>
            </a:r>
            <a:endParaRPr lang="en-US" sz="2400" dirty="0">
              <a:latin typeface="Arial" panose="020B0604020202020204" pitchFamily="34" charset="0"/>
              <a:cs typeface="Arial" panose="020B0604020202020204" pitchFamily="34" charset="0"/>
            </a:endParaRPr>
          </a:p>
        </p:txBody>
      </p:sp>
      <p:sp>
        <p:nvSpPr>
          <p:cNvPr id="23" name="Shape 21"/>
          <p:cNvSpPr/>
          <p:nvPr/>
        </p:nvSpPr>
        <p:spPr>
          <a:xfrm>
            <a:off x="8275320" y="3721608"/>
            <a:ext cx="502920" cy="0"/>
          </a:xfrm>
          <a:prstGeom prst="line">
            <a:avLst/>
          </a:prstGeom>
          <a:noFill/>
          <a:ln w="25400">
            <a:solidFill>
              <a:srgbClr val="F5A623"/>
            </a:solidFill>
            <a:prstDash val="solid"/>
          </a:ln>
        </p:spPr>
      </p:sp>
      <p:sp>
        <p:nvSpPr>
          <p:cNvPr id="24" name="Text 22"/>
          <p:cNvSpPr txBox="1"/>
          <p:nvPr/>
        </p:nvSpPr>
        <p:spPr>
          <a:xfrm>
            <a:off x="8275320" y="3931920"/>
            <a:ext cx="2606040" cy="1005840"/>
          </a:xfrm>
          <a:prstGeom prst="rect">
            <a:avLst/>
          </a:prstGeom>
          <a:noFill/>
          <a:ln/>
        </p:spPr>
        <p:txBody>
          <a:bodyPr wrap="square" lIns="0" tIns="0" rIns="0" bIns="0" rtlCol="0" anchor="ctr"/>
          <a:lstStyle/>
          <a:p>
            <a:pPr marL="0" indent="0">
              <a:lnSpc>
                <a:spcPct val="125000"/>
              </a:lnSpc>
              <a:buNone/>
            </a:pPr>
            <a:r>
              <a:rPr lang="en-US" sz="1450" dirty="0">
                <a:solidFill>
                  <a:srgbClr val="C7CCD1"/>
                </a:solidFill>
                <a:latin typeface="Arial" panose="020B0604020202020204" pitchFamily="34" charset="0"/>
                <a:ea typeface="Calibri" pitchFamily="34" charset="-122"/>
                <a:cs typeface="Arial" panose="020B0604020202020204" pitchFamily="34" charset="0"/>
              </a:rPr>
              <a:t>Mất thời gian </a:t>
            </a:r>
            <a:r>
              <a:rPr lang="en-US" sz="1450" dirty="0" err="1">
                <a:solidFill>
                  <a:srgbClr val="C7CCD1"/>
                </a:solidFill>
                <a:latin typeface="Arial" panose="020B0604020202020204" pitchFamily="34" charset="0"/>
                <a:ea typeface="Calibri" pitchFamily="34" charset="-122"/>
                <a:cs typeface="Arial" panose="020B0604020202020204" pitchFamily="34" charset="0"/>
              </a:rPr>
              <a:t>đánh</a:t>
            </a:r>
            <a:r>
              <a:rPr lang="en-US" sz="1450" dirty="0">
                <a:solidFill>
                  <a:srgbClr val="C7CCD1"/>
                </a:solidFill>
                <a:latin typeface="Arial" panose="020B0604020202020204" pitchFamily="34" charset="0"/>
                <a:ea typeface="Calibri" pitchFamily="34" charset="-122"/>
                <a:cs typeface="Arial" panose="020B0604020202020204" pitchFamily="34" charset="0"/>
              </a:rPr>
              <a:t> </a:t>
            </a:r>
            <a:r>
              <a:rPr lang="en-US" sz="1450" dirty="0" err="1">
                <a:solidFill>
                  <a:srgbClr val="C7CCD1"/>
                </a:solidFill>
                <a:latin typeface="Arial" panose="020B0604020202020204" pitchFamily="34" charset="0"/>
                <a:ea typeface="Calibri" pitchFamily="34" charset="-122"/>
                <a:cs typeface="Arial" panose="020B0604020202020204" pitchFamily="34" charset="0"/>
              </a:rPr>
              <a:t>giá</a:t>
            </a:r>
            <a:r>
              <a:rPr lang="vi-VN" sz="1450" dirty="0">
                <a:solidFill>
                  <a:srgbClr val="C7CCD1"/>
                </a:solidFill>
                <a:latin typeface="Arial" panose="020B0604020202020204" pitchFamily="34" charset="0"/>
                <a:ea typeface="Calibri" pitchFamily="34" charset="-122"/>
                <a:cs typeface="Arial" panose="020B0604020202020204" pitchFamily="34" charset="0"/>
              </a:rPr>
              <a:t> chất lượng dịch vụ tại rạp</a:t>
            </a:r>
            <a:endParaRPr lang="en-US" sz="1450" dirty="0">
              <a:latin typeface="Arial" panose="020B0604020202020204" pitchFamily="34" charset="0"/>
              <a:cs typeface="Arial" panose="020B0604020202020204" pitchFamily="34" charset="0"/>
            </a:endParaRPr>
          </a:p>
        </p:txBody>
      </p:sp>
      <p:sp>
        <p:nvSpPr>
          <p:cNvPr id="25" name="Text 23"/>
          <p:cNvSpPr txBox="1"/>
          <p:nvPr/>
        </p:nvSpPr>
        <p:spPr>
          <a:xfrm>
            <a:off x="8275320" y="5303520"/>
            <a:ext cx="2606040" cy="457200"/>
          </a:xfrm>
          <a:prstGeom prst="rect">
            <a:avLst/>
          </a:prstGeom>
          <a:noFill/>
          <a:ln/>
        </p:spPr>
        <p:txBody>
          <a:bodyPr wrap="square" lIns="0" tIns="0" rIns="0" bIns="0" rtlCol="0" anchor="ctr"/>
          <a:lstStyle/>
          <a:p>
            <a:pPr marL="0" indent="0">
              <a:buNone/>
            </a:pPr>
            <a:r>
              <a:rPr lang="en-US" sz="1050" i="1" dirty="0">
                <a:solidFill>
                  <a:srgbClr val="82888F"/>
                </a:solidFill>
                <a:latin typeface="Arial" panose="020B0604020202020204" pitchFamily="34" charset="0"/>
                <a:ea typeface="Calibri" pitchFamily="34" charset="-122"/>
                <a:cs typeface="Arial" panose="020B0604020202020204" pitchFamily="34" charset="0"/>
              </a:rPr>
              <a:t>Điểm gãy sau trải nghiệm</a:t>
            </a:r>
            <a:endParaRPr lang="en-US" sz="1050" dirty="0">
              <a:latin typeface="Arial" panose="020B0604020202020204" pitchFamily="34" charset="0"/>
              <a:cs typeface="Arial" panose="020B0604020202020204" pitchFamily="34" charset="0"/>
            </a:endParaRPr>
          </a:p>
        </p:txBody>
      </p:sp>
      <p:sp>
        <p:nvSpPr>
          <p:cNvPr id="26" name="Shape 24"/>
          <p:cNvSpPr/>
          <p:nvPr/>
        </p:nvSpPr>
        <p:spPr>
          <a:xfrm>
            <a:off x="640080" y="6382512"/>
            <a:ext cx="10908792" cy="0"/>
          </a:xfrm>
          <a:prstGeom prst="line">
            <a:avLst/>
          </a:prstGeom>
          <a:noFill/>
          <a:ln w="9525">
            <a:solidFill>
              <a:srgbClr val="262B33"/>
            </a:solidFill>
            <a:prstDash val="solid"/>
          </a:ln>
        </p:spPr>
      </p:sp>
      <p:sp>
        <p:nvSpPr>
          <p:cNvPr id="27" name="Text 25"/>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THE REALITY</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307696" y="384048"/>
            <a:ext cx="8229600" cy="292608"/>
          </a:xfrm>
          <a:prstGeom prst="rect">
            <a:avLst/>
          </a:prstGeom>
          <a:noFill/>
          <a:ln/>
        </p:spPr>
        <p:txBody>
          <a:bodyPr wrap="square" lIns="0" tIns="0" rIns="0" bIns="0" rtlCol="0" anchor="ctr"/>
          <a:lstStyle/>
          <a:p>
            <a:pPr marL="0" indent="0">
              <a:buNone/>
            </a:pPr>
            <a:r>
              <a:rPr lang="en-US" sz="2800" b="1" kern="0" spc="220" dirty="0">
                <a:solidFill>
                  <a:srgbClr val="E5555C"/>
                </a:solidFill>
                <a:latin typeface="Arial" panose="020B0604020202020204" pitchFamily="34" charset="0"/>
                <a:ea typeface="Arial" pitchFamily="34" charset="-122"/>
                <a:cs typeface="Arial" panose="020B0604020202020204" pitchFamily="34" charset="0"/>
              </a:rPr>
              <a:t>BREAK 01 — SELL</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40080" y="771502"/>
            <a:ext cx="11775741" cy="123444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Arial" panose="020B0604020202020204" pitchFamily="34" charset="0"/>
                <a:ea typeface="Arial" pitchFamily="34" charset="-122"/>
                <a:cs typeface="Arial" panose="020B0604020202020204" pitchFamily="34" charset="0"/>
              </a:rPr>
              <a:t>Lobby được giao target, nhưng Tablet </a:t>
            </a:r>
            <a:r>
              <a:rPr lang="en-US" sz="2400" b="1" dirty="0" err="1">
                <a:solidFill>
                  <a:srgbClr val="FFFFFF"/>
                </a:solidFill>
                <a:latin typeface="Arial" panose="020B0604020202020204" pitchFamily="34" charset="0"/>
                <a:ea typeface="Arial" pitchFamily="34" charset="-122"/>
                <a:cs typeface="Arial" panose="020B0604020202020204" pitchFamily="34" charset="0"/>
              </a:rPr>
              <a:t>lại</a:t>
            </a:r>
            <a:r>
              <a:rPr lang="vi-VN" sz="2400" dirty="0">
                <a:latin typeface="Arial" panose="020B0604020202020204" pitchFamily="34" charset="0"/>
                <a:cs typeface="Arial" panose="020B0604020202020204" pitchFamily="34" charset="0"/>
              </a:rPr>
              <a:t> </a:t>
            </a:r>
            <a:r>
              <a:rPr lang="en-US" sz="2400" b="1" dirty="0" err="1">
                <a:solidFill>
                  <a:srgbClr val="FFFFFF"/>
                </a:solidFill>
                <a:latin typeface="Arial" panose="020B0604020202020204" pitchFamily="34" charset="0"/>
                <a:ea typeface="Arial" pitchFamily="34" charset="-122"/>
                <a:cs typeface="Arial" panose="020B0604020202020204" pitchFamily="34" charset="0"/>
              </a:rPr>
              <a:t>không</a:t>
            </a:r>
            <a:r>
              <a:rPr lang="en-US" sz="2400" b="1" dirty="0">
                <a:solidFill>
                  <a:srgbClr val="FFFFFF"/>
                </a:solidFill>
                <a:latin typeface="Arial" panose="020B0604020202020204" pitchFamily="34" charset="0"/>
                <a:ea typeface="Arial" pitchFamily="34" charset="-122"/>
                <a:cs typeface="Arial" panose="020B0604020202020204" pitchFamily="34" charset="0"/>
              </a:rPr>
              <a:t> có đủ “vũ khí” để bán.</a:t>
            </a:r>
            <a:endParaRPr lang="en-US" sz="2400" dirty="0">
              <a:latin typeface="Arial" panose="020B0604020202020204" pitchFamily="34" charset="0"/>
              <a:cs typeface="Arial" panose="020B0604020202020204" pitchFamily="34" charset="0"/>
            </a:endParaRPr>
          </a:p>
        </p:txBody>
      </p:sp>
      <p:sp>
        <p:nvSpPr>
          <p:cNvPr id="5" name="Shape 3"/>
          <p:cNvSpPr/>
          <p:nvPr/>
        </p:nvSpPr>
        <p:spPr>
          <a:xfrm>
            <a:off x="563728" y="2331720"/>
            <a:ext cx="1737360" cy="1051560"/>
          </a:xfrm>
          <a:prstGeom prst="roundRect">
            <a:avLst>
              <a:gd name="adj" fmla="val 6957"/>
            </a:avLst>
          </a:prstGeom>
          <a:solidFill>
            <a:srgbClr val="15181D"/>
          </a:solidFill>
          <a:ln w="12700">
            <a:solidFill>
              <a:srgbClr val="262B33"/>
            </a:solidFill>
            <a:prstDash val="solid"/>
          </a:ln>
        </p:spPr>
      </p:sp>
      <p:sp>
        <p:nvSpPr>
          <p:cNvPr id="6" name="Text 4"/>
          <p:cNvSpPr txBox="1"/>
          <p:nvPr/>
        </p:nvSpPr>
        <p:spPr>
          <a:xfrm>
            <a:off x="63688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KHÁCH HÀNG</a:t>
            </a:r>
            <a:endParaRPr lang="en-US" sz="1200" dirty="0">
              <a:latin typeface="Arial" panose="020B0604020202020204" pitchFamily="34" charset="0"/>
              <a:cs typeface="Arial" panose="020B0604020202020204" pitchFamily="34" charset="0"/>
            </a:endParaRPr>
          </a:p>
        </p:txBody>
      </p:sp>
      <p:sp>
        <p:nvSpPr>
          <p:cNvPr id="7" name="Text 5"/>
          <p:cNvSpPr txBox="1"/>
          <p:nvPr/>
        </p:nvSpPr>
        <p:spPr>
          <a:xfrm>
            <a:off x="63688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82888F"/>
                </a:solidFill>
                <a:latin typeface="Arial" panose="020B0604020202020204" pitchFamily="34" charset="0"/>
                <a:ea typeface="Calibri" pitchFamily="34" charset="-122"/>
                <a:cs typeface="Arial" panose="020B0604020202020204" pitchFamily="34" charset="0"/>
              </a:rPr>
              <a:t>Có nhu cầu mua thêm</a:t>
            </a:r>
            <a:endParaRPr lang="en-US" sz="900" dirty="0">
              <a:latin typeface="Arial" panose="020B0604020202020204" pitchFamily="34" charset="0"/>
              <a:cs typeface="Arial" panose="020B0604020202020204" pitchFamily="34" charset="0"/>
            </a:endParaRPr>
          </a:p>
        </p:txBody>
      </p:sp>
      <p:sp>
        <p:nvSpPr>
          <p:cNvPr id="8" name="Shape 6"/>
          <p:cNvSpPr/>
          <p:nvPr/>
        </p:nvSpPr>
        <p:spPr>
          <a:xfrm rot="5400000">
            <a:off x="2419960" y="2769718"/>
            <a:ext cx="219456" cy="175565"/>
          </a:xfrm>
          <a:prstGeom prst="triangle">
            <a:avLst/>
          </a:prstGeom>
          <a:solidFill>
            <a:srgbClr val="F5A623"/>
          </a:solidFill>
          <a:ln/>
        </p:spPr>
      </p:sp>
      <p:sp>
        <p:nvSpPr>
          <p:cNvPr id="9" name="Shape 7"/>
          <p:cNvSpPr/>
          <p:nvPr/>
        </p:nvSpPr>
        <p:spPr>
          <a:xfrm>
            <a:off x="2758288" y="2331720"/>
            <a:ext cx="1737360" cy="1051560"/>
          </a:xfrm>
          <a:prstGeom prst="roundRect">
            <a:avLst>
              <a:gd name="adj" fmla="val 6957"/>
            </a:avLst>
          </a:prstGeom>
          <a:solidFill>
            <a:srgbClr val="15181D"/>
          </a:solidFill>
          <a:ln w="12700">
            <a:solidFill>
              <a:srgbClr val="262B33"/>
            </a:solidFill>
            <a:prstDash val="solid"/>
          </a:ln>
        </p:spPr>
      </p:sp>
      <p:sp>
        <p:nvSpPr>
          <p:cNvPr id="10" name="Text 8"/>
          <p:cNvSpPr txBox="1"/>
          <p:nvPr/>
        </p:nvSpPr>
        <p:spPr>
          <a:xfrm>
            <a:off x="283144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LOBBY</a:t>
            </a:r>
            <a:endParaRPr lang="en-US" sz="1200" dirty="0">
              <a:latin typeface="Arial" panose="020B0604020202020204" pitchFamily="34" charset="0"/>
              <a:cs typeface="Arial" panose="020B0604020202020204" pitchFamily="34" charset="0"/>
            </a:endParaRPr>
          </a:p>
        </p:txBody>
      </p:sp>
      <p:sp>
        <p:nvSpPr>
          <p:cNvPr id="11" name="Text 9"/>
          <p:cNvSpPr txBox="1"/>
          <p:nvPr/>
        </p:nvSpPr>
        <p:spPr>
          <a:xfrm>
            <a:off x="283144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82888F"/>
                </a:solidFill>
                <a:latin typeface="Arial" panose="020B0604020202020204" pitchFamily="34" charset="0"/>
                <a:ea typeface="Calibri" pitchFamily="34" charset="-122"/>
                <a:cs typeface="Arial" panose="020B0604020202020204" pitchFamily="34" charset="0"/>
              </a:rPr>
              <a:t>Chủ động tư vấn</a:t>
            </a:r>
            <a:endParaRPr lang="en-US" sz="900" dirty="0">
              <a:latin typeface="Arial" panose="020B0604020202020204" pitchFamily="34" charset="0"/>
              <a:cs typeface="Arial" panose="020B0604020202020204" pitchFamily="34" charset="0"/>
            </a:endParaRPr>
          </a:p>
        </p:txBody>
      </p:sp>
      <p:sp>
        <p:nvSpPr>
          <p:cNvPr id="12" name="Shape 10"/>
          <p:cNvSpPr/>
          <p:nvPr/>
        </p:nvSpPr>
        <p:spPr>
          <a:xfrm rot="5400000">
            <a:off x="4614520" y="2769718"/>
            <a:ext cx="219456" cy="175565"/>
          </a:xfrm>
          <a:prstGeom prst="triangle">
            <a:avLst/>
          </a:prstGeom>
          <a:solidFill>
            <a:srgbClr val="F5A623"/>
          </a:solidFill>
          <a:ln/>
        </p:spPr>
      </p:sp>
      <p:sp>
        <p:nvSpPr>
          <p:cNvPr id="13" name="Shape 11"/>
          <p:cNvSpPr/>
          <p:nvPr/>
        </p:nvSpPr>
        <p:spPr>
          <a:xfrm>
            <a:off x="4952848" y="2331720"/>
            <a:ext cx="2103120" cy="1051560"/>
          </a:xfrm>
          <a:prstGeom prst="roundRect">
            <a:avLst>
              <a:gd name="adj" fmla="val 6957"/>
            </a:avLst>
          </a:prstGeom>
          <a:solidFill>
            <a:srgbClr val="3A2E14"/>
          </a:solidFill>
          <a:ln w="12700">
            <a:solidFill>
              <a:srgbClr val="F5A623"/>
            </a:solidFill>
            <a:prstDash val="solid"/>
          </a:ln>
        </p:spPr>
      </p:sp>
      <p:sp>
        <p:nvSpPr>
          <p:cNvPr id="14" name="Text 12"/>
          <p:cNvSpPr txBox="1"/>
          <p:nvPr/>
        </p:nvSpPr>
        <p:spPr>
          <a:xfrm>
            <a:off x="5026000" y="2386584"/>
            <a:ext cx="195681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E8C2"/>
                </a:solidFill>
                <a:latin typeface="Arial" panose="020B0604020202020204" pitchFamily="34" charset="0"/>
                <a:ea typeface="Arial" pitchFamily="34" charset="-122"/>
                <a:cs typeface="Arial" panose="020B0604020202020204" pitchFamily="34" charset="0"/>
              </a:rPr>
              <a:t>TABLET</a:t>
            </a:r>
            <a:endParaRPr lang="en-US" sz="1200" dirty="0">
              <a:latin typeface="Arial" panose="020B0604020202020204" pitchFamily="34" charset="0"/>
              <a:cs typeface="Arial" panose="020B0604020202020204" pitchFamily="34" charset="0"/>
            </a:endParaRPr>
          </a:p>
        </p:txBody>
      </p:sp>
      <p:sp>
        <p:nvSpPr>
          <p:cNvPr id="15" name="Text 13"/>
          <p:cNvSpPr txBox="1"/>
          <p:nvPr/>
        </p:nvSpPr>
        <p:spPr>
          <a:xfrm>
            <a:off x="5026000" y="2957170"/>
            <a:ext cx="1956816" cy="389534"/>
          </a:xfrm>
          <a:prstGeom prst="rect">
            <a:avLst/>
          </a:prstGeom>
          <a:noFill/>
          <a:ln/>
        </p:spPr>
        <p:txBody>
          <a:bodyPr wrap="square" lIns="0" tIns="0" rIns="0" bIns="0" rtlCol="0" anchor="t"/>
          <a:lstStyle/>
          <a:p>
            <a:pPr marL="0" indent="0" algn="ctr">
              <a:lnSpc>
                <a:spcPct val="100000"/>
              </a:lnSpc>
              <a:buNone/>
            </a:pPr>
            <a:r>
              <a:rPr lang="en-US" sz="900" dirty="0">
                <a:solidFill>
                  <a:srgbClr val="82888F"/>
                </a:solidFill>
                <a:latin typeface="Arial" panose="020B0604020202020204" pitchFamily="34" charset="0"/>
                <a:ea typeface="Calibri" pitchFamily="34" charset="-122"/>
                <a:cs typeface="Arial" panose="020B0604020202020204" pitchFamily="34" charset="0"/>
              </a:rPr>
              <a:t>Menu giới hạn</a:t>
            </a:r>
            <a:endParaRPr lang="en-US" sz="900" dirty="0">
              <a:latin typeface="Arial" panose="020B0604020202020204" pitchFamily="34" charset="0"/>
              <a:cs typeface="Arial" panose="020B0604020202020204" pitchFamily="34" charset="0"/>
            </a:endParaRPr>
          </a:p>
        </p:txBody>
      </p:sp>
      <p:sp>
        <p:nvSpPr>
          <p:cNvPr id="16" name="Shape 14"/>
          <p:cNvSpPr/>
          <p:nvPr/>
        </p:nvSpPr>
        <p:spPr>
          <a:xfrm rot="5400000">
            <a:off x="7174840" y="2769718"/>
            <a:ext cx="219456" cy="175565"/>
          </a:xfrm>
          <a:prstGeom prst="triangle">
            <a:avLst/>
          </a:prstGeom>
          <a:solidFill>
            <a:srgbClr val="E5555C"/>
          </a:solidFill>
          <a:ln/>
        </p:spPr>
      </p:sp>
      <p:sp>
        <p:nvSpPr>
          <p:cNvPr id="17" name="Shape 15"/>
          <p:cNvSpPr/>
          <p:nvPr/>
        </p:nvSpPr>
        <p:spPr>
          <a:xfrm>
            <a:off x="7513168" y="2331720"/>
            <a:ext cx="1920240" cy="1051560"/>
          </a:xfrm>
          <a:prstGeom prst="roundRect">
            <a:avLst>
              <a:gd name="adj" fmla="val 6957"/>
            </a:avLst>
          </a:prstGeom>
          <a:solidFill>
            <a:srgbClr val="371619"/>
          </a:solidFill>
          <a:ln w="12700">
            <a:solidFill>
              <a:srgbClr val="E5555C"/>
            </a:solidFill>
            <a:prstDash val="solid"/>
          </a:ln>
        </p:spPr>
      </p:sp>
      <p:sp>
        <p:nvSpPr>
          <p:cNvPr id="18" name="Text 16"/>
          <p:cNvSpPr txBox="1"/>
          <p:nvPr/>
        </p:nvSpPr>
        <p:spPr>
          <a:xfrm>
            <a:off x="7586320" y="2386584"/>
            <a:ext cx="177393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D7D9"/>
                </a:solidFill>
                <a:latin typeface="Arial" panose="020B0604020202020204" pitchFamily="34" charset="0"/>
                <a:ea typeface="Arial" pitchFamily="34" charset="-122"/>
                <a:cs typeface="Arial" panose="020B0604020202020204" pitchFamily="34" charset="0"/>
              </a:rPr>
              <a:t>KHÔNG THỂ</a:t>
            </a:r>
            <a:endParaRPr lang="en-US" sz="1200" dirty="0">
              <a:latin typeface="Arial" panose="020B0604020202020204" pitchFamily="34" charset="0"/>
              <a:cs typeface="Arial" panose="020B0604020202020204" pitchFamily="34" charset="0"/>
            </a:endParaRPr>
          </a:p>
          <a:p>
            <a:pPr marL="0" indent="0" algn="ctr">
              <a:lnSpc>
                <a:spcPct val="102000"/>
              </a:lnSpc>
              <a:buNone/>
            </a:pPr>
            <a:r>
              <a:rPr lang="en-US" sz="1200" b="1" dirty="0">
                <a:solidFill>
                  <a:srgbClr val="FFD7D9"/>
                </a:solidFill>
                <a:latin typeface="Arial" panose="020B0604020202020204" pitchFamily="34" charset="0"/>
                <a:ea typeface="Arial" pitchFamily="34" charset="-122"/>
                <a:cs typeface="Arial" panose="020B0604020202020204" pitchFamily="34" charset="0"/>
              </a:rPr>
              <a:t>CHỐT ĐƠN</a:t>
            </a:r>
            <a:endParaRPr lang="en-US" sz="1200" dirty="0">
              <a:latin typeface="Arial" panose="020B0604020202020204" pitchFamily="34" charset="0"/>
              <a:cs typeface="Arial" panose="020B0604020202020204" pitchFamily="34" charset="0"/>
            </a:endParaRPr>
          </a:p>
        </p:txBody>
      </p:sp>
      <p:sp>
        <p:nvSpPr>
          <p:cNvPr id="19" name="Text 17"/>
          <p:cNvSpPr txBox="1"/>
          <p:nvPr/>
        </p:nvSpPr>
        <p:spPr>
          <a:xfrm>
            <a:off x="7586320" y="2957170"/>
            <a:ext cx="1773936" cy="389534"/>
          </a:xfrm>
          <a:prstGeom prst="rect">
            <a:avLst/>
          </a:prstGeom>
          <a:noFill/>
          <a:ln/>
        </p:spPr>
        <p:txBody>
          <a:bodyPr wrap="square" lIns="0" tIns="0" rIns="0" bIns="0" rtlCol="0" anchor="t"/>
          <a:lstStyle/>
          <a:p>
            <a:pPr marL="0" indent="0" algn="ctr">
              <a:lnSpc>
                <a:spcPct val="100000"/>
              </a:lnSpc>
              <a:buNone/>
            </a:pPr>
            <a:r>
              <a:rPr lang="en-US" sz="900" dirty="0">
                <a:solidFill>
                  <a:srgbClr val="82888F"/>
                </a:solidFill>
                <a:latin typeface="Arial" panose="020B0604020202020204" pitchFamily="34" charset="0"/>
                <a:ea typeface="Calibri" pitchFamily="34" charset="-122"/>
                <a:cs typeface="Arial" panose="020B0604020202020204" pitchFamily="34" charset="0"/>
              </a:rPr>
              <a:t>Phải mời sang CO</a:t>
            </a:r>
            <a:endParaRPr lang="en-US" sz="900" dirty="0">
              <a:latin typeface="Arial" panose="020B0604020202020204" pitchFamily="34" charset="0"/>
              <a:cs typeface="Arial" panose="020B0604020202020204" pitchFamily="34" charset="0"/>
            </a:endParaRPr>
          </a:p>
        </p:txBody>
      </p:sp>
      <p:sp>
        <p:nvSpPr>
          <p:cNvPr id="20" name="Shape 18"/>
          <p:cNvSpPr/>
          <p:nvPr/>
        </p:nvSpPr>
        <p:spPr>
          <a:xfrm rot="5400000">
            <a:off x="9552280" y="2769718"/>
            <a:ext cx="219456" cy="175565"/>
          </a:xfrm>
          <a:prstGeom prst="triangle">
            <a:avLst/>
          </a:prstGeom>
          <a:solidFill>
            <a:srgbClr val="E5555C"/>
          </a:solidFill>
          <a:ln/>
        </p:spPr>
      </p:sp>
      <p:sp>
        <p:nvSpPr>
          <p:cNvPr id="21" name="Shape 19"/>
          <p:cNvSpPr/>
          <p:nvPr/>
        </p:nvSpPr>
        <p:spPr>
          <a:xfrm>
            <a:off x="9890608" y="2331720"/>
            <a:ext cx="1737360" cy="1051560"/>
          </a:xfrm>
          <a:prstGeom prst="roundRect">
            <a:avLst>
              <a:gd name="adj" fmla="val 6957"/>
            </a:avLst>
          </a:prstGeom>
          <a:solidFill>
            <a:srgbClr val="371619"/>
          </a:solidFill>
          <a:ln w="12700">
            <a:solidFill>
              <a:srgbClr val="E5555C"/>
            </a:solidFill>
            <a:prstDash val="solid"/>
          </a:ln>
        </p:spPr>
      </p:sp>
      <p:sp>
        <p:nvSpPr>
          <p:cNvPr id="22" name="Text 20"/>
          <p:cNvSpPr txBox="1"/>
          <p:nvPr/>
        </p:nvSpPr>
        <p:spPr>
          <a:xfrm>
            <a:off x="9963760" y="2386584"/>
            <a:ext cx="1591056" cy="534010"/>
          </a:xfrm>
          <a:prstGeom prst="rect">
            <a:avLst/>
          </a:prstGeom>
          <a:noFill/>
          <a:ln/>
        </p:spPr>
        <p:txBody>
          <a:bodyPr wrap="square" lIns="0" tIns="0" rIns="0" bIns="0" rtlCol="0" anchor="b"/>
          <a:lstStyle/>
          <a:p>
            <a:pPr marL="0" indent="0" algn="ctr">
              <a:lnSpc>
                <a:spcPct val="102000"/>
              </a:lnSpc>
              <a:buNone/>
            </a:pPr>
            <a:r>
              <a:rPr lang="en-US" sz="1200" b="1" dirty="0">
                <a:solidFill>
                  <a:srgbClr val="FFD7D9"/>
                </a:solidFill>
                <a:latin typeface="Arial" panose="020B0604020202020204" pitchFamily="34" charset="0"/>
                <a:ea typeface="Arial" pitchFamily="34" charset="-122"/>
                <a:cs typeface="Arial" panose="020B0604020202020204" pitchFamily="34" charset="0"/>
              </a:rPr>
              <a:t>LOST SALE</a:t>
            </a:r>
            <a:endParaRPr lang="en-US" sz="1200" dirty="0">
              <a:latin typeface="Arial" panose="020B0604020202020204" pitchFamily="34" charset="0"/>
              <a:cs typeface="Arial" panose="020B0604020202020204" pitchFamily="34" charset="0"/>
            </a:endParaRPr>
          </a:p>
        </p:txBody>
      </p:sp>
      <p:sp>
        <p:nvSpPr>
          <p:cNvPr id="23" name="Text 21"/>
          <p:cNvSpPr txBox="1"/>
          <p:nvPr/>
        </p:nvSpPr>
        <p:spPr>
          <a:xfrm>
            <a:off x="9963760" y="2957170"/>
            <a:ext cx="1591056" cy="389534"/>
          </a:xfrm>
          <a:prstGeom prst="rect">
            <a:avLst/>
          </a:prstGeom>
          <a:noFill/>
          <a:ln/>
        </p:spPr>
        <p:txBody>
          <a:bodyPr wrap="square" lIns="0" tIns="0" rIns="0" bIns="0" rtlCol="0" anchor="t"/>
          <a:lstStyle/>
          <a:p>
            <a:pPr marL="0" indent="0" algn="ctr">
              <a:lnSpc>
                <a:spcPct val="100000"/>
              </a:lnSpc>
              <a:buNone/>
            </a:pPr>
            <a:r>
              <a:rPr lang="en-US" sz="900" dirty="0">
                <a:solidFill>
                  <a:srgbClr val="82888F"/>
                </a:solidFill>
                <a:latin typeface="Arial" panose="020B0604020202020204" pitchFamily="34" charset="0"/>
                <a:ea typeface="Calibri" pitchFamily="34" charset="-122"/>
                <a:cs typeface="Arial" panose="020B0604020202020204" pitchFamily="34" charset="0"/>
              </a:rPr>
              <a:t>Khách bỏ cuộc</a:t>
            </a:r>
            <a:endParaRPr lang="en-US" sz="900" dirty="0">
              <a:latin typeface="Arial" panose="020B0604020202020204" pitchFamily="34" charset="0"/>
              <a:cs typeface="Arial" panose="020B0604020202020204" pitchFamily="34" charset="0"/>
            </a:endParaRPr>
          </a:p>
        </p:txBody>
      </p:sp>
      <p:sp>
        <p:nvSpPr>
          <p:cNvPr id="24" name="Shape 22"/>
          <p:cNvSpPr/>
          <p:nvPr/>
        </p:nvSpPr>
        <p:spPr>
          <a:xfrm>
            <a:off x="723748" y="3794760"/>
            <a:ext cx="5120640" cy="1417320"/>
          </a:xfrm>
          <a:prstGeom prst="roundRect">
            <a:avLst>
              <a:gd name="adj" fmla="val 6452"/>
            </a:avLst>
          </a:prstGeom>
          <a:solidFill>
            <a:srgbClr val="15181D"/>
          </a:solidFill>
          <a:ln w="12700">
            <a:solidFill>
              <a:srgbClr val="262B33"/>
            </a:solidFill>
            <a:prstDash val="solid"/>
          </a:ln>
        </p:spPr>
      </p:sp>
      <p:sp>
        <p:nvSpPr>
          <p:cNvPr id="25" name="Text 23"/>
          <p:cNvSpPr txBox="1"/>
          <p:nvPr/>
        </p:nvSpPr>
        <p:spPr>
          <a:xfrm>
            <a:off x="998068" y="3931920"/>
            <a:ext cx="4572000" cy="320040"/>
          </a:xfrm>
          <a:prstGeom prst="rect">
            <a:avLst/>
          </a:prstGeom>
          <a:noFill/>
          <a:ln/>
        </p:spPr>
        <p:txBody>
          <a:bodyPr wrap="square" lIns="0" tIns="0" rIns="0" bIns="0" rtlCol="0" anchor="ctr"/>
          <a:lstStyle/>
          <a:p>
            <a:pPr marL="0" indent="0">
              <a:buNone/>
            </a:pPr>
            <a:r>
              <a:rPr lang="en-US" sz="1250" b="1" kern="0" spc="100" dirty="0">
                <a:solidFill>
                  <a:srgbClr val="F5A623"/>
                </a:solidFill>
                <a:latin typeface="Arial" panose="020B0604020202020204" pitchFamily="34" charset="0"/>
                <a:ea typeface="Arial" pitchFamily="34" charset="-122"/>
                <a:cs typeface="Arial" panose="020B0604020202020204" pitchFamily="34" charset="0"/>
              </a:rPr>
              <a:t>TABLET LOBBY</a:t>
            </a:r>
            <a:endParaRPr lang="en-US" sz="1250" dirty="0">
              <a:latin typeface="Arial" panose="020B0604020202020204" pitchFamily="34" charset="0"/>
              <a:cs typeface="Arial" panose="020B0604020202020204" pitchFamily="34" charset="0"/>
            </a:endParaRPr>
          </a:p>
        </p:txBody>
      </p:sp>
      <p:sp>
        <p:nvSpPr>
          <p:cNvPr id="26" name="Text 24"/>
          <p:cNvSpPr txBox="1"/>
          <p:nvPr/>
        </p:nvSpPr>
        <p:spPr>
          <a:xfrm>
            <a:off x="998068" y="4270248"/>
            <a:ext cx="4572000" cy="822960"/>
          </a:xfrm>
          <a:prstGeom prst="rect">
            <a:avLst/>
          </a:prstGeom>
          <a:noFill/>
          <a:ln/>
        </p:spPr>
        <p:txBody>
          <a:bodyPr wrap="square" lIns="0" tIns="0" rIns="0" bIns="0" rtlCol="0" anchor="ctr"/>
          <a:lstStyle/>
          <a:p>
            <a:pPr marL="0" indent="0">
              <a:lnSpc>
                <a:spcPct val="130000"/>
              </a:lnSpc>
              <a:buNone/>
            </a:pPr>
            <a:r>
              <a:rPr lang="en-US" sz="1400" dirty="0">
                <a:solidFill>
                  <a:srgbClr val="C7CCD1"/>
                </a:solidFill>
                <a:latin typeface="Arial" panose="020B0604020202020204" pitchFamily="34" charset="0"/>
                <a:ea typeface="Calibri" pitchFamily="34" charset="-122"/>
                <a:cs typeface="Arial" panose="020B0604020202020204" pitchFamily="34" charset="0"/>
              </a:rPr>
              <a:t>Combo 1 Bigexprm</a:t>
            </a:r>
            <a:endParaRPr lang="en-US" sz="1400" dirty="0">
              <a:latin typeface="Arial" panose="020B0604020202020204" pitchFamily="34" charset="0"/>
              <a:cs typeface="Arial" panose="020B0604020202020204" pitchFamily="34" charset="0"/>
            </a:endParaRPr>
          </a:p>
          <a:p>
            <a:pPr marL="0" indent="0">
              <a:lnSpc>
                <a:spcPct val="130000"/>
              </a:lnSpc>
              <a:buNone/>
            </a:pPr>
            <a:r>
              <a:rPr lang="en-US" sz="1400" dirty="0">
                <a:solidFill>
                  <a:srgbClr val="C7CCD1"/>
                </a:solidFill>
                <a:latin typeface="Arial" panose="020B0604020202020204" pitchFamily="34" charset="0"/>
                <a:ea typeface="Calibri" pitchFamily="34" charset="-122"/>
                <a:cs typeface="Arial" panose="020B0604020202020204" pitchFamily="34" charset="0"/>
              </a:rPr>
              <a:t>Combo 2 Bigexprm</a:t>
            </a:r>
            <a:endParaRPr lang="en-US" sz="1400" dirty="0">
              <a:latin typeface="Arial" panose="020B0604020202020204" pitchFamily="34" charset="0"/>
              <a:cs typeface="Arial" panose="020B0604020202020204" pitchFamily="34" charset="0"/>
            </a:endParaRPr>
          </a:p>
        </p:txBody>
      </p:sp>
      <p:sp>
        <p:nvSpPr>
          <p:cNvPr id="27" name="Shape 25"/>
          <p:cNvSpPr/>
          <p:nvPr/>
        </p:nvSpPr>
        <p:spPr>
          <a:xfrm>
            <a:off x="6347308" y="3794760"/>
            <a:ext cx="5120640" cy="1417320"/>
          </a:xfrm>
          <a:prstGeom prst="roundRect">
            <a:avLst>
              <a:gd name="adj" fmla="val 6452"/>
            </a:avLst>
          </a:prstGeom>
          <a:solidFill>
            <a:srgbClr val="15181D"/>
          </a:solidFill>
          <a:ln w="12700">
            <a:solidFill>
              <a:srgbClr val="262B33"/>
            </a:solidFill>
            <a:prstDash val="solid"/>
          </a:ln>
        </p:spPr>
      </p:sp>
      <p:sp>
        <p:nvSpPr>
          <p:cNvPr id="28" name="Text 26"/>
          <p:cNvSpPr txBox="1"/>
          <p:nvPr/>
        </p:nvSpPr>
        <p:spPr>
          <a:xfrm>
            <a:off x="6621628" y="3931920"/>
            <a:ext cx="4572000" cy="320040"/>
          </a:xfrm>
          <a:prstGeom prst="rect">
            <a:avLst/>
          </a:prstGeom>
          <a:noFill/>
          <a:ln/>
        </p:spPr>
        <p:txBody>
          <a:bodyPr wrap="square" lIns="0" tIns="0" rIns="0" bIns="0" rtlCol="0" anchor="ctr"/>
          <a:lstStyle/>
          <a:p>
            <a:pPr marL="0" indent="0">
              <a:buNone/>
            </a:pPr>
            <a:r>
              <a:rPr lang="en-US" sz="1250" b="1" kern="0" spc="100" dirty="0">
                <a:solidFill>
                  <a:srgbClr val="C7CCD1"/>
                </a:solidFill>
                <a:latin typeface="Arial" panose="020B0604020202020204" pitchFamily="34" charset="0"/>
                <a:ea typeface="Arial" pitchFamily="34" charset="-122"/>
                <a:cs typeface="Arial" panose="020B0604020202020204" pitchFamily="34" charset="0"/>
              </a:rPr>
              <a:t>POS TẠI QUẦY CO</a:t>
            </a:r>
            <a:endParaRPr lang="en-US" sz="1250" dirty="0">
              <a:latin typeface="Arial" panose="020B0604020202020204" pitchFamily="34" charset="0"/>
              <a:cs typeface="Arial" panose="020B0604020202020204" pitchFamily="34" charset="0"/>
            </a:endParaRPr>
          </a:p>
        </p:txBody>
      </p:sp>
      <p:sp>
        <p:nvSpPr>
          <p:cNvPr id="29" name="Text 27"/>
          <p:cNvSpPr txBox="1"/>
          <p:nvPr/>
        </p:nvSpPr>
        <p:spPr>
          <a:xfrm>
            <a:off x="6621628" y="4270248"/>
            <a:ext cx="4572000" cy="822960"/>
          </a:xfrm>
          <a:prstGeom prst="rect">
            <a:avLst/>
          </a:prstGeom>
          <a:noFill/>
          <a:ln/>
        </p:spPr>
        <p:txBody>
          <a:bodyPr wrap="square" lIns="0" tIns="0" rIns="0" bIns="0" rtlCol="0" anchor="ctr"/>
          <a:lstStyle/>
          <a:p>
            <a:pPr marL="0" indent="0">
              <a:lnSpc>
                <a:spcPct val="130000"/>
              </a:lnSpc>
              <a:buNone/>
            </a:pPr>
            <a:r>
              <a:rPr lang="en-US" sz="1400" dirty="0">
                <a:solidFill>
                  <a:srgbClr val="C7CCD1"/>
                </a:solidFill>
                <a:latin typeface="Arial" panose="020B0604020202020204" pitchFamily="34" charset="0"/>
                <a:ea typeface="Calibri" pitchFamily="34" charset="-122"/>
                <a:cs typeface="Arial" panose="020B0604020202020204" pitchFamily="34" charset="0"/>
              </a:rPr>
              <a:t>Đầy đủ danh mục sản phẩm — bao gồm cả combo nhỏ, giá phổ thông</a:t>
            </a:r>
            <a:endParaRPr lang="en-US" sz="1400" dirty="0">
              <a:latin typeface="Arial" panose="020B0604020202020204" pitchFamily="34" charset="0"/>
              <a:cs typeface="Arial" panose="020B0604020202020204" pitchFamily="34" charset="0"/>
            </a:endParaRPr>
          </a:p>
        </p:txBody>
      </p:sp>
      <p:sp>
        <p:nvSpPr>
          <p:cNvPr id="30" name="Shape 28"/>
          <p:cNvSpPr/>
          <p:nvPr/>
        </p:nvSpPr>
        <p:spPr>
          <a:xfrm>
            <a:off x="640080" y="5486400"/>
            <a:ext cx="10908792" cy="685800"/>
          </a:xfrm>
          <a:prstGeom prst="roundRect">
            <a:avLst>
              <a:gd name="adj" fmla="val 12000"/>
            </a:avLst>
          </a:prstGeom>
          <a:solidFill>
            <a:srgbClr val="3A2E14"/>
          </a:solidFill>
          <a:ln w="12700">
            <a:solidFill>
              <a:srgbClr val="F5A623"/>
            </a:solidFill>
            <a:prstDash val="solid"/>
          </a:ln>
        </p:spPr>
      </p:sp>
      <p:sp>
        <p:nvSpPr>
          <p:cNvPr id="31" name="Text 29"/>
          <p:cNvSpPr txBox="1"/>
          <p:nvPr/>
        </p:nvSpPr>
        <p:spPr>
          <a:xfrm>
            <a:off x="960120" y="5486400"/>
            <a:ext cx="10268712" cy="685800"/>
          </a:xfrm>
          <a:prstGeom prst="rect">
            <a:avLst/>
          </a:prstGeom>
          <a:noFill/>
          <a:ln/>
        </p:spPr>
        <p:txBody>
          <a:bodyPr wrap="square" lIns="0" tIns="0" rIns="0" bIns="0" rtlCol="0" anchor="ctr"/>
          <a:lstStyle/>
          <a:p>
            <a:pPr marL="0" indent="0" algn="l">
              <a:buNone/>
            </a:pPr>
            <a:r>
              <a:rPr lang="en-US" sz="1450" i="1" dirty="0">
                <a:solidFill>
                  <a:srgbClr val="FFE8C2"/>
                </a:solidFill>
                <a:latin typeface="Arial" panose="020B0604020202020204" pitchFamily="34" charset="0"/>
                <a:ea typeface="Arial" pitchFamily="34" charset="-122"/>
                <a:cs typeface="Arial" panose="020B0604020202020204" pitchFamily="34" charset="0"/>
              </a:rPr>
              <a:t>Doanh thu bị mất không phải vì khách không có nhu cầu — mà vì Lobby không có công cụ để phục vụ nhu cầu đó ngay tại chỗ.</a:t>
            </a:r>
            <a:endParaRPr lang="en-US" sz="1450" dirty="0">
              <a:latin typeface="Arial" panose="020B0604020202020204" pitchFamily="34" charset="0"/>
              <a:cs typeface="Arial" panose="020B0604020202020204" pitchFamily="34" charset="0"/>
            </a:endParaRPr>
          </a:p>
        </p:txBody>
      </p:sp>
      <p:sp>
        <p:nvSpPr>
          <p:cNvPr id="32" name="Shape 30"/>
          <p:cNvSpPr/>
          <p:nvPr/>
        </p:nvSpPr>
        <p:spPr>
          <a:xfrm>
            <a:off x="640080" y="6382512"/>
            <a:ext cx="10908792" cy="0"/>
          </a:xfrm>
          <a:prstGeom prst="line">
            <a:avLst/>
          </a:prstGeom>
          <a:noFill/>
          <a:ln w="9525">
            <a:solidFill>
              <a:srgbClr val="262B33"/>
            </a:solidFill>
            <a:prstDash val="solid"/>
          </a:ln>
        </p:spPr>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BREAK 01 — SELL</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2E3796-0101-8552-96D3-7DFAAF77A78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6297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274320" y="347472"/>
            <a:ext cx="8229600" cy="292608"/>
          </a:xfrm>
          <a:prstGeom prst="rect">
            <a:avLst/>
          </a:prstGeom>
          <a:noFill/>
          <a:ln/>
        </p:spPr>
        <p:txBody>
          <a:bodyPr wrap="square" lIns="0" tIns="0" rIns="0" bIns="0" rtlCol="0" anchor="ctr"/>
          <a:lstStyle/>
          <a:p>
            <a:pPr marL="0" indent="0">
              <a:buNone/>
            </a:pPr>
            <a:r>
              <a:rPr lang="en-US" sz="2800" b="1" kern="0" spc="220" dirty="0">
                <a:solidFill>
                  <a:srgbClr val="34D399"/>
                </a:solidFill>
                <a:latin typeface="Arial" panose="020B0604020202020204" pitchFamily="34" charset="0"/>
                <a:ea typeface="Arial" pitchFamily="34" charset="-122"/>
                <a:cs typeface="Arial" panose="020B0604020202020204" pitchFamily="34" charset="0"/>
              </a:rPr>
              <a:t>SOLUTION 01 — SELL</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40080" y="804314"/>
            <a:ext cx="10881360" cy="960120"/>
          </a:xfrm>
          <a:prstGeom prst="rect">
            <a:avLst/>
          </a:prstGeom>
          <a:noFill/>
          <a:ln/>
        </p:spPr>
        <p:txBody>
          <a:bodyPr wrap="square" lIns="0" tIns="0" rIns="0" bIns="0" rtlCol="0" anchor="ctr"/>
          <a:lstStyle/>
          <a:p>
            <a:pPr marL="0" indent="0">
              <a:lnSpc>
                <a:spcPct val="104000"/>
              </a:lnSpc>
              <a:buNone/>
            </a:pPr>
            <a:r>
              <a:rPr lang="en-US" sz="2800" b="1" dirty="0">
                <a:solidFill>
                  <a:srgbClr val="FFFFFF"/>
                </a:solidFill>
                <a:latin typeface="Arial" panose="020B0604020202020204" pitchFamily="34" charset="0"/>
                <a:ea typeface="Arial" pitchFamily="34" charset="-122"/>
                <a:cs typeface="Arial" panose="020B0604020202020204" pitchFamily="34" charset="0"/>
              </a:rPr>
              <a:t>Đồng bộ POS &amp; Tablet Lobby — có kiểm soát</a:t>
            </a:r>
            <a:endParaRPr lang="en-US" sz="2800" dirty="0">
              <a:latin typeface="Arial" panose="020B0604020202020204" pitchFamily="34" charset="0"/>
              <a:cs typeface="Arial" panose="020B0604020202020204" pitchFamily="34" charset="0"/>
            </a:endParaRPr>
          </a:p>
        </p:txBody>
      </p:sp>
      <p:sp>
        <p:nvSpPr>
          <p:cNvPr id="5" name="Shape 3"/>
          <p:cNvSpPr/>
          <p:nvPr/>
        </p:nvSpPr>
        <p:spPr>
          <a:xfrm>
            <a:off x="1203808" y="1965960"/>
            <a:ext cx="2834640" cy="1097280"/>
          </a:xfrm>
          <a:prstGeom prst="roundRect">
            <a:avLst>
              <a:gd name="adj" fmla="val 6667"/>
            </a:avLst>
          </a:prstGeom>
          <a:solidFill>
            <a:srgbClr val="15181D"/>
          </a:solidFill>
          <a:ln w="12700">
            <a:solidFill>
              <a:srgbClr val="262B33"/>
            </a:solidFill>
            <a:prstDash val="solid"/>
          </a:ln>
        </p:spPr>
      </p:sp>
      <p:sp>
        <p:nvSpPr>
          <p:cNvPr id="6" name="Text 4"/>
          <p:cNvSpPr txBox="1"/>
          <p:nvPr/>
        </p:nvSpPr>
        <p:spPr>
          <a:xfrm>
            <a:off x="1276960" y="2021899"/>
            <a:ext cx="268833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FFFFFF"/>
                </a:solidFill>
                <a:latin typeface="Arial" panose="020B0604020202020204" pitchFamily="34" charset="0"/>
                <a:ea typeface="Arial" pitchFamily="34" charset="-122"/>
                <a:cs typeface="Arial" panose="020B0604020202020204" pitchFamily="34" charset="0"/>
              </a:rPr>
              <a:t>POS CATALOG</a:t>
            </a:r>
            <a:endParaRPr lang="en-US" sz="1300" dirty="0">
              <a:latin typeface="Arial" panose="020B0604020202020204" pitchFamily="34" charset="0"/>
              <a:cs typeface="Arial" panose="020B0604020202020204" pitchFamily="34" charset="0"/>
            </a:endParaRPr>
          </a:p>
        </p:txBody>
      </p:sp>
      <p:sp>
        <p:nvSpPr>
          <p:cNvPr id="7" name="Text 5"/>
          <p:cNvSpPr txBox="1"/>
          <p:nvPr/>
        </p:nvSpPr>
        <p:spPr>
          <a:xfrm>
            <a:off x="1276960" y="2647960"/>
            <a:ext cx="2688336" cy="409651"/>
          </a:xfrm>
          <a:prstGeom prst="rect">
            <a:avLst/>
          </a:prstGeom>
          <a:noFill/>
          <a:ln/>
        </p:spPr>
        <p:txBody>
          <a:bodyPr wrap="square" lIns="0" tIns="0" rIns="0" bIns="0" rtlCol="0" anchor="t"/>
          <a:lstStyle/>
          <a:p>
            <a:pPr marL="0" indent="0" algn="ctr">
              <a:lnSpc>
                <a:spcPct val="100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Toàn bộ danh mục tại CO</a:t>
            </a:r>
            <a:endParaRPr lang="en-US" sz="1200" dirty="0">
              <a:latin typeface="Arial" panose="020B0604020202020204" pitchFamily="34" charset="0"/>
              <a:cs typeface="Arial" panose="020B0604020202020204" pitchFamily="34" charset="0"/>
            </a:endParaRPr>
          </a:p>
        </p:txBody>
      </p:sp>
      <p:sp>
        <p:nvSpPr>
          <p:cNvPr id="8" name="Shape 6"/>
          <p:cNvSpPr/>
          <p:nvPr/>
        </p:nvSpPr>
        <p:spPr>
          <a:xfrm rot="5400000">
            <a:off x="4171036" y="2419502"/>
            <a:ext cx="237744" cy="190195"/>
          </a:xfrm>
          <a:prstGeom prst="triangle">
            <a:avLst/>
          </a:prstGeom>
          <a:solidFill>
            <a:srgbClr val="F5A623"/>
          </a:solidFill>
          <a:ln/>
        </p:spPr>
      </p:sp>
      <p:sp>
        <p:nvSpPr>
          <p:cNvPr id="9" name="Shape 7"/>
          <p:cNvSpPr/>
          <p:nvPr/>
        </p:nvSpPr>
        <p:spPr>
          <a:xfrm>
            <a:off x="4541368" y="1965960"/>
            <a:ext cx="3108960" cy="1097280"/>
          </a:xfrm>
          <a:prstGeom prst="roundRect">
            <a:avLst>
              <a:gd name="adj" fmla="val 6667"/>
            </a:avLst>
          </a:prstGeom>
          <a:solidFill>
            <a:srgbClr val="3A2E14"/>
          </a:solidFill>
          <a:ln w="12700">
            <a:solidFill>
              <a:srgbClr val="F5A623"/>
            </a:solidFill>
            <a:prstDash val="solid"/>
          </a:ln>
        </p:spPr>
      </p:sp>
      <p:sp>
        <p:nvSpPr>
          <p:cNvPr id="10" name="Text 8"/>
          <p:cNvSpPr txBox="1"/>
          <p:nvPr/>
        </p:nvSpPr>
        <p:spPr>
          <a:xfrm>
            <a:off x="4614520" y="2020824"/>
            <a:ext cx="296265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FFE8C2"/>
                </a:solidFill>
                <a:latin typeface="Arial" panose="020B0604020202020204" pitchFamily="34" charset="0"/>
                <a:ea typeface="Arial" pitchFamily="34" charset="-122"/>
                <a:cs typeface="Arial" panose="020B0604020202020204" pitchFamily="34" charset="0"/>
              </a:rPr>
              <a:t>MANAGEMENT SELECTION</a:t>
            </a:r>
            <a:endParaRPr lang="en-US" sz="1300" dirty="0">
              <a:latin typeface="Arial" panose="020B0604020202020204" pitchFamily="34" charset="0"/>
              <a:cs typeface="Arial" panose="020B0604020202020204" pitchFamily="34" charset="0"/>
            </a:endParaRPr>
          </a:p>
        </p:txBody>
      </p:sp>
      <p:sp>
        <p:nvSpPr>
          <p:cNvPr id="11" name="Text 9"/>
          <p:cNvSpPr txBox="1"/>
          <p:nvPr/>
        </p:nvSpPr>
        <p:spPr>
          <a:xfrm>
            <a:off x="4614520" y="2617013"/>
            <a:ext cx="2962656" cy="409651"/>
          </a:xfrm>
          <a:prstGeom prst="rect">
            <a:avLst/>
          </a:prstGeom>
          <a:noFill/>
          <a:ln/>
        </p:spPr>
        <p:txBody>
          <a:bodyPr wrap="square" lIns="0" tIns="0" rIns="0" bIns="0" rtlCol="0" anchor="t"/>
          <a:lstStyle/>
          <a:p>
            <a:pPr marL="0" indent="0" algn="ctr">
              <a:lnSpc>
                <a:spcPct val="100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Quản lý chọn lọc sản phẩm phù hợp</a:t>
            </a:r>
            <a:endParaRPr lang="en-US" sz="1200" dirty="0">
              <a:latin typeface="Arial" panose="020B0604020202020204" pitchFamily="34" charset="0"/>
              <a:cs typeface="Arial" panose="020B0604020202020204" pitchFamily="34" charset="0"/>
            </a:endParaRPr>
          </a:p>
        </p:txBody>
      </p:sp>
      <p:sp>
        <p:nvSpPr>
          <p:cNvPr id="12" name="Shape 10"/>
          <p:cNvSpPr/>
          <p:nvPr/>
        </p:nvSpPr>
        <p:spPr>
          <a:xfrm rot="5400000">
            <a:off x="7782916" y="2419502"/>
            <a:ext cx="237744" cy="190195"/>
          </a:xfrm>
          <a:prstGeom prst="triangle">
            <a:avLst/>
          </a:prstGeom>
          <a:solidFill>
            <a:srgbClr val="F5A623"/>
          </a:solidFill>
          <a:ln/>
        </p:spPr>
      </p:sp>
      <p:sp>
        <p:nvSpPr>
          <p:cNvPr id="13" name="Shape 11"/>
          <p:cNvSpPr/>
          <p:nvPr/>
        </p:nvSpPr>
        <p:spPr>
          <a:xfrm>
            <a:off x="8153248" y="1965960"/>
            <a:ext cx="2834640" cy="1097280"/>
          </a:xfrm>
          <a:prstGeom prst="roundRect">
            <a:avLst>
              <a:gd name="adj" fmla="val 6667"/>
            </a:avLst>
          </a:prstGeom>
          <a:solidFill>
            <a:srgbClr val="0F2A22"/>
          </a:solidFill>
          <a:ln w="12700">
            <a:solidFill>
              <a:srgbClr val="34D399"/>
            </a:solidFill>
            <a:prstDash val="solid"/>
          </a:ln>
        </p:spPr>
      </p:sp>
      <p:sp>
        <p:nvSpPr>
          <p:cNvPr id="14" name="Text 12"/>
          <p:cNvSpPr txBox="1"/>
          <p:nvPr/>
        </p:nvSpPr>
        <p:spPr>
          <a:xfrm>
            <a:off x="8226400" y="2020824"/>
            <a:ext cx="2688336" cy="559613"/>
          </a:xfrm>
          <a:prstGeom prst="rect">
            <a:avLst/>
          </a:prstGeom>
          <a:noFill/>
          <a:ln/>
        </p:spPr>
        <p:txBody>
          <a:bodyPr wrap="square" lIns="0" tIns="0" rIns="0" bIns="0" rtlCol="0" anchor="b"/>
          <a:lstStyle/>
          <a:p>
            <a:pPr marL="0" indent="0" algn="ctr">
              <a:lnSpc>
                <a:spcPct val="102000"/>
              </a:lnSpc>
              <a:buNone/>
            </a:pPr>
            <a:r>
              <a:rPr lang="en-US" sz="1300" b="1" dirty="0">
                <a:solidFill>
                  <a:srgbClr val="CFF7E6"/>
                </a:solidFill>
                <a:latin typeface="Arial" panose="020B0604020202020204" pitchFamily="34" charset="0"/>
                <a:ea typeface="Arial" pitchFamily="34" charset="-122"/>
                <a:cs typeface="Arial" panose="020B0604020202020204" pitchFamily="34" charset="0"/>
              </a:rPr>
              <a:t>LOBBY TABLET</a:t>
            </a:r>
            <a:endParaRPr lang="en-US" sz="1300" dirty="0">
              <a:latin typeface="Arial" panose="020B0604020202020204" pitchFamily="34" charset="0"/>
              <a:cs typeface="Arial" panose="020B0604020202020204" pitchFamily="34" charset="0"/>
            </a:endParaRPr>
          </a:p>
        </p:txBody>
      </p:sp>
      <p:sp>
        <p:nvSpPr>
          <p:cNvPr id="15" name="Text 13"/>
          <p:cNvSpPr txBox="1"/>
          <p:nvPr/>
        </p:nvSpPr>
        <p:spPr>
          <a:xfrm>
            <a:off x="8226400" y="2617013"/>
            <a:ext cx="2688336" cy="409651"/>
          </a:xfrm>
          <a:prstGeom prst="rect">
            <a:avLst/>
          </a:prstGeom>
          <a:noFill/>
          <a:ln/>
        </p:spPr>
        <p:txBody>
          <a:bodyPr wrap="square" lIns="0" tIns="0" rIns="0" bIns="0" rtlCol="0" anchor="t"/>
          <a:lstStyle/>
          <a:p>
            <a:pPr marL="0" indent="0" algn="ctr">
              <a:lnSpc>
                <a:spcPct val="100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Danh mục mở rộng, có kiểm soát</a:t>
            </a:r>
            <a:endParaRPr lang="en-US" sz="1200" dirty="0">
              <a:latin typeface="Arial" panose="020B0604020202020204" pitchFamily="34" charset="0"/>
              <a:cs typeface="Arial" panose="020B0604020202020204" pitchFamily="34" charset="0"/>
            </a:endParaRPr>
          </a:p>
        </p:txBody>
      </p:sp>
      <p:sp>
        <p:nvSpPr>
          <p:cNvPr id="16" name="Text 14"/>
          <p:cNvSpPr txBox="1"/>
          <p:nvPr/>
        </p:nvSpPr>
        <p:spPr>
          <a:xfrm>
            <a:off x="640080" y="3246120"/>
            <a:ext cx="5486400" cy="320040"/>
          </a:xfrm>
          <a:prstGeom prst="rect">
            <a:avLst/>
          </a:prstGeom>
          <a:noFill/>
          <a:ln/>
        </p:spPr>
        <p:txBody>
          <a:bodyPr wrap="square" lIns="0" tIns="0" rIns="0" bIns="0" rtlCol="0" anchor="ctr"/>
          <a:lstStyle/>
          <a:p>
            <a:pPr marL="0" indent="0">
              <a:buNone/>
            </a:pPr>
            <a:r>
              <a:rPr lang="en-US" sz="1150" b="1" kern="0" spc="150" dirty="0">
                <a:solidFill>
                  <a:srgbClr val="82888F"/>
                </a:solidFill>
                <a:latin typeface="Arial" panose="020B0604020202020204" pitchFamily="34" charset="0"/>
                <a:ea typeface="Arial" pitchFamily="34" charset="-122"/>
                <a:cs typeface="Arial" panose="020B0604020202020204" pitchFamily="34" charset="0"/>
              </a:rPr>
              <a:t>TIÊU CHÍ LỰA CHỌN SẢN PHẨM</a:t>
            </a:r>
            <a:endParaRPr lang="en-US" sz="1150" dirty="0">
              <a:latin typeface="Arial" panose="020B0604020202020204" pitchFamily="34" charset="0"/>
              <a:cs typeface="Arial" panose="020B0604020202020204" pitchFamily="34" charset="0"/>
            </a:endParaRPr>
          </a:p>
        </p:txBody>
      </p:sp>
      <p:sp>
        <p:nvSpPr>
          <p:cNvPr id="17" name="Shape 15"/>
          <p:cNvSpPr/>
          <p:nvPr/>
        </p:nvSpPr>
        <p:spPr>
          <a:xfrm>
            <a:off x="640080" y="3611880"/>
            <a:ext cx="3429000" cy="502920"/>
          </a:xfrm>
          <a:prstGeom prst="roundRect">
            <a:avLst>
              <a:gd name="adj" fmla="val 50000"/>
            </a:avLst>
          </a:prstGeom>
          <a:solidFill>
            <a:srgbClr val="1B1F26"/>
          </a:solidFill>
          <a:ln w="12700">
            <a:solidFill>
              <a:srgbClr val="262B33"/>
            </a:solidFill>
            <a:prstDash val="solid"/>
          </a:ln>
        </p:spPr>
      </p:sp>
      <p:sp>
        <p:nvSpPr>
          <p:cNvPr id="18" name="Text 16"/>
          <p:cNvSpPr txBox="1"/>
          <p:nvPr/>
        </p:nvSpPr>
        <p:spPr>
          <a:xfrm>
            <a:off x="685800" y="3611880"/>
            <a:ext cx="3337560" cy="502920"/>
          </a:xfrm>
          <a:prstGeom prst="rect">
            <a:avLst/>
          </a:prstGeom>
          <a:noFill/>
          <a:ln/>
        </p:spPr>
        <p:txBody>
          <a:bodyPr wrap="square" lIns="0" tIns="0" rIns="0" bIns="0" rtlCol="0" anchor="ctr"/>
          <a:lstStyle/>
          <a:p>
            <a:pPr marL="0" indent="0" algn="ctr">
              <a:buNone/>
            </a:pPr>
            <a:r>
              <a:rPr lang="en-US" sz="1200" b="1" dirty="0">
                <a:solidFill>
                  <a:srgbClr val="C7CCD1"/>
                </a:solidFill>
                <a:latin typeface="Arial" panose="020B0604020202020204" pitchFamily="34" charset="0"/>
                <a:ea typeface="Calibri" pitchFamily="34" charset="-122"/>
                <a:cs typeface="Arial" panose="020B0604020202020204" pitchFamily="34" charset="0"/>
              </a:rPr>
              <a:t>Phù hợp khả năng phục vụ tại Lobby</a:t>
            </a:r>
            <a:endParaRPr lang="en-US" sz="1200" dirty="0">
              <a:latin typeface="Arial" panose="020B0604020202020204" pitchFamily="34" charset="0"/>
              <a:cs typeface="Arial" panose="020B0604020202020204" pitchFamily="34" charset="0"/>
            </a:endParaRPr>
          </a:p>
        </p:txBody>
      </p:sp>
      <p:sp>
        <p:nvSpPr>
          <p:cNvPr id="19" name="Shape 17"/>
          <p:cNvSpPr/>
          <p:nvPr/>
        </p:nvSpPr>
        <p:spPr>
          <a:xfrm>
            <a:off x="4297680" y="3611880"/>
            <a:ext cx="2606040" cy="502920"/>
          </a:xfrm>
          <a:prstGeom prst="roundRect">
            <a:avLst>
              <a:gd name="adj" fmla="val 50000"/>
            </a:avLst>
          </a:prstGeom>
          <a:solidFill>
            <a:srgbClr val="1B1F26"/>
          </a:solidFill>
          <a:ln w="12700">
            <a:solidFill>
              <a:srgbClr val="262B33"/>
            </a:solidFill>
            <a:prstDash val="solid"/>
          </a:ln>
        </p:spPr>
      </p:sp>
      <p:sp>
        <p:nvSpPr>
          <p:cNvPr id="20" name="Text 18"/>
          <p:cNvSpPr txBox="1"/>
          <p:nvPr/>
        </p:nvSpPr>
        <p:spPr>
          <a:xfrm>
            <a:off x="4343400" y="3611880"/>
            <a:ext cx="2514600" cy="502920"/>
          </a:xfrm>
          <a:prstGeom prst="rect">
            <a:avLst/>
          </a:prstGeom>
          <a:noFill/>
          <a:ln/>
        </p:spPr>
        <p:txBody>
          <a:bodyPr wrap="square" lIns="0" tIns="0" rIns="0" bIns="0" rtlCol="0" anchor="ctr"/>
          <a:lstStyle/>
          <a:p>
            <a:pPr marL="0" indent="0" algn="ctr">
              <a:buNone/>
            </a:pPr>
            <a:r>
              <a:rPr lang="en-US" sz="1200" b="1" dirty="0">
                <a:solidFill>
                  <a:srgbClr val="C7CCD1"/>
                </a:solidFill>
                <a:latin typeface="Arial" panose="020B0604020202020204" pitchFamily="34" charset="0"/>
                <a:ea typeface="Calibri" pitchFamily="34" charset="-122"/>
                <a:cs typeface="Arial" panose="020B0604020202020204" pitchFamily="34" charset="0"/>
              </a:rPr>
              <a:t>Sản phẩm có nhu cầu cao</a:t>
            </a:r>
            <a:endParaRPr lang="en-US" sz="1200" dirty="0">
              <a:latin typeface="Arial" panose="020B0604020202020204" pitchFamily="34" charset="0"/>
              <a:cs typeface="Arial" panose="020B0604020202020204" pitchFamily="34" charset="0"/>
            </a:endParaRPr>
          </a:p>
        </p:txBody>
      </p:sp>
      <p:sp>
        <p:nvSpPr>
          <p:cNvPr id="21" name="Shape 19"/>
          <p:cNvSpPr/>
          <p:nvPr/>
        </p:nvSpPr>
        <p:spPr>
          <a:xfrm>
            <a:off x="7132320" y="3611880"/>
            <a:ext cx="3291840" cy="502920"/>
          </a:xfrm>
          <a:prstGeom prst="roundRect">
            <a:avLst>
              <a:gd name="adj" fmla="val 50000"/>
            </a:avLst>
          </a:prstGeom>
          <a:solidFill>
            <a:srgbClr val="1B1F26"/>
          </a:solidFill>
          <a:ln w="12700">
            <a:solidFill>
              <a:srgbClr val="262B33"/>
            </a:solidFill>
            <a:prstDash val="solid"/>
          </a:ln>
        </p:spPr>
      </p:sp>
      <p:sp>
        <p:nvSpPr>
          <p:cNvPr id="22" name="Text 20"/>
          <p:cNvSpPr txBox="1"/>
          <p:nvPr/>
        </p:nvSpPr>
        <p:spPr>
          <a:xfrm>
            <a:off x="7178040" y="3611880"/>
            <a:ext cx="3200400" cy="502920"/>
          </a:xfrm>
          <a:prstGeom prst="rect">
            <a:avLst/>
          </a:prstGeom>
          <a:noFill/>
          <a:ln/>
        </p:spPr>
        <p:txBody>
          <a:bodyPr wrap="square" lIns="0" tIns="0" rIns="0" bIns="0" rtlCol="0" anchor="ctr"/>
          <a:lstStyle/>
          <a:p>
            <a:pPr marL="0" indent="0" algn="ctr">
              <a:buNone/>
            </a:pPr>
            <a:r>
              <a:rPr lang="en-US" sz="1200" b="1" dirty="0">
                <a:solidFill>
                  <a:srgbClr val="C7CCD1"/>
                </a:solidFill>
                <a:latin typeface="Arial" panose="020B0604020202020204" pitchFamily="34" charset="0"/>
                <a:ea typeface="Calibri" pitchFamily="34" charset="-122"/>
                <a:cs typeface="Arial" panose="020B0604020202020204" pitchFamily="34" charset="0"/>
              </a:rPr>
              <a:t>Không yêu cầu chế biến phức tạp</a:t>
            </a:r>
            <a:endParaRPr lang="en-US" sz="1200" dirty="0">
              <a:latin typeface="Arial" panose="020B0604020202020204" pitchFamily="34" charset="0"/>
              <a:cs typeface="Arial" panose="020B0604020202020204" pitchFamily="34" charset="0"/>
            </a:endParaRPr>
          </a:p>
        </p:txBody>
      </p:sp>
      <p:sp>
        <p:nvSpPr>
          <p:cNvPr id="23" name="Text 21"/>
          <p:cNvSpPr txBox="1"/>
          <p:nvPr/>
        </p:nvSpPr>
        <p:spPr>
          <a:xfrm>
            <a:off x="640080" y="4434840"/>
            <a:ext cx="5486400" cy="320040"/>
          </a:xfrm>
          <a:prstGeom prst="rect">
            <a:avLst/>
          </a:prstGeom>
          <a:noFill/>
          <a:ln/>
        </p:spPr>
        <p:txBody>
          <a:bodyPr wrap="square" lIns="0" tIns="0" rIns="0" bIns="0" rtlCol="0" anchor="ctr"/>
          <a:lstStyle/>
          <a:p>
            <a:pPr marL="0" indent="0">
              <a:buNone/>
            </a:pPr>
            <a:r>
              <a:rPr lang="en-US" sz="1150" b="1" kern="0" spc="150" dirty="0">
                <a:solidFill>
                  <a:srgbClr val="82888F"/>
                </a:solidFill>
                <a:latin typeface="Arial" panose="020B0604020202020204" pitchFamily="34" charset="0"/>
                <a:ea typeface="Arial" pitchFamily="34" charset="-122"/>
                <a:cs typeface="Arial" panose="020B0604020202020204" pitchFamily="34" charset="0"/>
              </a:rPr>
              <a:t>LỢI ÍCH</a:t>
            </a:r>
            <a:endParaRPr lang="en-US" sz="1150" dirty="0">
              <a:latin typeface="Arial" panose="020B0604020202020204" pitchFamily="34" charset="0"/>
              <a:cs typeface="Arial" panose="020B0604020202020204" pitchFamily="34" charset="0"/>
            </a:endParaRPr>
          </a:p>
        </p:txBody>
      </p:sp>
      <p:sp>
        <p:nvSpPr>
          <p:cNvPr id="24" name="Shape 22"/>
          <p:cNvSpPr/>
          <p:nvPr/>
        </p:nvSpPr>
        <p:spPr>
          <a:xfrm>
            <a:off x="640080" y="4800600"/>
            <a:ext cx="3429000" cy="1234440"/>
          </a:xfrm>
          <a:prstGeom prst="roundRect">
            <a:avLst>
              <a:gd name="adj" fmla="val 7407"/>
            </a:avLst>
          </a:prstGeom>
          <a:solidFill>
            <a:srgbClr val="0F2A22"/>
          </a:solidFill>
          <a:ln w="12700">
            <a:solidFill>
              <a:srgbClr val="34D399"/>
            </a:solidFill>
            <a:prstDash val="solid"/>
          </a:ln>
        </p:spPr>
      </p:sp>
      <p:sp>
        <p:nvSpPr>
          <p:cNvPr id="25" name="Text 23"/>
          <p:cNvSpPr txBox="1"/>
          <p:nvPr/>
        </p:nvSpPr>
        <p:spPr>
          <a:xfrm>
            <a:off x="86868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CFF7E6"/>
                </a:solidFill>
                <a:latin typeface="Arial" panose="020B0604020202020204" pitchFamily="34" charset="0"/>
                <a:ea typeface="Arial" pitchFamily="34" charset="-122"/>
                <a:cs typeface="Arial" panose="020B0604020202020204" pitchFamily="34" charset="0"/>
              </a:rPr>
              <a:t>Nhiều “vũ khí” bán hàng hơn</a:t>
            </a:r>
            <a:endParaRPr lang="en-US" sz="1350" dirty="0">
              <a:latin typeface="Arial" panose="020B0604020202020204" pitchFamily="34" charset="0"/>
              <a:cs typeface="Arial" panose="020B0604020202020204" pitchFamily="34" charset="0"/>
            </a:endParaRPr>
          </a:p>
        </p:txBody>
      </p:sp>
      <p:sp>
        <p:nvSpPr>
          <p:cNvPr id="26" name="Text 24"/>
          <p:cNvSpPr txBox="1"/>
          <p:nvPr/>
        </p:nvSpPr>
        <p:spPr>
          <a:xfrm>
            <a:off x="86868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Tăng khả năng chốt đơn tại chỗ</a:t>
            </a:r>
            <a:endParaRPr lang="en-US" sz="1200" dirty="0">
              <a:latin typeface="Arial" panose="020B0604020202020204" pitchFamily="34" charset="0"/>
              <a:cs typeface="Arial" panose="020B0604020202020204" pitchFamily="34" charset="0"/>
            </a:endParaRPr>
          </a:p>
        </p:txBody>
      </p:sp>
      <p:sp>
        <p:nvSpPr>
          <p:cNvPr id="27" name="Shape 25"/>
          <p:cNvSpPr/>
          <p:nvPr/>
        </p:nvSpPr>
        <p:spPr>
          <a:xfrm>
            <a:off x="4389120" y="4800600"/>
            <a:ext cx="3429000" cy="1234440"/>
          </a:xfrm>
          <a:prstGeom prst="roundRect">
            <a:avLst>
              <a:gd name="adj" fmla="val 7407"/>
            </a:avLst>
          </a:prstGeom>
          <a:solidFill>
            <a:srgbClr val="0F2A22"/>
          </a:solidFill>
          <a:ln w="12700">
            <a:solidFill>
              <a:srgbClr val="34D399"/>
            </a:solidFill>
            <a:prstDash val="solid"/>
          </a:ln>
        </p:spPr>
      </p:sp>
      <p:sp>
        <p:nvSpPr>
          <p:cNvPr id="28" name="Text 26"/>
          <p:cNvSpPr txBox="1"/>
          <p:nvPr/>
        </p:nvSpPr>
        <p:spPr>
          <a:xfrm>
            <a:off x="461772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CFF7E6"/>
                </a:solidFill>
                <a:latin typeface="Arial" panose="020B0604020202020204" pitchFamily="34" charset="0"/>
                <a:ea typeface="Arial" pitchFamily="34" charset="-122"/>
                <a:cs typeface="Arial" panose="020B0604020202020204" pitchFamily="34" charset="0"/>
              </a:rPr>
              <a:t>Dễ đạt target hơn</a:t>
            </a:r>
            <a:endParaRPr lang="en-US" sz="1350" dirty="0">
              <a:latin typeface="Arial" panose="020B0604020202020204" pitchFamily="34" charset="0"/>
              <a:cs typeface="Arial" panose="020B0604020202020204" pitchFamily="34" charset="0"/>
            </a:endParaRPr>
          </a:p>
        </p:txBody>
      </p:sp>
      <p:sp>
        <p:nvSpPr>
          <p:cNvPr id="29" name="Text 27"/>
          <p:cNvSpPr txBox="1"/>
          <p:nvPr/>
        </p:nvSpPr>
        <p:spPr>
          <a:xfrm>
            <a:off x="461772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Lobby tăng sức cạnh tranh với CO</a:t>
            </a:r>
            <a:endParaRPr lang="en-US" sz="1200" dirty="0">
              <a:latin typeface="Arial" panose="020B0604020202020204" pitchFamily="34" charset="0"/>
              <a:cs typeface="Arial" panose="020B0604020202020204" pitchFamily="34" charset="0"/>
            </a:endParaRPr>
          </a:p>
        </p:txBody>
      </p:sp>
      <p:sp>
        <p:nvSpPr>
          <p:cNvPr id="30" name="Shape 28"/>
          <p:cNvSpPr/>
          <p:nvPr/>
        </p:nvSpPr>
        <p:spPr>
          <a:xfrm>
            <a:off x="8138160" y="4800600"/>
            <a:ext cx="3429000" cy="1234440"/>
          </a:xfrm>
          <a:prstGeom prst="roundRect">
            <a:avLst>
              <a:gd name="adj" fmla="val 7407"/>
            </a:avLst>
          </a:prstGeom>
          <a:solidFill>
            <a:srgbClr val="0F2A22"/>
          </a:solidFill>
          <a:ln w="12700">
            <a:solidFill>
              <a:srgbClr val="34D399"/>
            </a:solidFill>
            <a:prstDash val="solid"/>
          </a:ln>
        </p:spPr>
      </p:sp>
      <p:sp>
        <p:nvSpPr>
          <p:cNvPr id="31" name="Text 29"/>
          <p:cNvSpPr txBox="1"/>
          <p:nvPr/>
        </p:nvSpPr>
        <p:spPr>
          <a:xfrm>
            <a:off x="8366760" y="4937760"/>
            <a:ext cx="2971800" cy="502920"/>
          </a:xfrm>
          <a:prstGeom prst="rect">
            <a:avLst/>
          </a:prstGeom>
          <a:noFill/>
          <a:ln/>
        </p:spPr>
        <p:txBody>
          <a:bodyPr wrap="square" lIns="0" tIns="0" rIns="0" bIns="0" rtlCol="0" anchor="ctr"/>
          <a:lstStyle/>
          <a:p>
            <a:pPr marL="0" indent="0">
              <a:lnSpc>
                <a:spcPct val="105000"/>
              </a:lnSpc>
              <a:buNone/>
            </a:pPr>
            <a:r>
              <a:rPr lang="en-US" sz="1350" b="1" dirty="0">
                <a:solidFill>
                  <a:srgbClr val="CFF7E6"/>
                </a:solidFill>
                <a:latin typeface="Arial" panose="020B0604020202020204" pitchFamily="34" charset="0"/>
                <a:ea typeface="Arial" pitchFamily="34" charset="-122"/>
                <a:cs typeface="Arial" panose="020B0604020202020204" pitchFamily="34" charset="0"/>
              </a:rPr>
              <a:t>Giảm xung đột KPI</a:t>
            </a:r>
            <a:endParaRPr lang="en-US" sz="1350" dirty="0">
              <a:latin typeface="Arial" panose="020B0604020202020204" pitchFamily="34" charset="0"/>
              <a:cs typeface="Arial" panose="020B0604020202020204" pitchFamily="34" charset="0"/>
            </a:endParaRPr>
          </a:p>
        </p:txBody>
      </p:sp>
      <p:sp>
        <p:nvSpPr>
          <p:cNvPr id="32" name="Text 30"/>
          <p:cNvSpPr txBox="1"/>
          <p:nvPr/>
        </p:nvSpPr>
        <p:spPr>
          <a:xfrm>
            <a:off x="8366760" y="5486400"/>
            <a:ext cx="2971800" cy="45720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Giữa Lobby và Concession</a:t>
            </a:r>
            <a:endParaRPr lang="en-US" sz="1200" dirty="0">
              <a:latin typeface="Arial" panose="020B0604020202020204" pitchFamily="34" charset="0"/>
              <a:cs typeface="Arial" panose="020B0604020202020204" pitchFamily="34" charset="0"/>
            </a:endParaRPr>
          </a:p>
        </p:txBody>
      </p:sp>
      <p:sp>
        <p:nvSpPr>
          <p:cNvPr id="33" name="Shape 31"/>
          <p:cNvSpPr/>
          <p:nvPr/>
        </p:nvSpPr>
        <p:spPr>
          <a:xfrm>
            <a:off x="640080" y="6382512"/>
            <a:ext cx="10908792" cy="0"/>
          </a:xfrm>
          <a:prstGeom prst="line">
            <a:avLst/>
          </a:prstGeom>
          <a:noFill/>
          <a:ln w="9525">
            <a:solidFill>
              <a:srgbClr val="262B33"/>
            </a:solidFill>
            <a:prstDash val="solid"/>
          </a:ln>
        </p:spPr>
      </p:sp>
      <p:sp>
        <p:nvSpPr>
          <p:cNvPr id="34" name="Text 32"/>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SOLUTION 01 — SELL</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120244" y="385841"/>
            <a:ext cx="8229600" cy="292608"/>
          </a:xfrm>
          <a:prstGeom prst="rect">
            <a:avLst/>
          </a:prstGeom>
          <a:noFill/>
          <a:ln/>
        </p:spPr>
        <p:txBody>
          <a:bodyPr wrap="square" lIns="0" tIns="0" rIns="0" bIns="0" rtlCol="0" anchor="ctr"/>
          <a:lstStyle/>
          <a:p>
            <a:pPr marL="0" indent="0">
              <a:buNone/>
            </a:pPr>
            <a:r>
              <a:rPr lang="en-US" sz="2800" b="1" kern="0" spc="220" dirty="0">
                <a:solidFill>
                  <a:srgbClr val="E5555C"/>
                </a:solidFill>
                <a:latin typeface="Arial" panose="020B0604020202020204" pitchFamily="34" charset="0"/>
                <a:ea typeface="Arial" pitchFamily="34" charset="-122"/>
                <a:cs typeface="Arial" panose="020B0604020202020204" pitchFamily="34" charset="0"/>
              </a:rPr>
              <a:t>BREAK 02 — OPERATE</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2600" b="1" dirty="0">
                <a:solidFill>
                  <a:srgbClr val="FFFFFF"/>
                </a:solidFill>
                <a:latin typeface="Arial" panose="020B0604020202020204" pitchFamily="34" charset="0"/>
                <a:ea typeface="Arial" pitchFamily="34" charset="-122"/>
                <a:cs typeface="Arial" panose="020B0604020202020204" pitchFamily="34" charset="0"/>
              </a:rPr>
              <a:t>Một giao dịch thành công vẫn chưa thực sự “xong”.</a:t>
            </a:r>
            <a:endParaRPr lang="en-US" sz="2600" dirty="0">
              <a:latin typeface="Arial" panose="020B0604020202020204" pitchFamily="34" charset="0"/>
              <a:cs typeface="Arial" panose="020B0604020202020204" pitchFamily="34" charset="0"/>
            </a:endParaRPr>
          </a:p>
        </p:txBody>
      </p:sp>
      <p:sp>
        <p:nvSpPr>
          <p:cNvPr id="5" name="Shape 3"/>
          <p:cNvSpPr/>
          <p:nvPr/>
        </p:nvSpPr>
        <p:spPr>
          <a:xfrm>
            <a:off x="540868" y="2286000"/>
            <a:ext cx="1508760" cy="868680"/>
          </a:xfrm>
          <a:prstGeom prst="roundRect">
            <a:avLst>
              <a:gd name="adj" fmla="val 8421"/>
            </a:avLst>
          </a:prstGeom>
          <a:solidFill>
            <a:srgbClr val="15181D"/>
          </a:solidFill>
          <a:ln w="12700">
            <a:solidFill>
              <a:srgbClr val="262B33"/>
            </a:solidFill>
            <a:prstDash val="solid"/>
          </a:ln>
        </p:spPr>
      </p:sp>
      <p:sp>
        <p:nvSpPr>
          <p:cNvPr id="6" name="Text 4"/>
          <p:cNvSpPr txBox="1"/>
          <p:nvPr/>
        </p:nvSpPr>
        <p:spPr>
          <a:xfrm>
            <a:off x="614020" y="2340864"/>
            <a:ext cx="13624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CHỌN</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SẢN PHẨM</a:t>
            </a:r>
            <a:endParaRPr lang="en-US" sz="1050" dirty="0">
              <a:latin typeface="Arial" panose="020B0604020202020204" pitchFamily="34" charset="0"/>
              <a:cs typeface="Arial" panose="020B0604020202020204" pitchFamily="34" charset="0"/>
            </a:endParaRPr>
          </a:p>
        </p:txBody>
      </p:sp>
      <p:sp>
        <p:nvSpPr>
          <p:cNvPr id="7" name="Shape 5"/>
          <p:cNvSpPr/>
          <p:nvPr/>
        </p:nvSpPr>
        <p:spPr>
          <a:xfrm rot="5400000">
            <a:off x="2095348" y="2654503"/>
            <a:ext cx="164592" cy="131674"/>
          </a:xfrm>
          <a:prstGeom prst="triangle">
            <a:avLst/>
          </a:prstGeom>
          <a:solidFill>
            <a:srgbClr val="F5A623"/>
          </a:solidFill>
          <a:ln/>
        </p:spPr>
      </p:sp>
      <p:sp>
        <p:nvSpPr>
          <p:cNvPr id="8" name="Shape 6"/>
          <p:cNvSpPr/>
          <p:nvPr/>
        </p:nvSpPr>
        <p:spPr>
          <a:xfrm>
            <a:off x="2305660" y="2286000"/>
            <a:ext cx="1600200" cy="868680"/>
          </a:xfrm>
          <a:prstGeom prst="roundRect">
            <a:avLst>
              <a:gd name="adj" fmla="val 8421"/>
            </a:avLst>
          </a:prstGeom>
          <a:solidFill>
            <a:srgbClr val="15181D"/>
          </a:solidFill>
          <a:ln w="12700">
            <a:solidFill>
              <a:srgbClr val="262B33"/>
            </a:solidFill>
            <a:prstDash val="solid"/>
          </a:ln>
        </p:spPr>
      </p:sp>
      <p:sp>
        <p:nvSpPr>
          <p:cNvPr id="9" name="Text 7"/>
          <p:cNvSpPr txBox="1"/>
          <p:nvPr/>
        </p:nvSpPr>
        <p:spPr>
          <a:xfrm>
            <a:off x="2378812" y="2340864"/>
            <a:ext cx="145389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TẠO ĐƠN</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TRÊN TABLET</a:t>
            </a:r>
            <a:endParaRPr lang="en-US" sz="1050" dirty="0">
              <a:latin typeface="Arial" panose="020B0604020202020204" pitchFamily="34" charset="0"/>
              <a:cs typeface="Arial" panose="020B0604020202020204" pitchFamily="34" charset="0"/>
            </a:endParaRPr>
          </a:p>
        </p:txBody>
      </p:sp>
      <p:sp>
        <p:nvSpPr>
          <p:cNvPr id="10" name="Shape 8"/>
          <p:cNvSpPr/>
          <p:nvPr/>
        </p:nvSpPr>
        <p:spPr>
          <a:xfrm rot="5400000">
            <a:off x="3951580" y="2654503"/>
            <a:ext cx="164592" cy="131674"/>
          </a:xfrm>
          <a:prstGeom prst="triangle">
            <a:avLst/>
          </a:prstGeom>
          <a:solidFill>
            <a:srgbClr val="F5A623"/>
          </a:solidFill>
          <a:ln/>
        </p:spPr>
      </p:sp>
      <p:sp>
        <p:nvSpPr>
          <p:cNvPr id="11" name="Shape 9"/>
          <p:cNvSpPr/>
          <p:nvPr/>
        </p:nvSpPr>
        <p:spPr>
          <a:xfrm>
            <a:off x="4161892" y="2286000"/>
            <a:ext cx="1600200" cy="868680"/>
          </a:xfrm>
          <a:prstGeom prst="roundRect">
            <a:avLst>
              <a:gd name="adj" fmla="val 8421"/>
            </a:avLst>
          </a:prstGeom>
          <a:solidFill>
            <a:srgbClr val="15181D"/>
          </a:solidFill>
          <a:ln w="12700">
            <a:solidFill>
              <a:srgbClr val="262B33"/>
            </a:solidFill>
            <a:prstDash val="solid"/>
          </a:ln>
        </p:spPr>
      </p:sp>
      <p:sp>
        <p:nvSpPr>
          <p:cNvPr id="12" name="Text 10"/>
          <p:cNvSpPr txBox="1"/>
          <p:nvPr/>
        </p:nvSpPr>
        <p:spPr>
          <a:xfrm>
            <a:off x="4235044" y="2340864"/>
            <a:ext cx="145389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XÁC NHẬN</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 TÍCH ĐIỂM</a:t>
            </a:r>
            <a:endParaRPr lang="en-US" sz="1050" dirty="0">
              <a:latin typeface="Arial" panose="020B0604020202020204" pitchFamily="34" charset="0"/>
              <a:cs typeface="Arial" panose="020B0604020202020204" pitchFamily="34" charset="0"/>
            </a:endParaRPr>
          </a:p>
        </p:txBody>
      </p:sp>
      <p:sp>
        <p:nvSpPr>
          <p:cNvPr id="13" name="Shape 11"/>
          <p:cNvSpPr/>
          <p:nvPr/>
        </p:nvSpPr>
        <p:spPr>
          <a:xfrm rot="5400000">
            <a:off x="5807812" y="2654503"/>
            <a:ext cx="164592" cy="131674"/>
          </a:xfrm>
          <a:prstGeom prst="triangle">
            <a:avLst/>
          </a:prstGeom>
          <a:solidFill>
            <a:srgbClr val="F5A623"/>
          </a:solidFill>
          <a:ln/>
        </p:spPr>
      </p:sp>
      <p:sp>
        <p:nvSpPr>
          <p:cNvPr id="14" name="Shape 12"/>
          <p:cNvSpPr/>
          <p:nvPr/>
        </p:nvSpPr>
        <p:spPr>
          <a:xfrm>
            <a:off x="6018124" y="2286000"/>
            <a:ext cx="1417320" cy="868680"/>
          </a:xfrm>
          <a:prstGeom prst="roundRect">
            <a:avLst>
              <a:gd name="adj" fmla="val 8421"/>
            </a:avLst>
          </a:prstGeom>
          <a:solidFill>
            <a:srgbClr val="15181D"/>
          </a:solidFill>
          <a:ln w="12700">
            <a:solidFill>
              <a:srgbClr val="262B33"/>
            </a:solidFill>
            <a:prstDash val="solid"/>
          </a:ln>
        </p:spPr>
      </p:sp>
      <p:sp>
        <p:nvSpPr>
          <p:cNvPr id="15" name="Text 13"/>
          <p:cNvSpPr txBox="1"/>
          <p:nvPr/>
        </p:nvSpPr>
        <p:spPr>
          <a:xfrm>
            <a:off x="6091276" y="2340864"/>
            <a:ext cx="127101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THANH</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TOÁN</a:t>
            </a:r>
            <a:endParaRPr lang="en-US" sz="1050" dirty="0">
              <a:latin typeface="Arial" panose="020B0604020202020204" pitchFamily="34" charset="0"/>
              <a:cs typeface="Arial" panose="020B0604020202020204" pitchFamily="34" charset="0"/>
            </a:endParaRPr>
          </a:p>
        </p:txBody>
      </p:sp>
      <p:sp>
        <p:nvSpPr>
          <p:cNvPr id="16" name="Shape 14"/>
          <p:cNvSpPr/>
          <p:nvPr/>
        </p:nvSpPr>
        <p:spPr>
          <a:xfrm rot="5400000">
            <a:off x="7481164" y="2654503"/>
            <a:ext cx="164592" cy="131674"/>
          </a:xfrm>
          <a:prstGeom prst="triangle">
            <a:avLst/>
          </a:prstGeom>
          <a:solidFill>
            <a:srgbClr val="F5A623"/>
          </a:solidFill>
          <a:ln/>
        </p:spPr>
      </p:sp>
      <p:sp>
        <p:nvSpPr>
          <p:cNvPr id="17" name="Shape 15"/>
          <p:cNvSpPr/>
          <p:nvPr/>
        </p:nvSpPr>
        <p:spPr>
          <a:xfrm>
            <a:off x="7691476" y="2286000"/>
            <a:ext cx="1965960" cy="868680"/>
          </a:xfrm>
          <a:prstGeom prst="roundRect">
            <a:avLst>
              <a:gd name="adj" fmla="val 8421"/>
            </a:avLst>
          </a:prstGeom>
          <a:solidFill>
            <a:srgbClr val="15181D"/>
          </a:solidFill>
          <a:ln w="12700">
            <a:solidFill>
              <a:srgbClr val="262B33"/>
            </a:solidFill>
            <a:prstDash val="solid"/>
          </a:ln>
        </p:spPr>
      </p:sp>
      <p:sp>
        <p:nvSpPr>
          <p:cNvPr id="18" name="Text 16"/>
          <p:cNvSpPr txBox="1"/>
          <p:nvPr/>
        </p:nvSpPr>
        <p:spPr>
          <a:xfrm>
            <a:off x="7764628" y="2340864"/>
            <a:ext cx="18196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GIAO HÀNG</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FFFF"/>
                </a:solidFill>
                <a:latin typeface="Arial" panose="020B0604020202020204" pitchFamily="34" charset="0"/>
                <a:ea typeface="Arial" pitchFamily="34" charset="-122"/>
                <a:cs typeface="Arial" panose="020B0604020202020204" pitchFamily="34" charset="0"/>
              </a:rPr>
              <a:t>CHO KHÁCH</a:t>
            </a:r>
            <a:endParaRPr lang="en-US" sz="1050" dirty="0">
              <a:latin typeface="Arial" panose="020B0604020202020204" pitchFamily="34" charset="0"/>
              <a:cs typeface="Arial" panose="020B0604020202020204" pitchFamily="34" charset="0"/>
            </a:endParaRPr>
          </a:p>
        </p:txBody>
      </p:sp>
      <p:sp>
        <p:nvSpPr>
          <p:cNvPr id="19" name="Shape 17"/>
          <p:cNvSpPr/>
          <p:nvPr/>
        </p:nvSpPr>
        <p:spPr>
          <a:xfrm rot="5400000">
            <a:off x="9703156" y="2654503"/>
            <a:ext cx="164592" cy="131674"/>
          </a:xfrm>
          <a:prstGeom prst="triangle">
            <a:avLst/>
          </a:prstGeom>
          <a:solidFill>
            <a:srgbClr val="E5555C"/>
          </a:solidFill>
          <a:ln/>
        </p:spPr>
      </p:sp>
      <p:sp>
        <p:nvSpPr>
          <p:cNvPr id="20" name="Shape 18"/>
          <p:cNvSpPr/>
          <p:nvPr/>
        </p:nvSpPr>
        <p:spPr>
          <a:xfrm>
            <a:off x="9913468" y="2286000"/>
            <a:ext cx="1737360" cy="868680"/>
          </a:xfrm>
          <a:prstGeom prst="roundRect">
            <a:avLst>
              <a:gd name="adj" fmla="val 8421"/>
            </a:avLst>
          </a:prstGeom>
          <a:solidFill>
            <a:srgbClr val="371619"/>
          </a:solidFill>
          <a:ln w="12700">
            <a:solidFill>
              <a:srgbClr val="E5555C"/>
            </a:solidFill>
            <a:prstDash val="solid"/>
          </a:ln>
        </p:spPr>
      </p:sp>
      <p:sp>
        <p:nvSpPr>
          <p:cNvPr id="21" name="Text 19"/>
          <p:cNvSpPr txBox="1"/>
          <p:nvPr/>
        </p:nvSpPr>
        <p:spPr>
          <a:xfrm>
            <a:off x="9986620" y="2340864"/>
            <a:ext cx="1591056" cy="813816"/>
          </a:xfrm>
          <a:prstGeom prst="rect">
            <a:avLst/>
          </a:prstGeom>
          <a:noFill/>
          <a:ln/>
        </p:spPr>
        <p:txBody>
          <a:bodyPr wrap="square" lIns="0" tIns="0" rIns="0" bIns="0" rtlCol="0" anchor="ctr"/>
          <a:lstStyle/>
          <a:p>
            <a:pPr marL="0" indent="0" algn="ctr">
              <a:lnSpc>
                <a:spcPct val="102000"/>
              </a:lnSpc>
              <a:buNone/>
            </a:pPr>
            <a:r>
              <a:rPr lang="en-US" sz="1050" b="1" dirty="0">
                <a:solidFill>
                  <a:srgbClr val="FFD7D9"/>
                </a:solidFill>
                <a:latin typeface="Arial" panose="020B0604020202020204" pitchFamily="34" charset="0"/>
                <a:ea typeface="Arial" pitchFamily="34" charset="-122"/>
                <a:cs typeface="Arial" panose="020B0604020202020204" pitchFamily="34" charset="0"/>
              </a:rPr>
              <a:t>REDEEM</a:t>
            </a:r>
            <a:endParaRPr lang="en-US" sz="1050" dirty="0">
              <a:latin typeface="Arial" panose="020B0604020202020204" pitchFamily="34" charset="0"/>
              <a:cs typeface="Arial" panose="020B0604020202020204" pitchFamily="34" charset="0"/>
            </a:endParaRPr>
          </a:p>
          <a:p>
            <a:pPr marL="0" indent="0" algn="ctr">
              <a:lnSpc>
                <a:spcPct val="102000"/>
              </a:lnSpc>
              <a:buNone/>
            </a:pPr>
            <a:r>
              <a:rPr lang="en-US" sz="1050" b="1" dirty="0">
                <a:solidFill>
                  <a:srgbClr val="FFD7D9"/>
                </a:solidFill>
                <a:latin typeface="Arial" panose="020B0604020202020204" pitchFamily="34" charset="0"/>
                <a:ea typeface="Arial" pitchFamily="34" charset="-122"/>
                <a:cs typeface="Arial" panose="020B0604020202020204" pitchFamily="34" charset="0"/>
              </a:rPr>
              <a:t>THỦ CÔNG</a:t>
            </a:r>
            <a:endParaRPr lang="en-US" sz="1050" dirty="0">
              <a:latin typeface="Arial" panose="020B0604020202020204" pitchFamily="34" charset="0"/>
              <a:cs typeface="Arial" panose="020B0604020202020204" pitchFamily="34" charset="0"/>
            </a:endParaRPr>
          </a:p>
        </p:txBody>
      </p:sp>
      <p:sp>
        <p:nvSpPr>
          <p:cNvPr id="22" name="Shape 20"/>
          <p:cNvSpPr/>
          <p:nvPr/>
        </p:nvSpPr>
        <p:spPr>
          <a:xfrm rot="10800000">
            <a:off x="10708996" y="3227832"/>
            <a:ext cx="146304" cy="182880"/>
          </a:xfrm>
          <a:prstGeom prst="triangle">
            <a:avLst/>
          </a:prstGeom>
          <a:solidFill>
            <a:srgbClr val="E5555C"/>
          </a:solidFill>
          <a:ln/>
        </p:spPr>
      </p:sp>
      <p:sp>
        <p:nvSpPr>
          <p:cNvPr id="23" name="Shape 21"/>
          <p:cNvSpPr/>
          <p:nvPr/>
        </p:nvSpPr>
        <p:spPr>
          <a:xfrm>
            <a:off x="640080" y="3611880"/>
            <a:ext cx="10908792" cy="640080"/>
          </a:xfrm>
          <a:prstGeom prst="roundRect">
            <a:avLst>
              <a:gd name="adj" fmla="val 12857"/>
            </a:avLst>
          </a:prstGeom>
          <a:solidFill>
            <a:srgbClr val="371619"/>
          </a:solidFill>
          <a:ln w="12700">
            <a:solidFill>
              <a:srgbClr val="E5555C"/>
            </a:solidFill>
            <a:prstDash val="solid"/>
          </a:ln>
        </p:spPr>
      </p:sp>
      <p:sp>
        <p:nvSpPr>
          <p:cNvPr id="24" name="Text 22"/>
          <p:cNvSpPr txBox="1"/>
          <p:nvPr/>
        </p:nvSpPr>
        <p:spPr>
          <a:xfrm>
            <a:off x="960120" y="3611880"/>
            <a:ext cx="10268712" cy="640080"/>
          </a:xfrm>
          <a:prstGeom prst="rect">
            <a:avLst/>
          </a:prstGeom>
          <a:noFill/>
          <a:ln/>
        </p:spPr>
        <p:txBody>
          <a:bodyPr wrap="square" lIns="0" tIns="0" rIns="0" bIns="0" rtlCol="0" anchor="ctr"/>
          <a:lstStyle/>
          <a:p>
            <a:pPr marL="0" indent="0" algn="l">
              <a:buNone/>
            </a:pPr>
            <a:r>
              <a:rPr lang="en-US" sz="1500" b="1" dirty="0">
                <a:solidFill>
                  <a:srgbClr val="FFD7D9"/>
                </a:solidFill>
                <a:latin typeface="Arial" panose="020B0604020202020204" pitchFamily="34" charset="0"/>
                <a:ea typeface="Arial" pitchFamily="34" charset="-122"/>
                <a:cs typeface="Arial" panose="020B0604020202020204" pitchFamily="34" charset="0"/>
              </a:rPr>
              <a:t>⚠  MANUAL REDEEM  —  bước thao tác nhân viên dễ quên hoặc bỏ sót nhất trong toàn bộ quy trình.</a:t>
            </a:r>
            <a:endParaRPr lang="en-US" sz="1500" dirty="0">
              <a:latin typeface="Arial" panose="020B0604020202020204" pitchFamily="34" charset="0"/>
              <a:cs typeface="Arial" panose="020B0604020202020204" pitchFamily="34" charset="0"/>
            </a:endParaRPr>
          </a:p>
        </p:txBody>
      </p:sp>
      <p:sp>
        <p:nvSpPr>
          <p:cNvPr id="25" name="Shape 23"/>
          <p:cNvSpPr/>
          <p:nvPr/>
        </p:nvSpPr>
        <p:spPr>
          <a:xfrm>
            <a:off x="640080" y="4526280"/>
            <a:ext cx="2514600" cy="1417320"/>
          </a:xfrm>
          <a:prstGeom prst="roundRect">
            <a:avLst>
              <a:gd name="adj" fmla="val 6452"/>
            </a:avLst>
          </a:prstGeom>
          <a:solidFill>
            <a:srgbClr val="15181D"/>
          </a:solidFill>
          <a:ln w="12700">
            <a:solidFill>
              <a:srgbClr val="262B33"/>
            </a:solidFill>
            <a:prstDash val="solid"/>
          </a:ln>
        </p:spPr>
      </p:sp>
      <p:sp>
        <p:nvSpPr>
          <p:cNvPr id="26" name="Text 24"/>
          <p:cNvSpPr txBox="1"/>
          <p:nvPr/>
        </p:nvSpPr>
        <p:spPr>
          <a:xfrm>
            <a:off x="822960"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Arial" panose="020B0604020202020204" pitchFamily="34" charset="0"/>
                <a:ea typeface="Arial" pitchFamily="34" charset="-122"/>
                <a:cs typeface="Arial" panose="020B0604020202020204" pitchFamily="34" charset="0"/>
              </a:rPr>
              <a:t>Nhân viên có thể quên Redeem</a:t>
            </a:r>
            <a:endParaRPr lang="en-US" sz="1150" dirty="0">
              <a:latin typeface="Arial" panose="020B0604020202020204" pitchFamily="34" charset="0"/>
              <a:cs typeface="Arial" panose="020B0604020202020204" pitchFamily="34" charset="0"/>
            </a:endParaRPr>
          </a:p>
        </p:txBody>
      </p:sp>
      <p:sp>
        <p:nvSpPr>
          <p:cNvPr id="27" name="Text 25"/>
          <p:cNvSpPr txBox="1"/>
          <p:nvPr/>
        </p:nvSpPr>
        <p:spPr>
          <a:xfrm>
            <a:off x="822960"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82888F"/>
                </a:solidFill>
                <a:latin typeface="Arial" panose="020B0604020202020204" pitchFamily="34" charset="0"/>
                <a:ea typeface="Calibri" pitchFamily="34" charset="-122"/>
                <a:cs typeface="Arial" panose="020B0604020202020204" pitchFamily="34" charset="0"/>
              </a:rPr>
              <a:t>hoặc Redeem thiếu sản phẩm</a:t>
            </a:r>
            <a:endParaRPr lang="en-US" sz="950" dirty="0">
              <a:latin typeface="Arial" panose="020B0604020202020204" pitchFamily="34" charset="0"/>
              <a:cs typeface="Arial" panose="020B0604020202020204" pitchFamily="34" charset="0"/>
            </a:endParaRPr>
          </a:p>
        </p:txBody>
      </p:sp>
      <p:sp>
        <p:nvSpPr>
          <p:cNvPr id="28" name="Shape 26"/>
          <p:cNvSpPr/>
          <p:nvPr/>
        </p:nvSpPr>
        <p:spPr>
          <a:xfrm>
            <a:off x="3374136" y="4526280"/>
            <a:ext cx="2514600" cy="1417320"/>
          </a:xfrm>
          <a:prstGeom prst="roundRect">
            <a:avLst>
              <a:gd name="adj" fmla="val 6452"/>
            </a:avLst>
          </a:prstGeom>
          <a:solidFill>
            <a:srgbClr val="15181D"/>
          </a:solidFill>
          <a:ln w="12700">
            <a:solidFill>
              <a:srgbClr val="262B33"/>
            </a:solidFill>
            <a:prstDash val="solid"/>
          </a:ln>
        </p:spPr>
      </p:sp>
      <p:sp>
        <p:nvSpPr>
          <p:cNvPr id="29" name="Text 27"/>
          <p:cNvSpPr txBox="1"/>
          <p:nvPr/>
        </p:nvSpPr>
        <p:spPr>
          <a:xfrm>
            <a:off x="3557016"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Arial" panose="020B0604020202020204" pitchFamily="34" charset="0"/>
                <a:ea typeface="Arial" pitchFamily="34" charset="-122"/>
                <a:cs typeface="Arial" panose="020B0604020202020204" pitchFamily="34" charset="0"/>
              </a:rPr>
              <a:t>Tồn kho thực tế lệch hệ thống</a:t>
            </a:r>
            <a:endParaRPr lang="en-US" sz="1150" dirty="0">
              <a:latin typeface="Arial" panose="020B0604020202020204" pitchFamily="34" charset="0"/>
              <a:cs typeface="Arial" panose="020B0604020202020204" pitchFamily="34" charset="0"/>
            </a:endParaRPr>
          </a:p>
        </p:txBody>
      </p:sp>
      <p:sp>
        <p:nvSpPr>
          <p:cNvPr id="30" name="Text 28"/>
          <p:cNvSpPr txBox="1"/>
          <p:nvPr/>
        </p:nvSpPr>
        <p:spPr>
          <a:xfrm>
            <a:off x="3557016"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82888F"/>
                </a:solidFill>
                <a:latin typeface="Arial" panose="020B0604020202020204" pitchFamily="34" charset="0"/>
                <a:ea typeface="Calibri" pitchFamily="34" charset="-122"/>
                <a:cs typeface="Arial" panose="020B0604020202020204" pitchFamily="34" charset="0"/>
              </a:rPr>
              <a:t>phát hiện muộn, khó truy vết</a:t>
            </a:r>
            <a:endParaRPr lang="en-US" sz="950" dirty="0">
              <a:latin typeface="Arial" panose="020B0604020202020204" pitchFamily="34" charset="0"/>
              <a:cs typeface="Arial" panose="020B0604020202020204" pitchFamily="34" charset="0"/>
            </a:endParaRPr>
          </a:p>
        </p:txBody>
      </p:sp>
      <p:sp>
        <p:nvSpPr>
          <p:cNvPr id="31" name="Shape 29"/>
          <p:cNvSpPr/>
          <p:nvPr/>
        </p:nvSpPr>
        <p:spPr>
          <a:xfrm>
            <a:off x="6108192" y="4526280"/>
            <a:ext cx="2514600" cy="1417320"/>
          </a:xfrm>
          <a:prstGeom prst="roundRect">
            <a:avLst>
              <a:gd name="adj" fmla="val 6452"/>
            </a:avLst>
          </a:prstGeom>
          <a:solidFill>
            <a:srgbClr val="15181D"/>
          </a:solidFill>
          <a:ln w="12700">
            <a:solidFill>
              <a:srgbClr val="262B33"/>
            </a:solidFill>
            <a:prstDash val="solid"/>
          </a:ln>
        </p:spPr>
      </p:sp>
      <p:sp>
        <p:nvSpPr>
          <p:cNvPr id="32" name="Text 30"/>
          <p:cNvSpPr txBox="1"/>
          <p:nvPr/>
        </p:nvSpPr>
        <p:spPr>
          <a:xfrm>
            <a:off x="6291072"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Arial" panose="020B0604020202020204" pitchFamily="34" charset="0"/>
                <a:ea typeface="Arial" pitchFamily="34" charset="-122"/>
                <a:cs typeface="Arial" panose="020B0604020202020204" pitchFamily="34" charset="0"/>
              </a:rPr>
              <a:t>Cuối ca phải truy tìm nguyên nhân</a:t>
            </a:r>
            <a:endParaRPr lang="en-US" sz="1150" dirty="0">
              <a:latin typeface="Arial" panose="020B0604020202020204" pitchFamily="34" charset="0"/>
              <a:cs typeface="Arial" panose="020B0604020202020204" pitchFamily="34" charset="0"/>
            </a:endParaRPr>
          </a:p>
        </p:txBody>
      </p:sp>
      <p:sp>
        <p:nvSpPr>
          <p:cNvPr id="33" name="Text 31"/>
          <p:cNvSpPr txBox="1"/>
          <p:nvPr/>
        </p:nvSpPr>
        <p:spPr>
          <a:xfrm>
            <a:off x="6291072"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82888F"/>
                </a:solidFill>
                <a:latin typeface="Arial" panose="020B0604020202020204" pitchFamily="34" charset="0"/>
                <a:ea typeface="Calibri" pitchFamily="34" charset="-122"/>
                <a:cs typeface="Arial" panose="020B0604020202020204" pitchFamily="34" charset="0"/>
              </a:rPr>
              <a:t>tốn thời gian nhân viên &amp; quản lý</a:t>
            </a:r>
            <a:endParaRPr lang="en-US" sz="950" dirty="0">
              <a:latin typeface="Arial" panose="020B0604020202020204" pitchFamily="34" charset="0"/>
              <a:cs typeface="Arial" panose="020B0604020202020204" pitchFamily="34" charset="0"/>
            </a:endParaRPr>
          </a:p>
        </p:txBody>
      </p:sp>
      <p:sp>
        <p:nvSpPr>
          <p:cNvPr id="34" name="Shape 32"/>
          <p:cNvSpPr/>
          <p:nvPr/>
        </p:nvSpPr>
        <p:spPr>
          <a:xfrm>
            <a:off x="8842248" y="4526280"/>
            <a:ext cx="2514600" cy="1417320"/>
          </a:xfrm>
          <a:prstGeom prst="roundRect">
            <a:avLst>
              <a:gd name="adj" fmla="val 6452"/>
            </a:avLst>
          </a:prstGeom>
          <a:solidFill>
            <a:srgbClr val="15181D"/>
          </a:solidFill>
          <a:ln w="12700">
            <a:solidFill>
              <a:srgbClr val="262B33"/>
            </a:solidFill>
            <a:prstDash val="solid"/>
          </a:ln>
        </p:spPr>
      </p:sp>
      <p:sp>
        <p:nvSpPr>
          <p:cNvPr id="35" name="Text 33"/>
          <p:cNvSpPr txBox="1"/>
          <p:nvPr/>
        </p:nvSpPr>
        <p:spPr>
          <a:xfrm>
            <a:off x="9025128" y="4663440"/>
            <a:ext cx="2148840" cy="77724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Arial" panose="020B0604020202020204" pitchFamily="34" charset="0"/>
                <a:ea typeface="Arial" pitchFamily="34" charset="-122"/>
                <a:cs typeface="Arial" panose="020B0604020202020204" pitchFamily="34" charset="0"/>
              </a:rPr>
              <a:t>Tăng chi phí vận hành</a:t>
            </a:r>
            <a:endParaRPr lang="en-US" sz="1150" dirty="0">
              <a:latin typeface="Arial" panose="020B0604020202020204" pitchFamily="34" charset="0"/>
              <a:cs typeface="Arial" panose="020B0604020202020204" pitchFamily="34" charset="0"/>
            </a:endParaRPr>
          </a:p>
        </p:txBody>
      </p:sp>
      <p:sp>
        <p:nvSpPr>
          <p:cNvPr id="36" name="Text 34"/>
          <p:cNvSpPr txBox="1"/>
          <p:nvPr/>
        </p:nvSpPr>
        <p:spPr>
          <a:xfrm>
            <a:off x="9025128" y="5440680"/>
            <a:ext cx="2148840" cy="457200"/>
          </a:xfrm>
          <a:prstGeom prst="rect">
            <a:avLst/>
          </a:prstGeom>
          <a:noFill/>
          <a:ln/>
        </p:spPr>
        <p:txBody>
          <a:bodyPr wrap="square" lIns="0" tIns="0" rIns="0" bIns="0" rtlCol="0" anchor="ctr"/>
          <a:lstStyle/>
          <a:p>
            <a:pPr marL="0" indent="0">
              <a:lnSpc>
                <a:spcPct val="110000"/>
              </a:lnSpc>
              <a:buNone/>
            </a:pPr>
            <a:r>
              <a:rPr lang="en-US" sz="950" dirty="0">
                <a:solidFill>
                  <a:srgbClr val="82888F"/>
                </a:solidFill>
                <a:latin typeface="Arial" panose="020B0604020202020204" pitchFamily="34" charset="0"/>
                <a:ea typeface="Calibri" pitchFamily="34" charset="-122"/>
                <a:cs typeface="Arial" panose="020B0604020202020204" pitchFamily="34" charset="0"/>
              </a:rPr>
              <a:t>nhân viên ở lại kiểm hàng ngoài giờ</a:t>
            </a:r>
            <a:endParaRPr lang="en-US" sz="950" dirty="0">
              <a:latin typeface="Arial" panose="020B0604020202020204" pitchFamily="34" charset="0"/>
              <a:cs typeface="Arial" panose="020B0604020202020204" pitchFamily="34" charset="0"/>
            </a:endParaRPr>
          </a:p>
        </p:txBody>
      </p:sp>
      <p:sp>
        <p:nvSpPr>
          <p:cNvPr id="37" name="Shape 35"/>
          <p:cNvSpPr/>
          <p:nvPr/>
        </p:nvSpPr>
        <p:spPr>
          <a:xfrm>
            <a:off x="640080" y="6382512"/>
            <a:ext cx="10908792" cy="0"/>
          </a:xfrm>
          <a:prstGeom prst="line">
            <a:avLst/>
          </a:prstGeom>
          <a:noFill/>
          <a:ln w="9525">
            <a:solidFill>
              <a:srgbClr val="262B33"/>
            </a:solidFill>
            <a:prstDash val="solid"/>
          </a:ln>
        </p:spPr>
      </p:sp>
      <p:sp>
        <p:nvSpPr>
          <p:cNvPr id="38" name="Text 36"/>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BREAK 02 — OPERATE</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202298" y="438912"/>
            <a:ext cx="8229600" cy="292608"/>
          </a:xfrm>
          <a:prstGeom prst="rect">
            <a:avLst/>
          </a:prstGeom>
          <a:noFill/>
          <a:ln/>
        </p:spPr>
        <p:txBody>
          <a:bodyPr wrap="square" lIns="0" tIns="0" rIns="0" bIns="0" rtlCol="0" anchor="ctr"/>
          <a:lstStyle/>
          <a:p>
            <a:pPr marL="0" indent="0">
              <a:buNone/>
            </a:pPr>
            <a:r>
              <a:rPr lang="en-US" sz="2800" b="1" kern="0" spc="220" dirty="0">
                <a:solidFill>
                  <a:srgbClr val="34D399"/>
                </a:solidFill>
                <a:latin typeface="Arial" panose="020B0604020202020204" pitchFamily="34" charset="0"/>
                <a:ea typeface="Arial" pitchFamily="34" charset="-122"/>
                <a:cs typeface="Arial" panose="020B0604020202020204" pitchFamily="34" charset="0"/>
              </a:rPr>
              <a:t>SOLUTION 02 — AUTOMATE</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67512" y="894319"/>
            <a:ext cx="10881360" cy="960120"/>
          </a:xfrm>
          <a:prstGeom prst="rect">
            <a:avLst/>
          </a:prstGeom>
          <a:noFill/>
          <a:ln/>
        </p:spPr>
        <p:txBody>
          <a:bodyPr wrap="square" lIns="0" tIns="0" rIns="0" bIns="0" rtlCol="0" anchor="ctr"/>
          <a:lstStyle/>
          <a:p>
            <a:pPr marL="0" indent="0">
              <a:lnSpc>
                <a:spcPct val="104000"/>
              </a:lnSpc>
              <a:buNone/>
            </a:pPr>
            <a:r>
              <a:rPr lang="vi-VN" sz="2400" b="1" dirty="0">
                <a:solidFill>
                  <a:srgbClr val="FFFFFF"/>
                </a:solidFill>
                <a:latin typeface="Arial" panose="020B0604020202020204" pitchFamily="34" charset="0"/>
                <a:ea typeface="Arial" pitchFamily="34" charset="-122"/>
                <a:cs typeface="Arial" panose="020B0604020202020204" pitchFamily="34" charset="0"/>
              </a:rPr>
              <a:t>Thanh toán ở trạng thái thành công </a:t>
            </a:r>
            <a:r>
              <a:rPr lang="en-US" sz="2400" b="1" dirty="0">
                <a:solidFill>
                  <a:srgbClr val="FFFFFF"/>
                </a:solidFill>
                <a:latin typeface="Arial" panose="020B0604020202020204" pitchFamily="34" charset="0"/>
                <a:ea typeface="Arial" pitchFamily="34" charset="-122"/>
                <a:cs typeface="Arial" panose="020B0604020202020204" pitchFamily="34" charset="0"/>
              </a:rPr>
              <a:t>→  </a:t>
            </a:r>
            <a:r>
              <a:rPr lang="vi-VN" sz="2400" b="1" dirty="0">
                <a:solidFill>
                  <a:srgbClr val="FFFFFF"/>
                </a:solidFill>
                <a:latin typeface="Arial" panose="020B0604020202020204" pitchFamily="34" charset="0"/>
                <a:ea typeface="Arial" pitchFamily="34" charset="-122"/>
                <a:cs typeface="Arial" panose="020B0604020202020204" pitchFamily="34" charset="0"/>
              </a:rPr>
              <a:t>Tự động ghi nhận trừ hàng tồn kho</a:t>
            </a:r>
            <a:endParaRPr lang="en-US" sz="2400" dirty="0">
              <a:latin typeface="Arial" panose="020B0604020202020204" pitchFamily="34" charset="0"/>
              <a:cs typeface="Arial" panose="020B0604020202020204" pitchFamily="34" charset="0"/>
            </a:endParaRPr>
          </a:p>
        </p:txBody>
      </p:sp>
      <p:sp>
        <p:nvSpPr>
          <p:cNvPr id="5" name="Text 3"/>
          <p:cNvSpPr txBox="1"/>
          <p:nvPr/>
        </p:nvSpPr>
        <p:spPr>
          <a:xfrm>
            <a:off x="640080" y="1874520"/>
            <a:ext cx="1828800" cy="320040"/>
          </a:xfrm>
          <a:prstGeom prst="rect">
            <a:avLst/>
          </a:prstGeom>
          <a:noFill/>
          <a:ln/>
        </p:spPr>
        <p:txBody>
          <a:bodyPr wrap="square" lIns="0" tIns="0" rIns="0" bIns="0" rtlCol="0" anchor="ctr"/>
          <a:lstStyle/>
          <a:p>
            <a:pPr marL="0" indent="0">
              <a:buNone/>
            </a:pPr>
            <a:r>
              <a:rPr lang="en-US" sz="1300" b="1" kern="0" spc="150" dirty="0">
                <a:solidFill>
                  <a:srgbClr val="E5555C"/>
                </a:solidFill>
                <a:latin typeface="Arial" panose="020B0604020202020204" pitchFamily="34" charset="0"/>
                <a:ea typeface="Arial" pitchFamily="34" charset="-122"/>
                <a:cs typeface="Arial" panose="020B0604020202020204" pitchFamily="34" charset="0"/>
              </a:rPr>
              <a:t>BEFORE</a:t>
            </a:r>
            <a:endParaRPr lang="en-US" sz="1300" dirty="0">
              <a:latin typeface="Arial" panose="020B0604020202020204" pitchFamily="34" charset="0"/>
              <a:cs typeface="Arial" panose="020B0604020202020204" pitchFamily="34" charset="0"/>
            </a:endParaRPr>
          </a:p>
        </p:txBody>
      </p:sp>
      <p:sp>
        <p:nvSpPr>
          <p:cNvPr id="6" name="Shape 4"/>
          <p:cNvSpPr/>
          <p:nvPr/>
        </p:nvSpPr>
        <p:spPr>
          <a:xfrm>
            <a:off x="1478128" y="2240280"/>
            <a:ext cx="2011680" cy="777240"/>
          </a:xfrm>
          <a:prstGeom prst="roundRect">
            <a:avLst>
              <a:gd name="adj" fmla="val 9412"/>
            </a:avLst>
          </a:prstGeom>
          <a:solidFill>
            <a:srgbClr val="15181D"/>
          </a:solidFill>
          <a:ln w="12700">
            <a:solidFill>
              <a:srgbClr val="262B33"/>
            </a:solidFill>
            <a:prstDash val="solid"/>
          </a:ln>
        </p:spPr>
      </p:sp>
      <p:sp>
        <p:nvSpPr>
          <p:cNvPr id="7" name="Text 5"/>
          <p:cNvSpPr txBox="1"/>
          <p:nvPr/>
        </p:nvSpPr>
        <p:spPr>
          <a:xfrm>
            <a:off x="155128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Arial" panose="020B0604020202020204" pitchFamily="34" charset="0"/>
                <a:ea typeface="Arial" pitchFamily="34" charset="-122"/>
                <a:cs typeface="Arial" panose="020B0604020202020204" pitchFamily="34" charset="0"/>
              </a:rPr>
              <a:t>Thanh toán</a:t>
            </a:r>
            <a:endParaRPr lang="en-US" sz="1150" dirty="0">
              <a:latin typeface="Arial" panose="020B0604020202020204" pitchFamily="34" charset="0"/>
              <a:cs typeface="Arial" panose="020B0604020202020204" pitchFamily="34" charset="0"/>
            </a:endParaRPr>
          </a:p>
        </p:txBody>
      </p:sp>
      <p:sp>
        <p:nvSpPr>
          <p:cNvPr id="8" name="Shape 6"/>
          <p:cNvSpPr/>
          <p:nvPr/>
        </p:nvSpPr>
        <p:spPr>
          <a:xfrm rot="5400000">
            <a:off x="3535528" y="2555748"/>
            <a:ext cx="182880" cy="146304"/>
          </a:xfrm>
          <a:prstGeom prst="triangle">
            <a:avLst/>
          </a:prstGeom>
          <a:solidFill>
            <a:srgbClr val="E5555C"/>
          </a:solidFill>
          <a:ln/>
        </p:spPr>
      </p:sp>
      <p:sp>
        <p:nvSpPr>
          <p:cNvPr id="9" name="Shape 7"/>
          <p:cNvSpPr/>
          <p:nvPr/>
        </p:nvSpPr>
        <p:spPr>
          <a:xfrm>
            <a:off x="3764128" y="2240280"/>
            <a:ext cx="2011680" cy="777240"/>
          </a:xfrm>
          <a:prstGeom prst="roundRect">
            <a:avLst>
              <a:gd name="adj" fmla="val 9412"/>
            </a:avLst>
          </a:prstGeom>
          <a:solidFill>
            <a:srgbClr val="15181D"/>
          </a:solidFill>
          <a:ln w="12700">
            <a:solidFill>
              <a:srgbClr val="262B33"/>
            </a:solidFill>
            <a:prstDash val="solid"/>
          </a:ln>
        </p:spPr>
      </p:sp>
      <p:sp>
        <p:nvSpPr>
          <p:cNvPr id="10" name="Text 8"/>
          <p:cNvSpPr txBox="1"/>
          <p:nvPr/>
        </p:nvSpPr>
        <p:spPr>
          <a:xfrm>
            <a:off x="383728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Arial" panose="020B0604020202020204" pitchFamily="34" charset="0"/>
                <a:ea typeface="Arial" pitchFamily="34" charset="-122"/>
                <a:cs typeface="Arial" panose="020B0604020202020204" pitchFamily="34" charset="0"/>
              </a:rPr>
              <a:t>Giao hàng</a:t>
            </a:r>
            <a:endParaRPr lang="en-US" sz="1150" dirty="0">
              <a:latin typeface="Arial" panose="020B0604020202020204" pitchFamily="34" charset="0"/>
              <a:cs typeface="Arial" panose="020B0604020202020204" pitchFamily="34" charset="0"/>
            </a:endParaRPr>
          </a:p>
        </p:txBody>
      </p:sp>
      <p:sp>
        <p:nvSpPr>
          <p:cNvPr id="11" name="Shape 9"/>
          <p:cNvSpPr/>
          <p:nvPr/>
        </p:nvSpPr>
        <p:spPr>
          <a:xfrm rot="5400000">
            <a:off x="5821528" y="2555748"/>
            <a:ext cx="182880" cy="146304"/>
          </a:xfrm>
          <a:prstGeom prst="triangle">
            <a:avLst/>
          </a:prstGeom>
          <a:solidFill>
            <a:srgbClr val="E5555C"/>
          </a:solidFill>
          <a:ln/>
        </p:spPr>
      </p:sp>
      <p:sp>
        <p:nvSpPr>
          <p:cNvPr id="12" name="Shape 10"/>
          <p:cNvSpPr/>
          <p:nvPr/>
        </p:nvSpPr>
        <p:spPr>
          <a:xfrm>
            <a:off x="6050128" y="2240280"/>
            <a:ext cx="2377440" cy="777240"/>
          </a:xfrm>
          <a:prstGeom prst="roundRect">
            <a:avLst>
              <a:gd name="adj" fmla="val 9412"/>
            </a:avLst>
          </a:prstGeom>
          <a:solidFill>
            <a:srgbClr val="371619"/>
          </a:solidFill>
          <a:ln w="12700">
            <a:solidFill>
              <a:srgbClr val="E5555C"/>
            </a:solidFill>
            <a:prstDash val="solid"/>
          </a:ln>
        </p:spPr>
      </p:sp>
      <p:sp>
        <p:nvSpPr>
          <p:cNvPr id="13" name="Text 11"/>
          <p:cNvSpPr txBox="1"/>
          <p:nvPr/>
        </p:nvSpPr>
        <p:spPr>
          <a:xfrm>
            <a:off x="6123280" y="2295144"/>
            <a:ext cx="223113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D7D9"/>
                </a:solidFill>
                <a:latin typeface="Arial" panose="020B0604020202020204" pitchFamily="34" charset="0"/>
                <a:ea typeface="Arial" pitchFamily="34" charset="-122"/>
                <a:cs typeface="Arial" panose="020B0604020202020204" pitchFamily="34" charset="0"/>
              </a:rPr>
              <a:t>Redeem thủ công</a:t>
            </a:r>
            <a:endParaRPr lang="en-US" sz="1150" dirty="0">
              <a:latin typeface="Arial" panose="020B0604020202020204" pitchFamily="34" charset="0"/>
              <a:cs typeface="Arial" panose="020B0604020202020204" pitchFamily="34" charset="0"/>
            </a:endParaRPr>
          </a:p>
        </p:txBody>
      </p:sp>
      <p:sp>
        <p:nvSpPr>
          <p:cNvPr id="14" name="Shape 12"/>
          <p:cNvSpPr/>
          <p:nvPr/>
        </p:nvSpPr>
        <p:spPr>
          <a:xfrm rot="5400000">
            <a:off x="8473288" y="2555748"/>
            <a:ext cx="182880" cy="146304"/>
          </a:xfrm>
          <a:prstGeom prst="triangle">
            <a:avLst/>
          </a:prstGeom>
          <a:solidFill>
            <a:srgbClr val="E5555C"/>
          </a:solidFill>
          <a:ln/>
        </p:spPr>
      </p:sp>
      <p:sp>
        <p:nvSpPr>
          <p:cNvPr id="15" name="Shape 13"/>
          <p:cNvSpPr/>
          <p:nvPr/>
        </p:nvSpPr>
        <p:spPr>
          <a:xfrm>
            <a:off x="8701888" y="2240280"/>
            <a:ext cx="2011680" cy="777240"/>
          </a:xfrm>
          <a:prstGeom prst="roundRect">
            <a:avLst>
              <a:gd name="adj" fmla="val 9412"/>
            </a:avLst>
          </a:prstGeom>
          <a:solidFill>
            <a:srgbClr val="15181D"/>
          </a:solidFill>
          <a:ln w="12700">
            <a:solidFill>
              <a:srgbClr val="262B33"/>
            </a:solidFill>
            <a:prstDash val="solid"/>
          </a:ln>
        </p:spPr>
      </p:sp>
      <p:sp>
        <p:nvSpPr>
          <p:cNvPr id="16" name="Text 14"/>
          <p:cNvSpPr txBox="1"/>
          <p:nvPr/>
        </p:nvSpPr>
        <p:spPr>
          <a:xfrm>
            <a:off x="8775040" y="2295144"/>
            <a:ext cx="1865376" cy="722376"/>
          </a:xfrm>
          <a:prstGeom prst="rect">
            <a:avLst/>
          </a:prstGeom>
          <a:noFill/>
          <a:ln/>
        </p:spPr>
        <p:txBody>
          <a:bodyPr wrap="square" lIns="0" tIns="0" rIns="0" bIns="0" rtlCol="0" anchor="ctr"/>
          <a:lstStyle/>
          <a:p>
            <a:pPr marL="0" indent="0" algn="ctr">
              <a:lnSpc>
                <a:spcPct val="102000"/>
              </a:lnSpc>
              <a:buNone/>
            </a:pPr>
            <a:r>
              <a:rPr lang="vi-VN" sz="1150" b="1" dirty="0">
                <a:solidFill>
                  <a:srgbClr val="FFFFFF"/>
                </a:solidFill>
                <a:latin typeface="Arial" panose="020B0604020202020204" pitchFamily="34" charset="0"/>
                <a:cs typeface="Arial" panose="020B0604020202020204" pitchFamily="34" charset="0"/>
              </a:rPr>
              <a:t>Ghi nhận hàng tồn kho</a:t>
            </a:r>
            <a:endParaRPr lang="en-US" sz="1150" dirty="0">
              <a:latin typeface="Arial" panose="020B0604020202020204" pitchFamily="34" charset="0"/>
              <a:cs typeface="Arial" panose="020B0604020202020204" pitchFamily="34" charset="0"/>
            </a:endParaRPr>
          </a:p>
        </p:txBody>
      </p:sp>
      <p:sp>
        <p:nvSpPr>
          <p:cNvPr id="17" name="Text 15"/>
          <p:cNvSpPr txBox="1"/>
          <p:nvPr/>
        </p:nvSpPr>
        <p:spPr>
          <a:xfrm>
            <a:off x="640080" y="3429000"/>
            <a:ext cx="1828800" cy="320040"/>
          </a:xfrm>
          <a:prstGeom prst="rect">
            <a:avLst/>
          </a:prstGeom>
          <a:noFill/>
          <a:ln/>
        </p:spPr>
        <p:txBody>
          <a:bodyPr wrap="square" lIns="0" tIns="0" rIns="0" bIns="0" rtlCol="0" anchor="ctr"/>
          <a:lstStyle/>
          <a:p>
            <a:pPr marL="0" indent="0">
              <a:buNone/>
            </a:pPr>
            <a:r>
              <a:rPr lang="en-US" sz="1300" b="1" kern="0" spc="150" dirty="0">
                <a:solidFill>
                  <a:srgbClr val="34D399"/>
                </a:solidFill>
                <a:latin typeface="Arial" panose="020B0604020202020204" pitchFamily="34" charset="0"/>
                <a:ea typeface="Arial" pitchFamily="34" charset="-122"/>
                <a:cs typeface="Arial" panose="020B0604020202020204" pitchFamily="34" charset="0"/>
              </a:rPr>
              <a:t>AFTER</a:t>
            </a:r>
            <a:endParaRPr lang="en-US" sz="1300" dirty="0">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232E82A1-9508-5E65-85F7-650213D28322}"/>
              </a:ext>
            </a:extLst>
          </p:cNvPr>
          <p:cNvGrpSpPr/>
          <p:nvPr/>
        </p:nvGrpSpPr>
        <p:grpSpPr>
          <a:xfrm>
            <a:off x="914400" y="3835908"/>
            <a:ext cx="2651760" cy="777240"/>
            <a:chOff x="2118208" y="3794760"/>
            <a:chExt cx="2651760" cy="777240"/>
          </a:xfrm>
        </p:grpSpPr>
        <p:sp>
          <p:nvSpPr>
            <p:cNvPr id="18" name="Shape 16"/>
            <p:cNvSpPr/>
            <p:nvPr/>
          </p:nvSpPr>
          <p:spPr>
            <a:xfrm>
              <a:off x="2118208" y="3794760"/>
              <a:ext cx="2651760" cy="777240"/>
            </a:xfrm>
            <a:prstGeom prst="roundRect">
              <a:avLst>
                <a:gd name="adj" fmla="val 9412"/>
              </a:avLst>
            </a:prstGeom>
            <a:solidFill>
              <a:srgbClr val="15181D"/>
            </a:solidFill>
            <a:ln w="12700">
              <a:solidFill>
                <a:srgbClr val="262B33"/>
              </a:solidFill>
              <a:prstDash val="solid"/>
            </a:ln>
          </p:spPr>
        </p:sp>
        <p:sp>
          <p:nvSpPr>
            <p:cNvPr id="19" name="Text 17"/>
            <p:cNvSpPr txBox="1"/>
            <p:nvPr/>
          </p:nvSpPr>
          <p:spPr>
            <a:xfrm>
              <a:off x="2191360" y="3849624"/>
              <a:ext cx="250545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FFFFFF"/>
                  </a:solidFill>
                  <a:latin typeface="Arial" panose="020B0604020202020204" pitchFamily="34" charset="0"/>
                  <a:ea typeface="Arial" pitchFamily="34" charset="-122"/>
                  <a:cs typeface="Arial" panose="020B0604020202020204" pitchFamily="34" charset="0"/>
                </a:rPr>
                <a:t>Thanh toán thành công</a:t>
              </a:r>
              <a:endParaRPr lang="en-US" sz="1250" dirty="0">
                <a:latin typeface="Arial" panose="020B0604020202020204" pitchFamily="34" charset="0"/>
                <a:cs typeface="Arial" panose="020B0604020202020204" pitchFamily="34" charset="0"/>
              </a:endParaRPr>
            </a:p>
          </p:txBody>
        </p:sp>
      </p:grpSp>
      <p:sp>
        <p:nvSpPr>
          <p:cNvPr id="20" name="Shape 18"/>
          <p:cNvSpPr/>
          <p:nvPr/>
        </p:nvSpPr>
        <p:spPr>
          <a:xfrm rot="5400000">
            <a:off x="3611880" y="4151376"/>
            <a:ext cx="182880" cy="146304"/>
          </a:xfrm>
          <a:prstGeom prst="triangle">
            <a:avLst/>
          </a:prstGeom>
          <a:solidFill>
            <a:srgbClr val="34D399"/>
          </a:solidFill>
          <a:ln/>
        </p:spPr>
      </p:sp>
      <p:sp>
        <p:nvSpPr>
          <p:cNvPr id="21" name="Shape 19"/>
          <p:cNvSpPr/>
          <p:nvPr/>
        </p:nvSpPr>
        <p:spPr>
          <a:xfrm>
            <a:off x="3840480" y="3835908"/>
            <a:ext cx="2377440" cy="777240"/>
          </a:xfrm>
          <a:prstGeom prst="roundRect">
            <a:avLst>
              <a:gd name="adj" fmla="val 9412"/>
            </a:avLst>
          </a:prstGeom>
          <a:solidFill>
            <a:srgbClr val="0F2A22"/>
          </a:solidFill>
          <a:ln w="12700">
            <a:solidFill>
              <a:srgbClr val="34D399"/>
            </a:solidFill>
            <a:prstDash val="solid"/>
          </a:ln>
        </p:spPr>
      </p:sp>
      <p:sp>
        <p:nvSpPr>
          <p:cNvPr id="22" name="Text 20"/>
          <p:cNvSpPr txBox="1"/>
          <p:nvPr/>
        </p:nvSpPr>
        <p:spPr>
          <a:xfrm>
            <a:off x="3913632"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CFF7E6"/>
                </a:solidFill>
                <a:latin typeface="Arial" panose="020B0604020202020204" pitchFamily="34" charset="0"/>
                <a:ea typeface="Arial" pitchFamily="34" charset="-122"/>
                <a:cs typeface="Arial" panose="020B0604020202020204" pitchFamily="34" charset="0"/>
              </a:rPr>
              <a:t>Tự động hóa việc Redeem</a:t>
            </a:r>
            <a:endParaRPr lang="en-US" sz="1250" dirty="0">
              <a:latin typeface="Arial" panose="020B0604020202020204" pitchFamily="34" charset="0"/>
              <a:cs typeface="Arial" panose="020B0604020202020204" pitchFamily="34" charset="0"/>
            </a:endParaRPr>
          </a:p>
        </p:txBody>
      </p:sp>
      <p:sp>
        <p:nvSpPr>
          <p:cNvPr id="23" name="Shape 21"/>
          <p:cNvSpPr/>
          <p:nvPr/>
        </p:nvSpPr>
        <p:spPr>
          <a:xfrm rot="5400000">
            <a:off x="6263640" y="4151376"/>
            <a:ext cx="182880" cy="146304"/>
          </a:xfrm>
          <a:prstGeom prst="triangle">
            <a:avLst/>
          </a:prstGeom>
          <a:solidFill>
            <a:srgbClr val="34D399"/>
          </a:solidFill>
          <a:ln/>
        </p:spPr>
      </p:sp>
      <p:sp>
        <p:nvSpPr>
          <p:cNvPr id="24" name="Shape 22"/>
          <p:cNvSpPr/>
          <p:nvPr/>
        </p:nvSpPr>
        <p:spPr>
          <a:xfrm>
            <a:off x="6492240" y="3835908"/>
            <a:ext cx="2377440" cy="777240"/>
          </a:xfrm>
          <a:prstGeom prst="roundRect">
            <a:avLst>
              <a:gd name="adj" fmla="val 9412"/>
            </a:avLst>
          </a:prstGeom>
          <a:solidFill>
            <a:srgbClr val="0F2A22"/>
          </a:solidFill>
          <a:ln w="12700">
            <a:solidFill>
              <a:srgbClr val="34D399"/>
            </a:solidFill>
            <a:prstDash val="solid"/>
          </a:ln>
        </p:spPr>
      </p:sp>
      <p:sp>
        <p:nvSpPr>
          <p:cNvPr id="25" name="Text 23"/>
          <p:cNvSpPr txBox="1"/>
          <p:nvPr/>
        </p:nvSpPr>
        <p:spPr>
          <a:xfrm>
            <a:off x="6565392"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CFF7E6"/>
                </a:solidFill>
                <a:latin typeface="Arial" panose="020B0604020202020204" pitchFamily="34" charset="0"/>
                <a:ea typeface="Arial" pitchFamily="34" charset="-122"/>
                <a:cs typeface="Arial" panose="020B0604020202020204" pitchFamily="34" charset="0"/>
              </a:rPr>
              <a:t>Ghi nhận hàng tồn kho</a:t>
            </a:r>
            <a:endParaRPr lang="en-US" sz="1250" dirty="0">
              <a:latin typeface="Arial" panose="020B0604020202020204" pitchFamily="34" charset="0"/>
              <a:cs typeface="Arial" panose="020B0604020202020204" pitchFamily="34" charset="0"/>
            </a:endParaRPr>
          </a:p>
        </p:txBody>
      </p:sp>
      <p:sp>
        <p:nvSpPr>
          <p:cNvPr id="26" name="Shape 24"/>
          <p:cNvSpPr/>
          <p:nvPr/>
        </p:nvSpPr>
        <p:spPr>
          <a:xfrm>
            <a:off x="640080" y="4937760"/>
            <a:ext cx="10908792" cy="1234440"/>
          </a:xfrm>
          <a:prstGeom prst="roundRect">
            <a:avLst>
              <a:gd name="adj" fmla="val 7407"/>
            </a:avLst>
          </a:prstGeom>
          <a:solidFill>
            <a:srgbClr val="1B1F26"/>
          </a:solidFill>
          <a:ln w="12700">
            <a:solidFill>
              <a:srgbClr val="262B33"/>
            </a:solidFill>
            <a:prstDash val="solid"/>
          </a:ln>
        </p:spPr>
      </p:sp>
      <p:sp>
        <p:nvSpPr>
          <p:cNvPr id="27" name="Text 25"/>
          <p:cNvSpPr txBox="1"/>
          <p:nvPr/>
        </p:nvSpPr>
        <p:spPr>
          <a:xfrm>
            <a:off x="914400" y="5047488"/>
            <a:ext cx="9144000" cy="274320"/>
          </a:xfrm>
          <a:prstGeom prst="rect">
            <a:avLst/>
          </a:prstGeom>
          <a:noFill/>
          <a:ln/>
        </p:spPr>
        <p:txBody>
          <a:bodyPr wrap="square" lIns="0" tIns="0" rIns="0" bIns="0" rtlCol="0" anchor="ctr"/>
          <a:lstStyle/>
          <a:p>
            <a:pPr marL="0" indent="0">
              <a:buNone/>
            </a:pPr>
            <a:r>
              <a:rPr lang="en-US" sz="1050" b="1" kern="0" spc="150" dirty="0">
                <a:solidFill>
                  <a:srgbClr val="82888F"/>
                </a:solidFill>
                <a:latin typeface="Arial" panose="020B0604020202020204" pitchFamily="34" charset="0"/>
                <a:ea typeface="Arial" pitchFamily="34" charset="-122"/>
                <a:cs typeface="Arial" panose="020B0604020202020204" pitchFamily="34" charset="0"/>
              </a:rPr>
              <a:t>MỤC TIÊU DỰ ÁN — THỜI GIAN ĐỐI SOÁT CUỐI CA</a:t>
            </a:r>
            <a:endParaRPr lang="en-US" sz="1050" dirty="0">
              <a:latin typeface="Arial" panose="020B0604020202020204" pitchFamily="34" charset="0"/>
              <a:cs typeface="Arial" panose="020B0604020202020204" pitchFamily="34" charset="0"/>
            </a:endParaRPr>
          </a:p>
        </p:txBody>
      </p:sp>
      <p:sp>
        <p:nvSpPr>
          <p:cNvPr id="28" name="Text 26"/>
          <p:cNvSpPr txBox="1"/>
          <p:nvPr/>
        </p:nvSpPr>
        <p:spPr>
          <a:xfrm>
            <a:off x="914400" y="5303520"/>
            <a:ext cx="3291840" cy="777240"/>
          </a:xfrm>
          <a:prstGeom prst="rect">
            <a:avLst/>
          </a:prstGeom>
          <a:noFill/>
          <a:ln/>
        </p:spPr>
        <p:txBody>
          <a:bodyPr wrap="square" lIns="0" tIns="0" rIns="0" bIns="0" rtlCol="0" anchor="ctr"/>
          <a:lstStyle/>
          <a:p>
            <a:pPr marL="0" indent="0">
              <a:buNone/>
            </a:pPr>
            <a:r>
              <a:rPr lang="en-US" sz="4000" b="1" dirty="0">
                <a:solidFill>
                  <a:srgbClr val="E5555C"/>
                </a:solidFill>
                <a:latin typeface="Arial" panose="020B0604020202020204" pitchFamily="34" charset="0"/>
                <a:ea typeface="Arial" pitchFamily="34" charset="-122"/>
                <a:cs typeface="Arial" panose="020B0604020202020204" pitchFamily="34" charset="0"/>
              </a:rPr>
              <a:t>30–60 phút</a:t>
            </a:r>
            <a:endParaRPr lang="en-US" sz="4000" dirty="0">
              <a:latin typeface="Arial" panose="020B0604020202020204" pitchFamily="34" charset="0"/>
              <a:cs typeface="Arial" panose="020B0604020202020204" pitchFamily="34" charset="0"/>
            </a:endParaRPr>
          </a:p>
        </p:txBody>
      </p:sp>
      <p:sp>
        <p:nvSpPr>
          <p:cNvPr id="29" name="Shape 27"/>
          <p:cNvSpPr/>
          <p:nvPr/>
        </p:nvSpPr>
        <p:spPr>
          <a:xfrm rot="5400000">
            <a:off x="4379976" y="5570525"/>
            <a:ext cx="292608" cy="234086"/>
          </a:xfrm>
          <a:prstGeom prst="triangle">
            <a:avLst/>
          </a:prstGeom>
          <a:solidFill>
            <a:srgbClr val="F5A623"/>
          </a:solidFill>
          <a:ln/>
        </p:spPr>
      </p:sp>
      <p:sp>
        <p:nvSpPr>
          <p:cNvPr id="30" name="Text 28"/>
          <p:cNvSpPr txBox="1"/>
          <p:nvPr/>
        </p:nvSpPr>
        <p:spPr>
          <a:xfrm>
            <a:off x="4846320" y="5303520"/>
            <a:ext cx="3840480" cy="777240"/>
          </a:xfrm>
          <a:prstGeom prst="rect">
            <a:avLst/>
          </a:prstGeom>
          <a:noFill/>
          <a:ln/>
        </p:spPr>
        <p:txBody>
          <a:bodyPr wrap="square" lIns="0" tIns="0" rIns="0" bIns="0" rtlCol="0" anchor="ctr"/>
          <a:lstStyle/>
          <a:p>
            <a:pPr marL="0" indent="0">
              <a:buNone/>
            </a:pPr>
            <a:r>
              <a:rPr lang="en-US" sz="4000" b="1" dirty="0">
                <a:solidFill>
                  <a:srgbClr val="34D399"/>
                </a:solidFill>
                <a:latin typeface="Arial" panose="020B0604020202020204" pitchFamily="34" charset="0"/>
                <a:ea typeface="Arial" pitchFamily="34" charset="-122"/>
                <a:cs typeface="Arial" panose="020B0604020202020204" pitchFamily="34" charset="0"/>
              </a:rPr>
              <a:t>dưới 10 phút</a:t>
            </a:r>
            <a:endParaRPr lang="en-US" sz="4000" dirty="0">
              <a:latin typeface="Arial" panose="020B0604020202020204" pitchFamily="34" charset="0"/>
              <a:cs typeface="Arial" panose="020B0604020202020204" pitchFamily="34" charset="0"/>
            </a:endParaRPr>
          </a:p>
        </p:txBody>
      </p:sp>
      <p:sp>
        <p:nvSpPr>
          <p:cNvPr id="32" name="Shape 30"/>
          <p:cNvSpPr/>
          <p:nvPr/>
        </p:nvSpPr>
        <p:spPr>
          <a:xfrm>
            <a:off x="640080" y="6382512"/>
            <a:ext cx="10908792" cy="0"/>
          </a:xfrm>
          <a:prstGeom prst="line">
            <a:avLst/>
          </a:prstGeom>
          <a:noFill/>
          <a:ln w="9525">
            <a:solidFill>
              <a:srgbClr val="262B33"/>
            </a:solidFill>
            <a:prstDash val="solid"/>
          </a:ln>
        </p:spPr>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SOLUTION 02 — AUTOMATE</a:t>
            </a:r>
            <a:endParaRPr lang="en-US" sz="900" dirty="0">
              <a:latin typeface="Arial" panose="020B0604020202020204" pitchFamily="34" charset="0"/>
              <a:cs typeface="Arial" panose="020B0604020202020204" pitchFamily="34" charset="0"/>
            </a:endParaRPr>
          </a:p>
        </p:txBody>
      </p:sp>
      <p:sp>
        <p:nvSpPr>
          <p:cNvPr id="40" name="Shape 22">
            <a:extLst>
              <a:ext uri="{FF2B5EF4-FFF2-40B4-BE49-F238E27FC236}">
                <a16:creationId xmlns:a16="http://schemas.microsoft.com/office/drawing/2014/main" id="{3DE04BB7-65B2-BD7A-22F6-D6F291DAFDD1}"/>
              </a:ext>
            </a:extLst>
          </p:cNvPr>
          <p:cNvSpPr/>
          <p:nvPr/>
        </p:nvSpPr>
        <p:spPr>
          <a:xfrm>
            <a:off x="9145794" y="3835908"/>
            <a:ext cx="2377440" cy="777240"/>
          </a:xfrm>
          <a:prstGeom prst="roundRect">
            <a:avLst>
              <a:gd name="adj" fmla="val 9412"/>
            </a:avLst>
          </a:prstGeom>
          <a:solidFill>
            <a:srgbClr val="0F2A22"/>
          </a:solidFill>
          <a:ln w="12700">
            <a:solidFill>
              <a:srgbClr val="34D399"/>
            </a:solidFill>
            <a:prstDash val="solid"/>
          </a:ln>
        </p:spPr>
      </p:sp>
      <p:sp>
        <p:nvSpPr>
          <p:cNvPr id="41" name="Text 23">
            <a:extLst>
              <a:ext uri="{FF2B5EF4-FFF2-40B4-BE49-F238E27FC236}">
                <a16:creationId xmlns:a16="http://schemas.microsoft.com/office/drawing/2014/main" id="{4ED70C75-F015-F186-1C68-1AB43636C31D}"/>
              </a:ext>
            </a:extLst>
          </p:cNvPr>
          <p:cNvSpPr txBox="1"/>
          <p:nvPr/>
        </p:nvSpPr>
        <p:spPr>
          <a:xfrm>
            <a:off x="9218946" y="3890772"/>
            <a:ext cx="2231136" cy="722376"/>
          </a:xfrm>
          <a:prstGeom prst="rect">
            <a:avLst/>
          </a:prstGeom>
          <a:noFill/>
          <a:ln/>
        </p:spPr>
        <p:txBody>
          <a:bodyPr wrap="square" lIns="0" tIns="0" rIns="0" bIns="0" rtlCol="0" anchor="ctr"/>
          <a:lstStyle/>
          <a:p>
            <a:pPr marL="0" indent="0" algn="ctr">
              <a:lnSpc>
                <a:spcPct val="102000"/>
              </a:lnSpc>
              <a:buNone/>
            </a:pPr>
            <a:r>
              <a:rPr lang="vi-VN" sz="1250" b="1" dirty="0">
                <a:solidFill>
                  <a:srgbClr val="CFF7E6"/>
                </a:solidFill>
                <a:latin typeface="Arial" panose="020B0604020202020204" pitchFamily="34" charset="0"/>
                <a:ea typeface="Arial" pitchFamily="34" charset="-122"/>
                <a:cs typeface="Arial" panose="020B0604020202020204" pitchFamily="34" charset="0"/>
              </a:rPr>
              <a:t>Giao hàng</a:t>
            </a:r>
            <a:endParaRPr lang="en-US" sz="1250" dirty="0">
              <a:latin typeface="Arial" panose="020B0604020202020204" pitchFamily="34" charset="0"/>
              <a:cs typeface="Arial" panose="020B0604020202020204" pitchFamily="34" charset="0"/>
            </a:endParaRPr>
          </a:p>
        </p:txBody>
      </p:sp>
      <p:sp>
        <p:nvSpPr>
          <p:cNvPr id="42" name="Shape 21">
            <a:extLst>
              <a:ext uri="{FF2B5EF4-FFF2-40B4-BE49-F238E27FC236}">
                <a16:creationId xmlns:a16="http://schemas.microsoft.com/office/drawing/2014/main" id="{6011610D-33F0-1154-028D-FD3215767C95}"/>
              </a:ext>
            </a:extLst>
          </p:cNvPr>
          <p:cNvSpPr/>
          <p:nvPr/>
        </p:nvSpPr>
        <p:spPr>
          <a:xfrm rot="5400000">
            <a:off x="8915400" y="4174146"/>
            <a:ext cx="182880" cy="146304"/>
          </a:xfrm>
          <a:prstGeom prst="triangle">
            <a:avLst/>
          </a:prstGeom>
          <a:solidFill>
            <a:srgbClr val="34D39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342900" y="457200"/>
            <a:ext cx="8229600" cy="292608"/>
          </a:xfrm>
          <a:prstGeom prst="rect">
            <a:avLst/>
          </a:prstGeom>
          <a:noFill/>
          <a:ln/>
        </p:spPr>
        <p:txBody>
          <a:bodyPr wrap="square" lIns="0" tIns="0" rIns="0" bIns="0" rtlCol="0" anchor="ctr"/>
          <a:lstStyle/>
          <a:p>
            <a:pPr marL="0" indent="0">
              <a:buNone/>
            </a:pPr>
            <a:r>
              <a:rPr lang="en-US" sz="2800" b="1" kern="0" spc="220" dirty="0">
                <a:solidFill>
                  <a:srgbClr val="E5555C"/>
                </a:solidFill>
                <a:latin typeface="Arial" panose="020B0604020202020204" pitchFamily="34" charset="0"/>
                <a:ea typeface="Arial" pitchFamily="34" charset="-122"/>
                <a:cs typeface="Arial" panose="020B0604020202020204" pitchFamily="34" charset="0"/>
              </a:rPr>
              <a:t>BREAK 03 — LISTEN</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67512" y="813816"/>
            <a:ext cx="10881360" cy="960120"/>
          </a:xfrm>
          <a:prstGeom prst="rect">
            <a:avLst/>
          </a:prstGeom>
          <a:noFill/>
          <a:ln/>
        </p:spPr>
        <p:txBody>
          <a:bodyPr wrap="square" lIns="0" tIns="0" rIns="0" bIns="0" rtlCol="0" anchor="ctr"/>
          <a:lstStyle/>
          <a:p>
            <a:pPr marL="0" indent="0">
              <a:lnSpc>
                <a:spcPct val="104000"/>
              </a:lnSpc>
              <a:buNone/>
            </a:pPr>
            <a:r>
              <a:rPr lang="en-US" sz="2800" b="1" dirty="0">
                <a:solidFill>
                  <a:srgbClr val="FFFFFF"/>
                </a:solidFill>
                <a:latin typeface="Arial" panose="020B0604020202020204" pitchFamily="34" charset="0"/>
                <a:ea typeface="Arial" pitchFamily="34" charset="-122"/>
                <a:cs typeface="Arial" panose="020B0604020202020204" pitchFamily="34" charset="0"/>
              </a:rPr>
              <a:t>Chúng ta đang hỏi khách quá nhiều.</a:t>
            </a:r>
            <a:endParaRPr lang="en-US" sz="2800" dirty="0">
              <a:latin typeface="Arial" panose="020B0604020202020204" pitchFamily="34" charset="0"/>
              <a:cs typeface="Arial" panose="020B0604020202020204" pitchFamily="34" charset="0"/>
            </a:endParaRPr>
          </a:p>
        </p:txBody>
      </p:sp>
      <p:sp>
        <p:nvSpPr>
          <p:cNvPr id="5" name="Shape 3"/>
          <p:cNvSpPr/>
          <p:nvPr/>
        </p:nvSpPr>
        <p:spPr>
          <a:xfrm>
            <a:off x="640080" y="2011680"/>
            <a:ext cx="3017520" cy="2103120"/>
          </a:xfrm>
          <a:prstGeom prst="roundRect">
            <a:avLst>
              <a:gd name="adj" fmla="val 5217"/>
            </a:avLst>
          </a:prstGeom>
          <a:solidFill>
            <a:srgbClr val="371619"/>
          </a:solidFill>
          <a:ln w="12700">
            <a:solidFill>
              <a:srgbClr val="E5555C"/>
            </a:solidFill>
            <a:prstDash val="solid"/>
          </a:ln>
        </p:spPr>
      </p:sp>
      <p:sp>
        <p:nvSpPr>
          <p:cNvPr id="6" name="Text 4"/>
          <p:cNvSpPr txBox="1"/>
          <p:nvPr/>
        </p:nvSpPr>
        <p:spPr>
          <a:xfrm>
            <a:off x="640080" y="2103120"/>
            <a:ext cx="3017520" cy="1188720"/>
          </a:xfrm>
          <a:prstGeom prst="rect">
            <a:avLst/>
          </a:prstGeom>
          <a:noFill/>
          <a:ln/>
        </p:spPr>
        <p:txBody>
          <a:bodyPr wrap="square" lIns="0" tIns="0" rIns="0" bIns="0" rtlCol="0" anchor="ctr"/>
          <a:lstStyle/>
          <a:p>
            <a:pPr marL="0" indent="0" algn="ctr">
              <a:buNone/>
            </a:pPr>
            <a:r>
              <a:rPr lang="vi-VN" sz="6400" b="1" dirty="0">
                <a:solidFill>
                  <a:srgbClr val="E5555C"/>
                </a:solidFill>
                <a:latin typeface="Arial" panose="020B0604020202020204" pitchFamily="34" charset="0"/>
                <a:ea typeface="Arial" pitchFamily="34" charset="-122"/>
                <a:cs typeface="Arial" panose="020B0604020202020204" pitchFamily="34" charset="0"/>
              </a:rPr>
              <a:t>12</a:t>
            </a:r>
            <a:endParaRPr lang="en-US" sz="6400" dirty="0">
              <a:latin typeface="Arial" panose="020B0604020202020204" pitchFamily="34" charset="0"/>
              <a:cs typeface="Arial" panose="020B0604020202020204" pitchFamily="34" charset="0"/>
            </a:endParaRPr>
          </a:p>
        </p:txBody>
      </p:sp>
      <p:sp>
        <p:nvSpPr>
          <p:cNvPr id="7" name="Text 5"/>
          <p:cNvSpPr txBox="1"/>
          <p:nvPr/>
        </p:nvSpPr>
        <p:spPr>
          <a:xfrm>
            <a:off x="822960" y="3364992"/>
            <a:ext cx="2651760" cy="594360"/>
          </a:xfrm>
          <a:prstGeom prst="rect">
            <a:avLst/>
          </a:prstGeom>
          <a:noFill/>
          <a:ln/>
        </p:spPr>
        <p:txBody>
          <a:bodyPr wrap="square" lIns="0" tIns="0" rIns="0" bIns="0" rtlCol="0" anchor="ctr"/>
          <a:lstStyle/>
          <a:p>
            <a:pPr marL="0" indent="0" algn="ctr">
              <a:lnSpc>
                <a:spcPct val="120000"/>
              </a:lnSpc>
              <a:buNone/>
            </a:pPr>
            <a:r>
              <a:rPr lang="en-US" sz="1150" b="1" kern="0" spc="100" dirty="0">
                <a:solidFill>
                  <a:srgbClr val="FFD7D9"/>
                </a:solidFill>
                <a:latin typeface="Arial" panose="020B0604020202020204" pitchFamily="34" charset="0"/>
                <a:ea typeface="Arial" pitchFamily="34" charset="-122"/>
                <a:cs typeface="Arial" panose="020B0604020202020204" pitchFamily="34" charset="0"/>
              </a:rPr>
              <a:t>CÂU HỎI TRONG QR FEEDBACK</a:t>
            </a:r>
            <a:endParaRPr lang="en-US" sz="1150" dirty="0">
              <a:latin typeface="Arial" panose="020B0604020202020204" pitchFamily="34" charset="0"/>
              <a:cs typeface="Arial" panose="020B0604020202020204" pitchFamily="34" charset="0"/>
            </a:endParaRPr>
          </a:p>
        </p:txBody>
      </p:sp>
      <p:sp>
        <p:nvSpPr>
          <p:cNvPr id="8" name="Shape 6"/>
          <p:cNvSpPr/>
          <p:nvPr/>
        </p:nvSpPr>
        <p:spPr>
          <a:xfrm>
            <a:off x="4114800" y="2148840"/>
            <a:ext cx="1600200" cy="777240"/>
          </a:xfrm>
          <a:prstGeom prst="roundRect">
            <a:avLst>
              <a:gd name="adj" fmla="val 9412"/>
            </a:avLst>
          </a:prstGeom>
          <a:solidFill>
            <a:srgbClr val="15181D"/>
          </a:solidFill>
          <a:ln w="12700">
            <a:solidFill>
              <a:srgbClr val="262B33"/>
            </a:solidFill>
            <a:prstDash val="solid"/>
          </a:ln>
        </p:spPr>
      </p:sp>
      <p:sp>
        <p:nvSpPr>
          <p:cNvPr id="9" name="Text 7"/>
          <p:cNvSpPr txBox="1"/>
          <p:nvPr/>
        </p:nvSpPr>
        <p:spPr>
          <a:xfrm>
            <a:off x="41879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Arial" panose="020B0604020202020204" pitchFamily="34" charset="0"/>
                <a:ea typeface="Arial" pitchFamily="34" charset="-122"/>
                <a:cs typeface="Arial" panose="020B0604020202020204" pitchFamily="34" charset="0"/>
              </a:rPr>
              <a:t>NHIỀU CÂU HỎI</a:t>
            </a:r>
            <a:endParaRPr lang="en-US" sz="1000" dirty="0">
              <a:latin typeface="Arial" panose="020B0604020202020204" pitchFamily="34" charset="0"/>
              <a:cs typeface="Arial" panose="020B0604020202020204" pitchFamily="34" charset="0"/>
            </a:endParaRPr>
          </a:p>
        </p:txBody>
      </p:sp>
      <p:sp>
        <p:nvSpPr>
          <p:cNvPr id="10" name="Shape 8"/>
          <p:cNvSpPr/>
          <p:nvPr/>
        </p:nvSpPr>
        <p:spPr>
          <a:xfrm rot="5400000">
            <a:off x="5756148" y="2478938"/>
            <a:ext cx="146304" cy="117043"/>
          </a:xfrm>
          <a:prstGeom prst="triangle">
            <a:avLst/>
          </a:prstGeom>
          <a:solidFill>
            <a:srgbClr val="E5555C"/>
          </a:solidFill>
          <a:ln/>
        </p:spPr>
      </p:sp>
      <p:sp>
        <p:nvSpPr>
          <p:cNvPr id="11" name="Shape 9"/>
          <p:cNvSpPr/>
          <p:nvPr/>
        </p:nvSpPr>
        <p:spPr>
          <a:xfrm>
            <a:off x="5943600" y="2148840"/>
            <a:ext cx="1600200" cy="777240"/>
          </a:xfrm>
          <a:prstGeom prst="roundRect">
            <a:avLst>
              <a:gd name="adj" fmla="val 9412"/>
            </a:avLst>
          </a:prstGeom>
          <a:solidFill>
            <a:srgbClr val="15181D"/>
          </a:solidFill>
          <a:ln w="12700">
            <a:solidFill>
              <a:srgbClr val="262B33"/>
            </a:solidFill>
            <a:prstDash val="solid"/>
          </a:ln>
        </p:spPr>
      </p:sp>
      <p:sp>
        <p:nvSpPr>
          <p:cNvPr id="12" name="Text 10"/>
          <p:cNvSpPr txBox="1"/>
          <p:nvPr/>
        </p:nvSpPr>
        <p:spPr>
          <a:xfrm>
            <a:off x="60167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Arial" panose="020B0604020202020204" pitchFamily="34" charset="0"/>
                <a:ea typeface="Arial" pitchFamily="34" charset="-122"/>
                <a:cs typeface="Arial" panose="020B0604020202020204" pitchFamily="34" charset="0"/>
              </a:rPr>
              <a:t>MẤT THỜI GIAN</a:t>
            </a:r>
            <a:endParaRPr lang="en-US" sz="1000" dirty="0">
              <a:latin typeface="Arial" panose="020B0604020202020204" pitchFamily="34" charset="0"/>
              <a:cs typeface="Arial" panose="020B0604020202020204" pitchFamily="34" charset="0"/>
            </a:endParaRPr>
          </a:p>
        </p:txBody>
      </p:sp>
      <p:sp>
        <p:nvSpPr>
          <p:cNvPr id="13" name="Shape 11"/>
          <p:cNvSpPr/>
          <p:nvPr/>
        </p:nvSpPr>
        <p:spPr>
          <a:xfrm rot="5400000">
            <a:off x="7584948" y="2478938"/>
            <a:ext cx="146304" cy="117043"/>
          </a:xfrm>
          <a:prstGeom prst="triangle">
            <a:avLst/>
          </a:prstGeom>
          <a:solidFill>
            <a:srgbClr val="E5555C"/>
          </a:solidFill>
          <a:ln/>
        </p:spPr>
      </p:sp>
      <p:sp>
        <p:nvSpPr>
          <p:cNvPr id="14" name="Shape 12"/>
          <p:cNvSpPr/>
          <p:nvPr/>
        </p:nvSpPr>
        <p:spPr>
          <a:xfrm>
            <a:off x="7772400" y="2148840"/>
            <a:ext cx="1600200" cy="777240"/>
          </a:xfrm>
          <a:prstGeom prst="roundRect">
            <a:avLst>
              <a:gd name="adj" fmla="val 9412"/>
            </a:avLst>
          </a:prstGeom>
          <a:solidFill>
            <a:srgbClr val="15181D"/>
          </a:solidFill>
          <a:ln w="12700">
            <a:solidFill>
              <a:srgbClr val="262B33"/>
            </a:solidFill>
            <a:prstDash val="solid"/>
          </a:ln>
        </p:spPr>
      </p:sp>
      <p:sp>
        <p:nvSpPr>
          <p:cNvPr id="15" name="Text 13"/>
          <p:cNvSpPr txBox="1"/>
          <p:nvPr/>
        </p:nvSpPr>
        <p:spPr>
          <a:xfrm>
            <a:off x="78455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FFFF"/>
                </a:solidFill>
                <a:latin typeface="Arial" panose="020B0604020202020204" pitchFamily="34" charset="0"/>
                <a:ea typeface="Arial" pitchFamily="34" charset="-122"/>
                <a:cs typeface="Arial" panose="020B0604020202020204" pitchFamily="34" charset="0"/>
              </a:rPr>
              <a:t>KHÁCH KHÓ CHỊU</a:t>
            </a:r>
            <a:endParaRPr lang="en-US" sz="1000" dirty="0">
              <a:latin typeface="Arial" panose="020B0604020202020204" pitchFamily="34" charset="0"/>
              <a:cs typeface="Arial" panose="020B0604020202020204" pitchFamily="34" charset="0"/>
            </a:endParaRPr>
          </a:p>
        </p:txBody>
      </p:sp>
      <p:sp>
        <p:nvSpPr>
          <p:cNvPr id="16" name="Shape 14"/>
          <p:cNvSpPr/>
          <p:nvPr/>
        </p:nvSpPr>
        <p:spPr>
          <a:xfrm rot="5400000">
            <a:off x="9413748" y="2478938"/>
            <a:ext cx="146304" cy="117043"/>
          </a:xfrm>
          <a:prstGeom prst="triangle">
            <a:avLst/>
          </a:prstGeom>
          <a:solidFill>
            <a:srgbClr val="E5555C"/>
          </a:solidFill>
          <a:ln/>
        </p:spPr>
      </p:sp>
      <p:sp>
        <p:nvSpPr>
          <p:cNvPr id="17" name="Shape 15"/>
          <p:cNvSpPr/>
          <p:nvPr/>
        </p:nvSpPr>
        <p:spPr>
          <a:xfrm>
            <a:off x="9601200" y="2148840"/>
            <a:ext cx="1600200" cy="777240"/>
          </a:xfrm>
          <a:prstGeom prst="roundRect">
            <a:avLst>
              <a:gd name="adj" fmla="val 9412"/>
            </a:avLst>
          </a:prstGeom>
          <a:solidFill>
            <a:srgbClr val="371619"/>
          </a:solidFill>
          <a:ln w="12700">
            <a:solidFill>
              <a:srgbClr val="E5555C"/>
            </a:solidFill>
            <a:prstDash val="solid"/>
          </a:ln>
        </p:spPr>
      </p:sp>
      <p:sp>
        <p:nvSpPr>
          <p:cNvPr id="18" name="Text 16"/>
          <p:cNvSpPr txBox="1"/>
          <p:nvPr/>
        </p:nvSpPr>
        <p:spPr>
          <a:xfrm>
            <a:off x="9674352" y="2203704"/>
            <a:ext cx="1453896" cy="722376"/>
          </a:xfrm>
          <a:prstGeom prst="rect">
            <a:avLst/>
          </a:prstGeom>
          <a:noFill/>
          <a:ln/>
        </p:spPr>
        <p:txBody>
          <a:bodyPr wrap="square" lIns="0" tIns="0" rIns="0" bIns="0" rtlCol="0" anchor="ctr"/>
          <a:lstStyle/>
          <a:p>
            <a:pPr marL="0" indent="0" algn="ctr">
              <a:lnSpc>
                <a:spcPct val="102000"/>
              </a:lnSpc>
              <a:buNone/>
            </a:pPr>
            <a:r>
              <a:rPr lang="en-US" sz="1000" b="1" dirty="0">
                <a:solidFill>
                  <a:srgbClr val="FFD7D9"/>
                </a:solidFill>
                <a:latin typeface="Arial" panose="020B0604020202020204" pitchFamily="34" charset="0"/>
                <a:ea typeface="Arial" pitchFamily="34" charset="-122"/>
                <a:cs typeface="Arial" panose="020B0604020202020204" pitchFamily="34" charset="0"/>
              </a:rPr>
              <a:t>TỈ LỆ HOÀN THÀNH ↓</a:t>
            </a:r>
            <a:endParaRPr lang="en-US" sz="1000" dirty="0">
              <a:latin typeface="Arial" panose="020B0604020202020204" pitchFamily="34" charset="0"/>
              <a:cs typeface="Arial" panose="020B0604020202020204" pitchFamily="34" charset="0"/>
            </a:endParaRPr>
          </a:p>
        </p:txBody>
      </p:sp>
      <p:sp>
        <p:nvSpPr>
          <p:cNvPr id="19" name="Text 17"/>
          <p:cNvSpPr txBox="1"/>
          <p:nvPr/>
        </p:nvSpPr>
        <p:spPr>
          <a:xfrm>
            <a:off x="4114800" y="3154680"/>
            <a:ext cx="7223760" cy="822960"/>
          </a:xfrm>
          <a:prstGeom prst="rect">
            <a:avLst/>
          </a:prstGeom>
          <a:noFill/>
          <a:ln/>
        </p:spPr>
        <p:txBody>
          <a:bodyPr wrap="square" lIns="0" tIns="0" rIns="0" bIns="0" rtlCol="0" anchor="ctr"/>
          <a:lstStyle/>
          <a:p>
            <a:pPr marL="0" indent="0">
              <a:lnSpc>
                <a:spcPct val="130000"/>
              </a:lnSpc>
              <a:buNone/>
            </a:pPr>
            <a:r>
              <a:rPr lang="en-US" sz="1350" i="1" dirty="0">
                <a:solidFill>
                  <a:srgbClr val="C7CCD1"/>
                </a:solidFill>
                <a:latin typeface="Arial" panose="020B0604020202020204" pitchFamily="34" charset="0"/>
                <a:ea typeface="Calibri" pitchFamily="34" charset="-122"/>
                <a:cs typeface="Arial" panose="020B0604020202020204" pitchFamily="34" charset="0"/>
              </a:rPr>
              <a:t>“Càng nhiều câu hỏi → càng mất thời gian → khách càng khó chịu → khả năng hoàn thành khảo sát giảm.”</a:t>
            </a:r>
            <a:endParaRPr lang="en-US" sz="1350" dirty="0">
              <a:latin typeface="Arial" panose="020B0604020202020204" pitchFamily="34" charset="0"/>
              <a:cs typeface="Arial" panose="020B0604020202020204" pitchFamily="34" charset="0"/>
            </a:endParaRPr>
          </a:p>
        </p:txBody>
      </p:sp>
      <p:sp>
        <p:nvSpPr>
          <p:cNvPr id="20" name="Text 18"/>
          <p:cNvSpPr txBox="1"/>
          <p:nvPr/>
        </p:nvSpPr>
        <p:spPr>
          <a:xfrm>
            <a:off x="640080" y="4206240"/>
            <a:ext cx="3657600" cy="320040"/>
          </a:xfrm>
          <a:prstGeom prst="rect">
            <a:avLst/>
          </a:prstGeom>
          <a:noFill/>
          <a:ln/>
        </p:spPr>
        <p:txBody>
          <a:bodyPr wrap="square" lIns="0" tIns="0" rIns="0" bIns="0" rtlCol="0" anchor="ctr"/>
          <a:lstStyle/>
          <a:p>
            <a:pPr marL="0" indent="0">
              <a:buNone/>
            </a:pPr>
            <a:r>
              <a:rPr lang="en-US" sz="1150" b="1" kern="0" spc="150" dirty="0">
                <a:solidFill>
                  <a:srgbClr val="82888F"/>
                </a:solidFill>
                <a:latin typeface="Arial" panose="020B0604020202020204" pitchFamily="34" charset="0"/>
                <a:ea typeface="Arial" pitchFamily="34" charset="-122"/>
                <a:cs typeface="Arial" panose="020B0604020202020204" pitchFamily="34" charset="0"/>
              </a:rPr>
              <a:t>HỆ QUẢ</a:t>
            </a:r>
            <a:endParaRPr lang="en-US" sz="1150" dirty="0">
              <a:latin typeface="Arial" panose="020B0604020202020204" pitchFamily="34" charset="0"/>
              <a:cs typeface="Arial" panose="020B0604020202020204" pitchFamily="34" charset="0"/>
            </a:endParaRPr>
          </a:p>
        </p:txBody>
      </p:sp>
      <p:sp>
        <p:nvSpPr>
          <p:cNvPr id="21" name="Shape 19"/>
          <p:cNvSpPr/>
          <p:nvPr/>
        </p:nvSpPr>
        <p:spPr>
          <a:xfrm>
            <a:off x="640080" y="4572000"/>
            <a:ext cx="2606040" cy="1463040"/>
          </a:xfrm>
          <a:prstGeom prst="roundRect">
            <a:avLst>
              <a:gd name="adj" fmla="val 6250"/>
            </a:avLst>
          </a:prstGeom>
          <a:solidFill>
            <a:srgbClr val="15181D"/>
          </a:solidFill>
          <a:ln w="12700">
            <a:solidFill>
              <a:srgbClr val="262B33"/>
            </a:solidFill>
            <a:prstDash val="solid"/>
          </a:ln>
        </p:spPr>
      </p:sp>
      <p:sp>
        <p:nvSpPr>
          <p:cNvPr id="22" name="Text 20"/>
          <p:cNvSpPr txBox="1"/>
          <p:nvPr/>
        </p:nvSpPr>
        <p:spPr>
          <a:xfrm>
            <a:off x="822960"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Chọn ngẫu nhiên cho xong</a:t>
            </a:r>
            <a:endParaRPr lang="en-US" sz="1200" dirty="0">
              <a:latin typeface="Arial" panose="020B0604020202020204" pitchFamily="34" charset="0"/>
              <a:cs typeface="Arial" panose="020B0604020202020204" pitchFamily="34" charset="0"/>
            </a:endParaRPr>
          </a:p>
        </p:txBody>
      </p:sp>
      <p:sp>
        <p:nvSpPr>
          <p:cNvPr id="23" name="Shape 21"/>
          <p:cNvSpPr/>
          <p:nvPr/>
        </p:nvSpPr>
        <p:spPr>
          <a:xfrm>
            <a:off x="3447288" y="4572000"/>
            <a:ext cx="2606040" cy="1463040"/>
          </a:xfrm>
          <a:prstGeom prst="roundRect">
            <a:avLst>
              <a:gd name="adj" fmla="val 6250"/>
            </a:avLst>
          </a:prstGeom>
          <a:solidFill>
            <a:srgbClr val="15181D"/>
          </a:solidFill>
          <a:ln w="12700">
            <a:solidFill>
              <a:srgbClr val="262B33"/>
            </a:solidFill>
            <a:prstDash val="solid"/>
          </a:ln>
        </p:spPr>
      </p:sp>
      <p:sp>
        <p:nvSpPr>
          <p:cNvPr id="24" name="Text 22"/>
          <p:cNvSpPr txBox="1"/>
          <p:nvPr/>
        </p:nvSpPr>
        <p:spPr>
          <a:xfrm>
            <a:off x="3630168"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Đóng trình duyệt giữa chừng</a:t>
            </a:r>
            <a:endParaRPr lang="en-US" sz="1200" dirty="0">
              <a:latin typeface="Arial" panose="020B0604020202020204" pitchFamily="34" charset="0"/>
              <a:cs typeface="Arial" panose="020B0604020202020204" pitchFamily="34" charset="0"/>
            </a:endParaRPr>
          </a:p>
        </p:txBody>
      </p:sp>
      <p:sp>
        <p:nvSpPr>
          <p:cNvPr id="25" name="Shape 23"/>
          <p:cNvSpPr/>
          <p:nvPr/>
        </p:nvSpPr>
        <p:spPr>
          <a:xfrm>
            <a:off x="6254496" y="4572000"/>
            <a:ext cx="2606040" cy="1463040"/>
          </a:xfrm>
          <a:prstGeom prst="roundRect">
            <a:avLst>
              <a:gd name="adj" fmla="val 6250"/>
            </a:avLst>
          </a:prstGeom>
          <a:solidFill>
            <a:srgbClr val="15181D"/>
          </a:solidFill>
          <a:ln w="12700">
            <a:solidFill>
              <a:srgbClr val="262B33"/>
            </a:solidFill>
            <a:prstDash val="solid"/>
          </a:ln>
        </p:spPr>
      </p:sp>
      <p:sp>
        <p:nvSpPr>
          <p:cNvPr id="26" name="Text 24"/>
          <p:cNvSpPr txBox="1"/>
          <p:nvPr/>
        </p:nvSpPr>
        <p:spPr>
          <a:xfrm>
            <a:off x="6437376"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Dữ liệu bị ô nhiễm (Data Pollution)</a:t>
            </a:r>
            <a:endParaRPr lang="en-US" sz="1200" dirty="0">
              <a:latin typeface="Arial" panose="020B0604020202020204" pitchFamily="34" charset="0"/>
              <a:cs typeface="Arial" panose="020B0604020202020204" pitchFamily="34" charset="0"/>
            </a:endParaRPr>
          </a:p>
        </p:txBody>
      </p:sp>
      <p:sp>
        <p:nvSpPr>
          <p:cNvPr id="27" name="Shape 25"/>
          <p:cNvSpPr/>
          <p:nvPr/>
        </p:nvSpPr>
        <p:spPr>
          <a:xfrm>
            <a:off x="9061704" y="4572000"/>
            <a:ext cx="2606040" cy="1463040"/>
          </a:xfrm>
          <a:prstGeom prst="roundRect">
            <a:avLst>
              <a:gd name="adj" fmla="val 6250"/>
            </a:avLst>
          </a:prstGeom>
          <a:solidFill>
            <a:srgbClr val="15181D"/>
          </a:solidFill>
          <a:ln w="12700">
            <a:solidFill>
              <a:srgbClr val="262B33"/>
            </a:solidFill>
            <a:prstDash val="solid"/>
          </a:ln>
        </p:spPr>
      </p:sp>
      <p:sp>
        <p:nvSpPr>
          <p:cNvPr id="28" name="Text 26"/>
          <p:cNvSpPr txBox="1"/>
          <p:nvPr/>
        </p:nvSpPr>
        <p:spPr>
          <a:xfrm>
            <a:off x="9244584" y="4572000"/>
            <a:ext cx="2240280" cy="1463040"/>
          </a:xfrm>
          <a:prstGeom prst="rect">
            <a:avLst/>
          </a:prstGeom>
          <a:noFill/>
          <a:ln/>
        </p:spPr>
        <p:txBody>
          <a:bodyPr wrap="square" lIns="0" tIns="0" rIns="0" bIns="0" rtlCol="0" anchor="ctr"/>
          <a:lstStyle/>
          <a:p>
            <a:pPr marL="0" indent="0" algn="l">
              <a:lnSpc>
                <a:spcPct val="115000"/>
              </a:lnSpc>
              <a:buNone/>
            </a:pPr>
            <a:r>
              <a:rPr lang="en-US" sz="1200" b="1" dirty="0">
                <a:solidFill>
                  <a:srgbClr val="FFFFFF"/>
                </a:solidFill>
                <a:latin typeface="Arial" panose="020B0604020202020204" pitchFamily="34" charset="0"/>
                <a:ea typeface="Arial" pitchFamily="34" charset="-122"/>
                <a:cs typeface="Arial" panose="020B0604020202020204" pitchFamily="34" charset="0"/>
              </a:rPr>
              <a:t>Ra quyết định trên dữ liệu không trung thực</a:t>
            </a:r>
            <a:endParaRPr lang="en-US" sz="1200" dirty="0">
              <a:latin typeface="Arial" panose="020B0604020202020204" pitchFamily="34" charset="0"/>
              <a:cs typeface="Arial" panose="020B0604020202020204" pitchFamily="34" charset="0"/>
            </a:endParaRPr>
          </a:p>
        </p:txBody>
      </p:sp>
      <p:sp>
        <p:nvSpPr>
          <p:cNvPr id="29" name="Shape 27"/>
          <p:cNvSpPr/>
          <p:nvPr/>
        </p:nvSpPr>
        <p:spPr>
          <a:xfrm>
            <a:off x="640080" y="6382512"/>
            <a:ext cx="10908792" cy="0"/>
          </a:xfrm>
          <a:prstGeom prst="line">
            <a:avLst/>
          </a:prstGeom>
          <a:noFill/>
          <a:ln w="9525">
            <a:solidFill>
              <a:srgbClr val="262B33"/>
            </a:solidFill>
            <a:prstDash val="solid"/>
          </a:ln>
        </p:spPr>
      </p:sp>
      <p:sp>
        <p:nvSpPr>
          <p:cNvPr id="30" name="Text 28"/>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BREAK 03 — LISTEN</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itchFamily="34" charset="0"/>
                <a:ea typeface="Arial" pitchFamily="34" charset="-122"/>
                <a:cs typeface="Arial" pitchFamily="34" charset="-120"/>
              </a:rPr>
              <a:t>LOBBY LOOP</a:t>
            </a:r>
            <a:endParaRPr lang="en-US" sz="1050" dirty="0"/>
          </a:p>
        </p:txBody>
      </p:sp>
      <p:sp>
        <p:nvSpPr>
          <p:cNvPr id="3" name="Text 1"/>
          <p:cNvSpPr txBox="1"/>
          <p:nvPr/>
        </p:nvSpPr>
        <p:spPr>
          <a:xfrm>
            <a:off x="191844" y="446711"/>
            <a:ext cx="8229600" cy="292608"/>
          </a:xfrm>
          <a:prstGeom prst="rect">
            <a:avLst/>
          </a:prstGeom>
          <a:noFill/>
          <a:ln/>
        </p:spPr>
        <p:txBody>
          <a:bodyPr wrap="square" lIns="0" tIns="0" rIns="0" bIns="0" rtlCol="0" anchor="ctr"/>
          <a:lstStyle/>
          <a:p>
            <a:pPr marL="0" indent="0">
              <a:buNone/>
            </a:pPr>
            <a:r>
              <a:rPr lang="en-US" sz="2800" b="1" kern="0" spc="220" dirty="0">
                <a:solidFill>
                  <a:srgbClr val="34D399"/>
                </a:solidFill>
                <a:latin typeface="Arial" pitchFamily="34" charset="0"/>
                <a:ea typeface="Arial" pitchFamily="34" charset="-122"/>
                <a:cs typeface="Arial" pitchFamily="34" charset="-120"/>
              </a:rPr>
              <a:t>SOLUTION 03 — LISTEN</a:t>
            </a:r>
            <a:endParaRPr lang="en-US" sz="2800" dirty="0"/>
          </a:p>
        </p:txBody>
      </p:sp>
      <p:sp>
        <p:nvSpPr>
          <p:cNvPr id="4" name="Text 2"/>
          <p:cNvSpPr txBox="1"/>
          <p:nvPr/>
        </p:nvSpPr>
        <p:spPr>
          <a:xfrm>
            <a:off x="1097280" y="790956"/>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Arial" pitchFamily="34" charset="0"/>
                <a:ea typeface="Arial" pitchFamily="34" charset="-122"/>
                <a:cs typeface="Arial" pitchFamily="34" charset="-120"/>
              </a:rPr>
              <a:t>ASK LESS. ASK RIGHT.</a:t>
            </a:r>
            <a:endParaRPr lang="en-US" sz="2400" dirty="0"/>
          </a:p>
        </p:txBody>
      </p:sp>
      <p:sp>
        <p:nvSpPr>
          <p:cNvPr id="5" name="Shape 3"/>
          <p:cNvSpPr/>
          <p:nvPr/>
        </p:nvSpPr>
        <p:spPr>
          <a:xfrm>
            <a:off x="2240280" y="2148840"/>
            <a:ext cx="2926080" cy="777240"/>
          </a:xfrm>
          <a:prstGeom prst="roundRect">
            <a:avLst>
              <a:gd name="adj" fmla="val 9412"/>
            </a:avLst>
          </a:prstGeom>
          <a:solidFill>
            <a:srgbClr val="15181D"/>
          </a:solidFill>
          <a:ln w="12700">
            <a:solidFill>
              <a:srgbClr val="262B33"/>
            </a:solidFill>
            <a:prstDash val="solid"/>
          </a:ln>
        </p:spPr>
      </p:sp>
      <p:sp>
        <p:nvSpPr>
          <p:cNvPr id="6" name="Text 4"/>
          <p:cNvSpPr txBox="1"/>
          <p:nvPr/>
        </p:nvSpPr>
        <p:spPr>
          <a:xfrm>
            <a:off x="2313432" y="2203704"/>
            <a:ext cx="2779776" cy="722376"/>
          </a:xfrm>
          <a:prstGeom prst="rect">
            <a:avLst/>
          </a:prstGeom>
          <a:noFill/>
          <a:ln/>
        </p:spPr>
        <p:txBody>
          <a:bodyPr wrap="square" lIns="0" tIns="0" rIns="0" bIns="0" rtlCol="0" anchor="ctr"/>
          <a:lstStyle/>
          <a:p>
            <a:pPr marL="0" indent="0" algn="ctr">
              <a:lnSpc>
                <a:spcPct val="102000"/>
              </a:lnSpc>
              <a:buNone/>
            </a:pPr>
            <a:r>
              <a:rPr lang="en-US" sz="1300" b="1" dirty="0">
                <a:solidFill>
                  <a:srgbClr val="FFFFFF"/>
                </a:solidFill>
                <a:latin typeface="Arial" pitchFamily="34" charset="0"/>
                <a:ea typeface="Arial" pitchFamily="34" charset="-122"/>
                <a:cs typeface="Arial" pitchFamily="34" charset="-120"/>
              </a:rPr>
              <a:t>KHÁCH HÀI LÒNG?</a:t>
            </a:r>
            <a:endParaRPr lang="en-US" sz="1300" dirty="0"/>
          </a:p>
        </p:txBody>
      </p:sp>
      <p:sp>
        <p:nvSpPr>
          <p:cNvPr id="7" name="Shape 5"/>
          <p:cNvSpPr/>
          <p:nvPr/>
        </p:nvSpPr>
        <p:spPr>
          <a:xfrm rot="10800000">
            <a:off x="1983334" y="3026664"/>
            <a:ext cx="131674" cy="164592"/>
          </a:xfrm>
          <a:prstGeom prst="triangle">
            <a:avLst/>
          </a:prstGeom>
          <a:solidFill>
            <a:srgbClr val="34D399"/>
          </a:solidFill>
          <a:ln/>
        </p:spPr>
      </p:sp>
      <p:sp>
        <p:nvSpPr>
          <p:cNvPr id="8" name="Text 6"/>
          <p:cNvSpPr txBox="1"/>
          <p:nvPr/>
        </p:nvSpPr>
        <p:spPr>
          <a:xfrm>
            <a:off x="640080" y="3273552"/>
            <a:ext cx="2818181" cy="274320"/>
          </a:xfrm>
          <a:prstGeom prst="rect">
            <a:avLst/>
          </a:prstGeom>
          <a:noFill/>
          <a:ln/>
        </p:spPr>
        <p:txBody>
          <a:bodyPr wrap="square" lIns="0" tIns="0" rIns="0" bIns="0" rtlCol="0" anchor="ctr"/>
          <a:lstStyle/>
          <a:p>
            <a:pPr marL="0" indent="0" algn="ctr">
              <a:buNone/>
            </a:pPr>
            <a:r>
              <a:rPr lang="en-US" sz="1150" b="1" kern="0" spc="100" dirty="0">
                <a:solidFill>
                  <a:srgbClr val="34D399"/>
                </a:solidFill>
                <a:latin typeface="Calibri" pitchFamily="34" charset="0"/>
                <a:ea typeface="Calibri" pitchFamily="34" charset="-122"/>
                <a:cs typeface="Calibri" pitchFamily="34" charset="-120"/>
              </a:rPr>
              <a:t>YES</a:t>
            </a:r>
            <a:endParaRPr lang="en-US" sz="1150" dirty="0"/>
          </a:p>
        </p:txBody>
      </p:sp>
      <p:sp>
        <p:nvSpPr>
          <p:cNvPr id="9" name="Shape 7"/>
          <p:cNvSpPr/>
          <p:nvPr/>
        </p:nvSpPr>
        <p:spPr>
          <a:xfrm>
            <a:off x="640080" y="3611880"/>
            <a:ext cx="2818181" cy="1417320"/>
          </a:xfrm>
          <a:prstGeom prst="roundRect">
            <a:avLst>
              <a:gd name="adj" fmla="val 6452"/>
            </a:avLst>
          </a:prstGeom>
          <a:solidFill>
            <a:srgbClr val="0F2A22"/>
          </a:solidFill>
          <a:ln w="12700">
            <a:solidFill>
              <a:srgbClr val="34D399"/>
            </a:solidFill>
            <a:prstDash val="solid"/>
          </a:ln>
        </p:spPr>
      </p:sp>
      <p:sp>
        <p:nvSpPr>
          <p:cNvPr id="10" name="Text 8"/>
          <p:cNvSpPr txBox="1"/>
          <p:nvPr/>
        </p:nvSpPr>
        <p:spPr>
          <a:xfrm>
            <a:off x="868680" y="3794760"/>
            <a:ext cx="2360981" cy="411480"/>
          </a:xfrm>
          <a:prstGeom prst="rect">
            <a:avLst/>
          </a:prstGeom>
          <a:noFill/>
          <a:ln/>
        </p:spPr>
        <p:txBody>
          <a:bodyPr wrap="square" lIns="0" tIns="0" rIns="0" bIns="0" rtlCol="0" anchor="ctr"/>
          <a:lstStyle/>
          <a:p>
            <a:pPr marL="0" indent="0">
              <a:buNone/>
            </a:pPr>
            <a:r>
              <a:rPr lang="en-US" sz="1400" b="1" dirty="0">
                <a:solidFill>
                  <a:srgbClr val="CFF7E6"/>
                </a:solidFill>
                <a:latin typeface="Arial" pitchFamily="34" charset="0"/>
                <a:ea typeface="Arial" pitchFamily="34" charset="-122"/>
                <a:cs typeface="Arial" pitchFamily="34" charset="-120"/>
              </a:rPr>
              <a:t>2–3 CÂU HỎI CỐT LÕI</a:t>
            </a:r>
            <a:endParaRPr lang="en-US" sz="1400" dirty="0"/>
          </a:p>
        </p:txBody>
      </p:sp>
      <p:sp>
        <p:nvSpPr>
          <p:cNvPr id="11" name="Text 9"/>
          <p:cNvSpPr txBox="1"/>
          <p:nvPr/>
        </p:nvSpPr>
        <p:spPr>
          <a:xfrm>
            <a:off x="868680" y="4251960"/>
            <a:ext cx="2360981" cy="640080"/>
          </a:xfrm>
          <a:prstGeom prst="rect">
            <a:avLst/>
          </a:prstGeom>
          <a:noFill/>
          <a:ln/>
        </p:spPr>
        <p:txBody>
          <a:bodyPr wrap="square" lIns="0" tIns="0" rIns="0" bIns="0" rtlCol="0" anchor="ctr"/>
          <a:lstStyle/>
          <a:p>
            <a:pPr marL="0" indent="0">
              <a:lnSpc>
                <a:spcPct val="120000"/>
              </a:lnSpc>
              <a:buNone/>
            </a:pPr>
            <a:r>
              <a:rPr lang="en-US" sz="1200" dirty="0">
                <a:solidFill>
                  <a:srgbClr val="C7CCD1"/>
                </a:solidFill>
                <a:latin typeface="Calibri" pitchFamily="34" charset="0"/>
                <a:ea typeface="Calibri" pitchFamily="34" charset="-122"/>
                <a:cs typeface="Calibri" pitchFamily="34" charset="-120"/>
              </a:rPr>
              <a:t>Thu thập chỉ số nhanh, kết thúc ngay</a:t>
            </a:r>
            <a:endParaRPr lang="en-US" sz="1200" dirty="0"/>
          </a:p>
        </p:txBody>
      </p:sp>
      <p:sp>
        <p:nvSpPr>
          <p:cNvPr id="12" name="Shape 10"/>
          <p:cNvSpPr/>
          <p:nvPr/>
        </p:nvSpPr>
        <p:spPr>
          <a:xfrm rot="10800000">
            <a:off x="5291633" y="3026664"/>
            <a:ext cx="131674" cy="164592"/>
          </a:xfrm>
          <a:prstGeom prst="triangle">
            <a:avLst/>
          </a:prstGeom>
          <a:solidFill>
            <a:srgbClr val="E5555C"/>
          </a:solidFill>
          <a:ln/>
        </p:spPr>
      </p:sp>
      <p:sp>
        <p:nvSpPr>
          <p:cNvPr id="13" name="Text 11"/>
          <p:cNvSpPr txBox="1"/>
          <p:nvPr/>
        </p:nvSpPr>
        <p:spPr>
          <a:xfrm>
            <a:off x="3948379" y="3273552"/>
            <a:ext cx="2818181" cy="274320"/>
          </a:xfrm>
          <a:prstGeom prst="rect">
            <a:avLst/>
          </a:prstGeom>
          <a:noFill/>
          <a:ln/>
        </p:spPr>
        <p:txBody>
          <a:bodyPr wrap="square" lIns="0" tIns="0" rIns="0" bIns="0" rtlCol="0" anchor="ctr"/>
          <a:lstStyle/>
          <a:p>
            <a:pPr marL="0" indent="0" algn="ctr">
              <a:buNone/>
            </a:pPr>
            <a:r>
              <a:rPr lang="en-US" sz="1150" b="1" kern="0" spc="100" dirty="0">
                <a:solidFill>
                  <a:srgbClr val="E5555C"/>
                </a:solidFill>
                <a:latin typeface="Calibri" pitchFamily="34" charset="0"/>
                <a:ea typeface="Calibri" pitchFamily="34" charset="-122"/>
                <a:cs typeface="Calibri" pitchFamily="34" charset="-120"/>
              </a:rPr>
              <a:t>NO</a:t>
            </a:r>
            <a:endParaRPr lang="en-US" sz="1150" dirty="0"/>
          </a:p>
        </p:txBody>
      </p:sp>
      <p:sp>
        <p:nvSpPr>
          <p:cNvPr id="14" name="Shape 12"/>
          <p:cNvSpPr/>
          <p:nvPr/>
        </p:nvSpPr>
        <p:spPr>
          <a:xfrm>
            <a:off x="3948379" y="3611880"/>
            <a:ext cx="2818181" cy="1417320"/>
          </a:xfrm>
          <a:prstGeom prst="roundRect">
            <a:avLst>
              <a:gd name="adj" fmla="val 6452"/>
            </a:avLst>
          </a:prstGeom>
          <a:solidFill>
            <a:srgbClr val="371619"/>
          </a:solidFill>
          <a:ln w="12700">
            <a:solidFill>
              <a:srgbClr val="E5555C"/>
            </a:solidFill>
            <a:prstDash val="solid"/>
          </a:ln>
        </p:spPr>
      </p:sp>
      <p:sp>
        <p:nvSpPr>
          <p:cNvPr id="15" name="Text 13"/>
          <p:cNvSpPr txBox="1"/>
          <p:nvPr/>
        </p:nvSpPr>
        <p:spPr>
          <a:xfrm>
            <a:off x="4176979" y="3794760"/>
            <a:ext cx="2360981" cy="411480"/>
          </a:xfrm>
          <a:prstGeom prst="rect">
            <a:avLst/>
          </a:prstGeom>
          <a:noFill/>
          <a:ln/>
        </p:spPr>
        <p:txBody>
          <a:bodyPr wrap="square" lIns="0" tIns="0" rIns="0" bIns="0" rtlCol="0" anchor="ctr"/>
          <a:lstStyle/>
          <a:p>
            <a:pPr marL="0" indent="0">
              <a:buNone/>
            </a:pPr>
            <a:r>
              <a:rPr lang="en-US" sz="1400" b="1" dirty="0">
                <a:solidFill>
                  <a:srgbClr val="FFD7D9"/>
                </a:solidFill>
                <a:latin typeface="Arial" pitchFamily="34" charset="0"/>
                <a:ea typeface="Arial" pitchFamily="34" charset="-122"/>
                <a:cs typeface="Arial" pitchFamily="34" charset="-120"/>
              </a:rPr>
              <a:t>DEEP-DIVE QUESTIONS</a:t>
            </a:r>
            <a:endParaRPr lang="en-US" sz="1400" dirty="0"/>
          </a:p>
        </p:txBody>
      </p:sp>
      <p:sp>
        <p:nvSpPr>
          <p:cNvPr id="16" name="Text 14"/>
          <p:cNvSpPr txBox="1"/>
          <p:nvPr/>
        </p:nvSpPr>
        <p:spPr>
          <a:xfrm>
            <a:off x="4176979" y="4251960"/>
            <a:ext cx="2360981" cy="640080"/>
          </a:xfrm>
          <a:prstGeom prst="rect">
            <a:avLst/>
          </a:prstGeom>
          <a:noFill/>
          <a:ln/>
        </p:spPr>
        <p:txBody>
          <a:bodyPr wrap="square" lIns="0" tIns="0" rIns="0" bIns="0" rtlCol="0" anchor="ctr"/>
          <a:lstStyle/>
          <a:p>
            <a:pPr marL="0" indent="0">
              <a:lnSpc>
                <a:spcPct val="120000"/>
              </a:lnSpc>
              <a:buNone/>
            </a:pPr>
            <a:r>
              <a:rPr lang="en-US" sz="1200" dirty="0">
                <a:solidFill>
                  <a:srgbClr val="C7CCD1"/>
                </a:solidFill>
                <a:latin typeface="Calibri" pitchFamily="34" charset="0"/>
                <a:ea typeface="Calibri" pitchFamily="34" charset="-122"/>
                <a:cs typeface="Calibri" pitchFamily="34" charset="-120"/>
              </a:rPr>
              <a:t>Thái độ · F&amp;B · Vệ sinh · Vấn đề liên quan</a:t>
            </a:r>
            <a:endParaRPr lang="en-US" sz="1200" dirty="0"/>
          </a:p>
        </p:txBody>
      </p:sp>
      <p:sp>
        <p:nvSpPr>
          <p:cNvPr id="17" name="Text 15"/>
          <p:cNvSpPr txBox="1"/>
          <p:nvPr/>
        </p:nvSpPr>
        <p:spPr>
          <a:xfrm>
            <a:off x="640080" y="5193792"/>
            <a:ext cx="6126480" cy="548640"/>
          </a:xfrm>
          <a:prstGeom prst="rect">
            <a:avLst/>
          </a:prstGeom>
          <a:noFill/>
          <a:ln/>
        </p:spPr>
        <p:txBody>
          <a:bodyPr wrap="square" lIns="0" tIns="0" rIns="0" bIns="0" rtlCol="0" anchor="ctr"/>
          <a:lstStyle/>
          <a:p>
            <a:pPr marL="0" indent="0">
              <a:lnSpc>
                <a:spcPct val="125000"/>
              </a:lnSpc>
              <a:buNone/>
            </a:pPr>
            <a:r>
              <a:rPr lang="en-US" sz="1600" i="1" dirty="0">
                <a:solidFill>
                  <a:schemeClr val="bg1"/>
                </a:solidFill>
                <a:latin typeface="Arial" panose="020B0604020202020204" pitchFamily="34" charset="0"/>
                <a:ea typeface="Calibri" pitchFamily="34" charset="-122"/>
                <a:cs typeface="Arial" panose="020B0604020202020204" pitchFamily="34" charset="0"/>
              </a:rPr>
              <a:t>Không phải hỏi nhiều hơn. Mà là hỏi đúng người, đúng thời điểm, đúng vấn đề.</a:t>
            </a:r>
            <a:endParaRPr lang="en-US" sz="1600" dirty="0">
              <a:solidFill>
                <a:schemeClr val="bg1"/>
              </a:solidFill>
              <a:latin typeface="Arial" panose="020B0604020202020204" pitchFamily="34" charset="0"/>
              <a:cs typeface="Arial" panose="020B0604020202020204" pitchFamily="34" charset="0"/>
            </a:endParaRPr>
          </a:p>
        </p:txBody>
      </p:sp>
      <p:sp>
        <p:nvSpPr>
          <p:cNvPr id="18" name="Shape 16"/>
          <p:cNvSpPr/>
          <p:nvPr/>
        </p:nvSpPr>
        <p:spPr>
          <a:xfrm>
            <a:off x="7178040" y="2148840"/>
            <a:ext cx="4389120" cy="3657600"/>
          </a:xfrm>
          <a:prstGeom prst="roundRect">
            <a:avLst>
              <a:gd name="adj" fmla="val 3750"/>
            </a:avLst>
          </a:prstGeom>
          <a:solidFill>
            <a:srgbClr val="1B1F26"/>
          </a:solidFill>
          <a:ln w="12700">
            <a:solidFill>
              <a:srgbClr val="262B33"/>
            </a:solidFill>
            <a:prstDash val="solid"/>
          </a:ln>
        </p:spPr>
      </p:sp>
      <p:sp>
        <p:nvSpPr>
          <p:cNvPr id="19" name="Text 17"/>
          <p:cNvSpPr txBox="1"/>
          <p:nvPr/>
        </p:nvSpPr>
        <p:spPr>
          <a:xfrm>
            <a:off x="7498080" y="2377440"/>
            <a:ext cx="3749040" cy="274320"/>
          </a:xfrm>
          <a:prstGeom prst="rect">
            <a:avLst/>
          </a:prstGeom>
          <a:noFill/>
          <a:ln/>
        </p:spPr>
        <p:txBody>
          <a:bodyPr wrap="square" lIns="0" tIns="0" rIns="0" bIns="0" rtlCol="0" anchor="ctr"/>
          <a:lstStyle/>
          <a:p>
            <a:pPr marL="0" indent="0">
              <a:buNone/>
            </a:pPr>
            <a:r>
              <a:rPr lang="en-US" sz="950" b="1" kern="0" spc="150" dirty="0">
                <a:solidFill>
                  <a:srgbClr val="82888F"/>
                </a:solidFill>
                <a:latin typeface="Calibri" pitchFamily="34" charset="0"/>
                <a:ea typeface="Calibri" pitchFamily="34" charset="-122"/>
                <a:cs typeface="Calibri" pitchFamily="34" charset="-120"/>
              </a:rPr>
              <a:t>CONCEPT UI — QR FEEDBACK</a:t>
            </a:r>
            <a:endParaRPr lang="en-US" sz="950" dirty="0"/>
          </a:p>
        </p:txBody>
      </p:sp>
      <p:sp>
        <p:nvSpPr>
          <p:cNvPr id="20" name="Shape 18"/>
          <p:cNvSpPr/>
          <p:nvPr/>
        </p:nvSpPr>
        <p:spPr>
          <a:xfrm>
            <a:off x="7498080" y="2743200"/>
            <a:ext cx="3749040" cy="1280160"/>
          </a:xfrm>
          <a:prstGeom prst="roundRect">
            <a:avLst>
              <a:gd name="adj" fmla="val 7143"/>
            </a:avLst>
          </a:prstGeom>
          <a:solidFill>
            <a:srgbClr val="15181D"/>
          </a:solidFill>
          <a:ln w="12700">
            <a:solidFill>
              <a:srgbClr val="262B33"/>
            </a:solidFill>
            <a:prstDash val="solid"/>
          </a:ln>
        </p:spPr>
      </p:sp>
      <p:sp>
        <p:nvSpPr>
          <p:cNvPr id="21" name="Text 19"/>
          <p:cNvSpPr txBox="1"/>
          <p:nvPr/>
        </p:nvSpPr>
        <p:spPr>
          <a:xfrm>
            <a:off x="7680960" y="2880360"/>
            <a:ext cx="3383280" cy="502920"/>
          </a:xfrm>
          <a:prstGeom prst="rect">
            <a:avLst/>
          </a:prstGeom>
          <a:noFill/>
          <a:ln/>
        </p:spPr>
        <p:txBody>
          <a:bodyPr wrap="square" lIns="0" tIns="0" rIns="0" bIns="0" rtlCol="0" anchor="ctr"/>
          <a:lstStyle/>
          <a:p>
            <a:pPr marL="0" indent="0">
              <a:lnSpc>
                <a:spcPct val="115000"/>
              </a:lnSpc>
              <a:buNone/>
            </a:pPr>
            <a:r>
              <a:rPr lang="en-US" sz="1250" b="1" dirty="0">
                <a:solidFill>
                  <a:srgbClr val="FFFFFF"/>
                </a:solidFill>
                <a:latin typeface="Arial" pitchFamily="34" charset="0"/>
                <a:ea typeface="Arial" pitchFamily="34" charset="-122"/>
                <a:cs typeface="Arial" pitchFamily="34" charset="-120"/>
              </a:rPr>
              <a:t>Bạn hài lòng với trải nghiệm hôm nay?</a:t>
            </a:r>
            <a:endParaRPr lang="en-US" sz="1250" dirty="0"/>
          </a:p>
        </p:txBody>
      </p:sp>
      <p:sp>
        <p:nvSpPr>
          <p:cNvPr id="22" name="Text 20"/>
          <p:cNvSpPr txBox="1"/>
          <p:nvPr/>
        </p:nvSpPr>
        <p:spPr>
          <a:xfrm>
            <a:off x="7680960" y="3429000"/>
            <a:ext cx="3383280" cy="457200"/>
          </a:xfrm>
          <a:prstGeom prst="rect">
            <a:avLst/>
          </a:prstGeom>
          <a:noFill/>
          <a:ln/>
        </p:spPr>
        <p:txBody>
          <a:bodyPr wrap="square" lIns="0" tIns="0" rIns="0" bIns="0" rtlCol="0" anchor="ctr"/>
          <a:lstStyle/>
          <a:p>
            <a:pPr marL="0" indent="0">
              <a:buNone/>
            </a:pPr>
            <a:r>
              <a:rPr lang="en-US" sz="2000" b="1" dirty="0">
                <a:solidFill>
                  <a:srgbClr val="F5A623"/>
                </a:solidFill>
                <a:latin typeface="Arial" pitchFamily="34" charset="0"/>
                <a:ea typeface="Arial" pitchFamily="34" charset="-122"/>
                <a:cs typeface="Arial" pitchFamily="34" charset="-120"/>
              </a:rPr>
              <a:t>★ ★ ★ ★ ★</a:t>
            </a:r>
            <a:endParaRPr lang="en-US" sz="2000" dirty="0"/>
          </a:p>
        </p:txBody>
      </p:sp>
      <p:sp>
        <p:nvSpPr>
          <p:cNvPr id="23" name="Shape 21"/>
          <p:cNvSpPr/>
          <p:nvPr/>
        </p:nvSpPr>
        <p:spPr>
          <a:xfrm rot="10800000">
            <a:off x="9299448" y="4069080"/>
            <a:ext cx="146304" cy="182880"/>
          </a:xfrm>
          <a:prstGeom prst="triangle">
            <a:avLst/>
          </a:prstGeom>
          <a:solidFill>
            <a:srgbClr val="82888F"/>
          </a:solidFill>
          <a:ln/>
        </p:spPr>
      </p:sp>
      <p:sp>
        <p:nvSpPr>
          <p:cNvPr id="24" name="Shape 22"/>
          <p:cNvSpPr/>
          <p:nvPr/>
        </p:nvSpPr>
        <p:spPr>
          <a:xfrm>
            <a:off x="7498080" y="4343400"/>
            <a:ext cx="3749040" cy="1280160"/>
          </a:xfrm>
          <a:prstGeom prst="roundRect">
            <a:avLst>
              <a:gd name="adj" fmla="val 7143"/>
            </a:avLst>
          </a:prstGeom>
          <a:solidFill>
            <a:srgbClr val="15181D"/>
          </a:solidFill>
          <a:ln w="12700">
            <a:solidFill>
              <a:srgbClr val="E5555C"/>
            </a:solidFill>
            <a:prstDash val="solid"/>
          </a:ln>
        </p:spPr>
      </p:sp>
      <p:sp>
        <p:nvSpPr>
          <p:cNvPr id="25" name="Text 23"/>
          <p:cNvSpPr txBox="1"/>
          <p:nvPr/>
        </p:nvSpPr>
        <p:spPr>
          <a:xfrm>
            <a:off x="7680960" y="4480560"/>
            <a:ext cx="3383280" cy="365760"/>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Điều gì khiến bạn chưa hài lòng?</a:t>
            </a:r>
            <a:endParaRPr lang="en-US" sz="1200" dirty="0"/>
          </a:p>
        </p:txBody>
      </p:sp>
      <p:sp>
        <p:nvSpPr>
          <p:cNvPr id="26" name="Shape 24"/>
          <p:cNvSpPr/>
          <p:nvPr/>
        </p:nvSpPr>
        <p:spPr>
          <a:xfrm>
            <a:off x="7680960" y="4892040"/>
            <a:ext cx="1554480" cy="310896"/>
          </a:xfrm>
          <a:prstGeom prst="roundRect">
            <a:avLst>
              <a:gd name="adj" fmla="val 50000"/>
            </a:avLst>
          </a:prstGeom>
          <a:solidFill>
            <a:srgbClr val="371619"/>
          </a:solidFill>
          <a:ln w="12700">
            <a:solidFill>
              <a:srgbClr val="E5555C"/>
            </a:solidFill>
            <a:prstDash val="solid"/>
          </a:ln>
        </p:spPr>
      </p:sp>
      <p:sp>
        <p:nvSpPr>
          <p:cNvPr id="27" name="Text 25"/>
          <p:cNvSpPr txBox="1"/>
          <p:nvPr/>
        </p:nvSpPr>
        <p:spPr>
          <a:xfrm>
            <a:off x="7726680" y="4892040"/>
            <a:ext cx="1463040" cy="310896"/>
          </a:xfrm>
          <a:prstGeom prst="rect">
            <a:avLst/>
          </a:prstGeom>
          <a:noFill/>
          <a:ln/>
        </p:spPr>
        <p:txBody>
          <a:bodyPr wrap="square" lIns="0" tIns="0" rIns="0" bIns="0" rtlCol="0" anchor="ctr"/>
          <a:lstStyle/>
          <a:p>
            <a:pPr marL="0" indent="0" algn="ctr">
              <a:buNone/>
            </a:pPr>
            <a:r>
              <a:rPr lang="en-US" sz="1050" b="1" dirty="0">
                <a:solidFill>
                  <a:srgbClr val="FFD7D9"/>
                </a:solidFill>
                <a:latin typeface="Calibri" pitchFamily="34" charset="0"/>
                <a:ea typeface="Calibri" pitchFamily="34" charset="-122"/>
                <a:cs typeface="Calibri" pitchFamily="34" charset="-120"/>
              </a:rPr>
              <a:t>F&amp;B</a:t>
            </a:r>
            <a:endParaRPr lang="en-US" sz="1050" dirty="0"/>
          </a:p>
        </p:txBody>
      </p:sp>
      <p:sp>
        <p:nvSpPr>
          <p:cNvPr id="28" name="Shape 26"/>
          <p:cNvSpPr/>
          <p:nvPr/>
        </p:nvSpPr>
        <p:spPr>
          <a:xfrm>
            <a:off x="9509760" y="4892040"/>
            <a:ext cx="1554480" cy="310896"/>
          </a:xfrm>
          <a:prstGeom prst="roundRect">
            <a:avLst>
              <a:gd name="adj" fmla="val 50000"/>
            </a:avLst>
          </a:prstGeom>
          <a:solidFill>
            <a:srgbClr val="371619"/>
          </a:solidFill>
          <a:ln w="12700">
            <a:solidFill>
              <a:srgbClr val="E5555C"/>
            </a:solidFill>
            <a:prstDash val="solid"/>
          </a:ln>
        </p:spPr>
      </p:sp>
      <p:sp>
        <p:nvSpPr>
          <p:cNvPr id="29" name="Text 27"/>
          <p:cNvSpPr txBox="1"/>
          <p:nvPr/>
        </p:nvSpPr>
        <p:spPr>
          <a:xfrm>
            <a:off x="9555480" y="4892040"/>
            <a:ext cx="1463040" cy="310896"/>
          </a:xfrm>
          <a:prstGeom prst="rect">
            <a:avLst/>
          </a:prstGeom>
          <a:noFill/>
          <a:ln/>
        </p:spPr>
        <p:txBody>
          <a:bodyPr wrap="square" lIns="0" tIns="0" rIns="0" bIns="0" rtlCol="0" anchor="ctr"/>
          <a:lstStyle/>
          <a:p>
            <a:pPr marL="0" indent="0" algn="ctr">
              <a:buNone/>
            </a:pPr>
            <a:r>
              <a:rPr lang="en-US" sz="1050" b="1" dirty="0">
                <a:solidFill>
                  <a:srgbClr val="FFD7D9"/>
                </a:solidFill>
                <a:latin typeface="Calibri" pitchFamily="34" charset="0"/>
                <a:ea typeface="Calibri" pitchFamily="34" charset="-122"/>
                <a:cs typeface="Calibri" pitchFamily="34" charset="-120"/>
              </a:rPr>
              <a:t>Nhân viên</a:t>
            </a:r>
            <a:endParaRPr lang="en-US" sz="1050" dirty="0"/>
          </a:p>
        </p:txBody>
      </p:sp>
      <p:sp>
        <p:nvSpPr>
          <p:cNvPr id="30" name="Shape 28"/>
          <p:cNvSpPr/>
          <p:nvPr/>
        </p:nvSpPr>
        <p:spPr>
          <a:xfrm>
            <a:off x="7680960" y="5276088"/>
            <a:ext cx="1554480" cy="310896"/>
          </a:xfrm>
          <a:prstGeom prst="roundRect">
            <a:avLst>
              <a:gd name="adj" fmla="val 50000"/>
            </a:avLst>
          </a:prstGeom>
          <a:solidFill>
            <a:srgbClr val="371619"/>
          </a:solidFill>
          <a:ln w="12700">
            <a:solidFill>
              <a:srgbClr val="E5555C"/>
            </a:solidFill>
            <a:prstDash val="solid"/>
          </a:ln>
        </p:spPr>
      </p:sp>
      <p:sp>
        <p:nvSpPr>
          <p:cNvPr id="31" name="Text 29"/>
          <p:cNvSpPr txBox="1"/>
          <p:nvPr/>
        </p:nvSpPr>
        <p:spPr>
          <a:xfrm>
            <a:off x="7726680" y="5276088"/>
            <a:ext cx="1463040" cy="310896"/>
          </a:xfrm>
          <a:prstGeom prst="rect">
            <a:avLst/>
          </a:prstGeom>
          <a:noFill/>
          <a:ln/>
        </p:spPr>
        <p:txBody>
          <a:bodyPr wrap="square" lIns="0" tIns="0" rIns="0" bIns="0" rtlCol="0" anchor="ctr"/>
          <a:lstStyle/>
          <a:p>
            <a:pPr marL="0" indent="0" algn="ctr">
              <a:buNone/>
            </a:pPr>
            <a:r>
              <a:rPr lang="en-US" sz="1050" b="1" dirty="0">
                <a:solidFill>
                  <a:srgbClr val="FFD7D9"/>
                </a:solidFill>
                <a:latin typeface="Calibri" pitchFamily="34" charset="0"/>
                <a:ea typeface="Calibri" pitchFamily="34" charset="-122"/>
                <a:cs typeface="Calibri" pitchFamily="34" charset="-120"/>
              </a:rPr>
              <a:t>Vệ sinh</a:t>
            </a:r>
            <a:endParaRPr lang="en-US" sz="1050" dirty="0"/>
          </a:p>
        </p:txBody>
      </p:sp>
      <p:sp>
        <p:nvSpPr>
          <p:cNvPr id="32" name="Shape 30"/>
          <p:cNvSpPr/>
          <p:nvPr/>
        </p:nvSpPr>
        <p:spPr>
          <a:xfrm>
            <a:off x="9509760" y="5276088"/>
            <a:ext cx="1554480" cy="310896"/>
          </a:xfrm>
          <a:prstGeom prst="roundRect">
            <a:avLst>
              <a:gd name="adj" fmla="val 50000"/>
            </a:avLst>
          </a:prstGeom>
          <a:solidFill>
            <a:srgbClr val="371619"/>
          </a:solidFill>
          <a:ln w="12700">
            <a:solidFill>
              <a:srgbClr val="E5555C"/>
            </a:solidFill>
            <a:prstDash val="solid"/>
          </a:ln>
        </p:spPr>
      </p:sp>
      <p:sp>
        <p:nvSpPr>
          <p:cNvPr id="33" name="Text 31"/>
          <p:cNvSpPr txBox="1"/>
          <p:nvPr/>
        </p:nvSpPr>
        <p:spPr>
          <a:xfrm>
            <a:off x="9555480" y="5276088"/>
            <a:ext cx="1463040" cy="310896"/>
          </a:xfrm>
          <a:prstGeom prst="rect">
            <a:avLst/>
          </a:prstGeom>
          <a:noFill/>
          <a:ln/>
        </p:spPr>
        <p:txBody>
          <a:bodyPr wrap="square" lIns="0" tIns="0" rIns="0" bIns="0" rtlCol="0" anchor="ctr"/>
          <a:lstStyle/>
          <a:p>
            <a:pPr marL="0" indent="0" algn="ctr">
              <a:buNone/>
            </a:pPr>
            <a:r>
              <a:rPr lang="en-US" sz="1050" b="1" dirty="0">
                <a:solidFill>
                  <a:srgbClr val="FFD7D9"/>
                </a:solidFill>
                <a:latin typeface="Calibri" pitchFamily="34" charset="0"/>
                <a:ea typeface="Calibri" pitchFamily="34" charset="-122"/>
                <a:cs typeface="Calibri" pitchFamily="34" charset="-120"/>
              </a:rPr>
              <a:t>Khác</a:t>
            </a:r>
            <a:endParaRPr lang="en-US" sz="1050" dirty="0"/>
          </a:p>
        </p:txBody>
      </p:sp>
      <p:sp>
        <p:nvSpPr>
          <p:cNvPr id="34" name="Shape 32"/>
          <p:cNvSpPr/>
          <p:nvPr/>
        </p:nvSpPr>
        <p:spPr>
          <a:xfrm>
            <a:off x="640080" y="6382512"/>
            <a:ext cx="10908792" cy="0"/>
          </a:xfrm>
          <a:prstGeom prst="line">
            <a:avLst/>
          </a:prstGeom>
          <a:noFill/>
          <a:ln w="9525">
            <a:solidFill>
              <a:srgbClr val="262B33"/>
            </a:solidFill>
            <a:prstDash val="solid"/>
          </a:ln>
        </p:spPr>
      </p:sp>
      <p:sp>
        <p:nvSpPr>
          <p:cNvPr id="35" name="Text 33"/>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Calibri" pitchFamily="34" charset="0"/>
                <a:ea typeface="Calibri" pitchFamily="34" charset="-122"/>
                <a:cs typeface="Calibri" pitchFamily="34" charset="-120"/>
              </a:rPr>
              <a:t>SOLUTION 03 — LISTEN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AB4313-2640-F867-856F-EB5800840BCF}"/>
              </a:ext>
            </a:extLst>
          </p:cNvPr>
          <p:cNvPicPr>
            <a:picLocks noChangeAspect="1"/>
          </p:cNvPicPr>
          <p:nvPr/>
        </p:nvPicPr>
        <p:blipFill>
          <a:blip r:embed="rId2"/>
          <a:stretch>
            <a:fillRect/>
          </a:stretch>
        </p:blipFill>
        <p:spPr>
          <a:xfrm>
            <a:off x="-1" y="71718"/>
            <a:ext cx="14318056" cy="6786282"/>
          </a:xfrm>
          <a:prstGeom prst="rect">
            <a:avLst/>
          </a:prstGeom>
        </p:spPr>
      </p:pic>
    </p:spTree>
    <p:extLst>
      <p:ext uri="{BB962C8B-B14F-4D97-AF65-F5344CB8AC3E}">
        <p14:creationId xmlns:p14="http://schemas.microsoft.com/office/powerpoint/2010/main" val="269728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itchFamily="34" charset="0"/>
                <a:ea typeface="Arial" pitchFamily="34" charset="-122"/>
                <a:cs typeface="Arial" pitchFamily="34" charset="-120"/>
              </a:rPr>
              <a:t>LOBBY LOOP</a:t>
            </a:r>
            <a:endParaRPr lang="en-US" sz="1050" dirty="0"/>
          </a:p>
        </p:txBody>
      </p:sp>
      <p:sp>
        <p:nvSpPr>
          <p:cNvPr id="3" name="Text 1"/>
          <p:cNvSpPr txBox="1"/>
          <p:nvPr/>
        </p:nvSpPr>
        <p:spPr>
          <a:xfrm>
            <a:off x="281492" y="374904"/>
            <a:ext cx="8229600" cy="292608"/>
          </a:xfrm>
          <a:prstGeom prst="rect">
            <a:avLst/>
          </a:prstGeom>
          <a:noFill/>
          <a:ln/>
        </p:spPr>
        <p:txBody>
          <a:bodyPr wrap="square" lIns="0" tIns="0" rIns="0" bIns="0" rtlCol="0" anchor="ctr"/>
          <a:lstStyle/>
          <a:p>
            <a:pPr marL="0" indent="0">
              <a:buNone/>
            </a:pPr>
            <a:r>
              <a:rPr lang="en-US" sz="2800" b="1" kern="0" spc="220" dirty="0">
                <a:solidFill>
                  <a:srgbClr val="F5A623"/>
                </a:solidFill>
                <a:latin typeface="Arial" pitchFamily="34" charset="0"/>
                <a:ea typeface="Arial" pitchFamily="34" charset="-122"/>
                <a:cs typeface="Arial" pitchFamily="34" charset="-120"/>
              </a:rPr>
              <a:t>TẤT CẢ TRONG MỘT LUỒNG</a:t>
            </a:r>
            <a:endParaRPr lang="en-US" sz="2800" dirty="0"/>
          </a:p>
        </p:txBody>
      </p:sp>
      <p:sp>
        <p:nvSpPr>
          <p:cNvPr id="4" name="Text 2"/>
          <p:cNvSpPr txBox="1"/>
          <p:nvPr/>
        </p:nvSpPr>
        <p:spPr>
          <a:xfrm>
            <a:off x="1310640" y="768096"/>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Arial" pitchFamily="34" charset="0"/>
                <a:ea typeface="Arial" pitchFamily="34" charset="-122"/>
                <a:cs typeface="Arial" pitchFamily="34" charset="-120"/>
              </a:rPr>
              <a:t>Ba </a:t>
            </a:r>
            <a:r>
              <a:rPr lang="en-US" sz="2400" b="1" dirty="0" err="1">
                <a:solidFill>
                  <a:srgbClr val="FFFFFF"/>
                </a:solidFill>
                <a:latin typeface="Arial" pitchFamily="34" charset="0"/>
                <a:ea typeface="Arial" pitchFamily="34" charset="-122"/>
                <a:cs typeface="Arial" pitchFamily="34" charset="-120"/>
              </a:rPr>
              <a:t>giải</a:t>
            </a:r>
            <a:r>
              <a:rPr lang="en-US" sz="2400" b="1" dirty="0">
                <a:solidFill>
                  <a:srgbClr val="FFFFFF"/>
                </a:solidFill>
                <a:latin typeface="Arial" pitchFamily="34" charset="0"/>
                <a:ea typeface="Arial" pitchFamily="34" charset="-122"/>
                <a:cs typeface="Arial" pitchFamily="34" charset="-120"/>
              </a:rPr>
              <a:t> </a:t>
            </a:r>
            <a:r>
              <a:rPr lang="en-US" sz="2400" b="1" dirty="0" err="1">
                <a:solidFill>
                  <a:srgbClr val="FFFFFF"/>
                </a:solidFill>
                <a:latin typeface="Arial" pitchFamily="34" charset="0"/>
                <a:ea typeface="Arial" pitchFamily="34" charset="-122"/>
                <a:cs typeface="Arial" pitchFamily="34" charset="-120"/>
              </a:rPr>
              <a:t>pháp</a:t>
            </a:r>
            <a:r>
              <a:rPr lang="vi-VN" sz="2400" b="1" dirty="0">
                <a:solidFill>
                  <a:srgbClr val="FFFFFF"/>
                </a:solidFill>
                <a:latin typeface="Arial" pitchFamily="34" charset="0"/>
                <a:ea typeface="Arial" pitchFamily="34" charset="-122"/>
                <a:cs typeface="Arial" pitchFamily="34" charset="-120"/>
              </a:rPr>
              <a:t> - </a:t>
            </a:r>
            <a:r>
              <a:rPr lang="en-US" sz="2400" b="1" dirty="0">
                <a:solidFill>
                  <a:srgbClr val="FFFFFF"/>
                </a:solidFill>
                <a:latin typeface="Arial" pitchFamily="34" charset="0"/>
                <a:ea typeface="Arial" pitchFamily="34" charset="-122"/>
                <a:cs typeface="Arial" pitchFamily="34" charset="-120"/>
              </a:rPr>
              <a:t> Một hệ thống vận hành.</a:t>
            </a:r>
            <a:endParaRPr lang="en-US" sz="2400" dirty="0"/>
          </a:p>
        </p:txBody>
      </p:sp>
      <p:sp>
        <p:nvSpPr>
          <p:cNvPr id="5" name="Shape 3"/>
          <p:cNvSpPr/>
          <p:nvPr/>
        </p:nvSpPr>
        <p:spPr>
          <a:xfrm>
            <a:off x="2468880" y="1965960"/>
            <a:ext cx="7315200" cy="868680"/>
          </a:xfrm>
          <a:prstGeom prst="roundRect">
            <a:avLst>
              <a:gd name="adj" fmla="val 10526"/>
            </a:avLst>
          </a:prstGeom>
          <a:solidFill>
            <a:srgbClr val="15181D"/>
          </a:solidFill>
          <a:ln w="12700">
            <a:solidFill>
              <a:srgbClr val="262B33"/>
            </a:solidFill>
            <a:prstDash val="solid"/>
          </a:ln>
        </p:spPr>
      </p:sp>
      <p:sp>
        <p:nvSpPr>
          <p:cNvPr id="6" name="Shape 4"/>
          <p:cNvSpPr/>
          <p:nvPr/>
        </p:nvSpPr>
        <p:spPr>
          <a:xfrm>
            <a:off x="2743200" y="2107692"/>
            <a:ext cx="585216" cy="585216"/>
          </a:xfrm>
          <a:prstGeom prst="ellipse">
            <a:avLst/>
          </a:prstGeom>
          <a:solidFill>
            <a:srgbClr val="1B1F26"/>
          </a:solidFill>
          <a:ln/>
        </p:spPr>
      </p:sp>
      <p:sp>
        <p:nvSpPr>
          <p:cNvPr id="7" name="Text 5"/>
          <p:cNvSpPr txBox="1"/>
          <p:nvPr/>
        </p:nvSpPr>
        <p:spPr>
          <a:xfrm>
            <a:off x="2743200" y="2107692"/>
            <a:ext cx="585216" cy="585216"/>
          </a:xfrm>
          <a:prstGeom prst="rect">
            <a:avLst/>
          </a:prstGeom>
          <a:noFill/>
          <a:ln/>
        </p:spPr>
        <p:txBody>
          <a:bodyPr wrap="square" lIns="0" tIns="0" rIns="0" bIns="0" rtlCol="0" anchor="ctr"/>
          <a:lstStyle/>
          <a:p>
            <a:pPr marL="0" indent="0" algn="ctr">
              <a:buNone/>
            </a:pPr>
            <a:r>
              <a:rPr lang="en-US" sz="1500" b="1" dirty="0">
                <a:solidFill>
                  <a:srgbClr val="F5A623"/>
                </a:solidFill>
                <a:latin typeface="Arial" pitchFamily="34" charset="0"/>
                <a:ea typeface="Arial" pitchFamily="34" charset="-122"/>
                <a:cs typeface="Arial" pitchFamily="34" charset="-120"/>
              </a:rPr>
              <a:t>01</a:t>
            </a:r>
            <a:endParaRPr lang="en-US" sz="1500" dirty="0"/>
          </a:p>
        </p:txBody>
      </p:sp>
      <p:sp>
        <p:nvSpPr>
          <p:cNvPr id="8" name="Text 6"/>
          <p:cNvSpPr txBox="1"/>
          <p:nvPr/>
        </p:nvSpPr>
        <p:spPr>
          <a:xfrm>
            <a:off x="3566160" y="2057400"/>
            <a:ext cx="2743200" cy="384048"/>
          </a:xfrm>
          <a:prstGeom prst="rect">
            <a:avLst/>
          </a:prstGeom>
          <a:noFill/>
          <a:ln/>
        </p:spPr>
        <p:txBody>
          <a:bodyPr wrap="square" lIns="0" tIns="0" rIns="0" bIns="0" rtlCol="0" anchor="ctr"/>
          <a:lstStyle/>
          <a:p>
            <a:pPr marL="0" indent="0">
              <a:buNone/>
            </a:pPr>
            <a:r>
              <a:rPr lang="en-US" sz="1900" b="1" kern="0" spc="100" dirty="0">
                <a:solidFill>
                  <a:srgbClr val="F5A623"/>
                </a:solidFill>
                <a:latin typeface="Arial" pitchFamily="34" charset="0"/>
                <a:ea typeface="Arial" pitchFamily="34" charset="-122"/>
                <a:cs typeface="Arial" pitchFamily="34" charset="-120"/>
              </a:rPr>
              <a:t>SELL</a:t>
            </a:r>
            <a:endParaRPr lang="en-US" sz="1900" dirty="0"/>
          </a:p>
        </p:txBody>
      </p:sp>
      <p:sp>
        <p:nvSpPr>
          <p:cNvPr id="9" name="Text 7"/>
          <p:cNvSpPr txBox="1"/>
          <p:nvPr/>
        </p:nvSpPr>
        <p:spPr>
          <a:xfrm>
            <a:off x="3566160" y="2441448"/>
            <a:ext cx="5943600" cy="347472"/>
          </a:xfrm>
          <a:prstGeom prst="rect">
            <a:avLst/>
          </a:prstGeom>
          <a:noFill/>
          <a:ln/>
        </p:spPr>
        <p:txBody>
          <a:bodyPr wrap="square" lIns="0" tIns="0" rIns="0" bIns="0" rtlCol="0" anchor="ctr"/>
          <a:lstStyle/>
          <a:p>
            <a:pPr marL="0" indent="0">
              <a:buNone/>
            </a:pPr>
            <a:r>
              <a:rPr lang="en-US" sz="1200" dirty="0">
                <a:solidFill>
                  <a:srgbClr val="C7CCD1"/>
                </a:solidFill>
                <a:latin typeface="Calibri" pitchFamily="34" charset="0"/>
                <a:ea typeface="Calibri" pitchFamily="34" charset="-122"/>
                <a:cs typeface="Calibri" pitchFamily="34" charset="-120"/>
              </a:rPr>
              <a:t>Đồng bộ POS &amp; Tablet Lobby có kiểm soát</a:t>
            </a:r>
            <a:endParaRPr lang="en-US" sz="1200" dirty="0"/>
          </a:p>
        </p:txBody>
      </p:sp>
      <p:sp>
        <p:nvSpPr>
          <p:cNvPr id="10" name="Shape 8"/>
          <p:cNvSpPr/>
          <p:nvPr/>
        </p:nvSpPr>
        <p:spPr>
          <a:xfrm rot="10800000">
            <a:off x="2977286" y="2862072"/>
            <a:ext cx="117043" cy="146304"/>
          </a:xfrm>
          <a:prstGeom prst="triangle">
            <a:avLst/>
          </a:prstGeom>
          <a:solidFill>
            <a:srgbClr val="82888F"/>
          </a:solidFill>
          <a:ln/>
        </p:spPr>
      </p:sp>
      <p:sp>
        <p:nvSpPr>
          <p:cNvPr id="11" name="Shape 9"/>
          <p:cNvSpPr/>
          <p:nvPr/>
        </p:nvSpPr>
        <p:spPr>
          <a:xfrm>
            <a:off x="2468880" y="3035808"/>
            <a:ext cx="7315200" cy="868680"/>
          </a:xfrm>
          <a:prstGeom prst="roundRect">
            <a:avLst>
              <a:gd name="adj" fmla="val 10526"/>
            </a:avLst>
          </a:prstGeom>
          <a:solidFill>
            <a:srgbClr val="15181D"/>
          </a:solidFill>
          <a:ln w="12700">
            <a:solidFill>
              <a:srgbClr val="262B33"/>
            </a:solidFill>
            <a:prstDash val="solid"/>
          </a:ln>
        </p:spPr>
      </p:sp>
      <p:sp>
        <p:nvSpPr>
          <p:cNvPr id="12" name="Shape 10"/>
          <p:cNvSpPr/>
          <p:nvPr/>
        </p:nvSpPr>
        <p:spPr>
          <a:xfrm>
            <a:off x="2743200" y="3177540"/>
            <a:ext cx="585216" cy="585216"/>
          </a:xfrm>
          <a:prstGeom prst="ellipse">
            <a:avLst/>
          </a:prstGeom>
          <a:solidFill>
            <a:srgbClr val="1B1F26"/>
          </a:solidFill>
          <a:ln/>
        </p:spPr>
      </p:sp>
      <p:sp>
        <p:nvSpPr>
          <p:cNvPr id="13" name="Text 11"/>
          <p:cNvSpPr txBox="1"/>
          <p:nvPr/>
        </p:nvSpPr>
        <p:spPr>
          <a:xfrm>
            <a:off x="2743200" y="3177540"/>
            <a:ext cx="585216" cy="585216"/>
          </a:xfrm>
          <a:prstGeom prst="rect">
            <a:avLst/>
          </a:prstGeom>
          <a:noFill/>
          <a:ln/>
        </p:spPr>
        <p:txBody>
          <a:bodyPr wrap="square" lIns="0" tIns="0" rIns="0" bIns="0" rtlCol="0" anchor="ctr"/>
          <a:lstStyle/>
          <a:p>
            <a:pPr marL="0" indent="0" algn="ctr">
              <a:buNone/>
            </a:pPr>
            <a:r>
              <a:rPr lang="en-US" sz="1500" b="1" dirty="0">
                <a:solidFill>
                  <a:srgbClr val="34D399"/>
                </a:solidFill>
                <a:latin typeface="Arial" pitchFamily="34" charset="0"/>
                <a:ea typeface="Arial" pitchFamily="34" charset="-122"/>
                <a:cs typeface="Arial" pitchFamily="34" charset="-120"/>
              </a:rPr>
              <a:t>02</a:t>
            </a:r>
            <a:endParaRPr lang="en-US" sz="1500" dirty="0"/>
          </a:p>
        </p:txBody>
      </p:sp>
      <p:sp>
        <p:nvSpPr>
          <p:cNvPr id="14" name="Text 12"/>
          <p:cNvSpPr txBox="1"/>
          <p:nvPr/>
        </p:nvSpPr>
        <p:spPr>
          <a:xfrm>
            <a:off x="3566160" y="3127248"/>
            <a:ext cx="2743200" cy="384048"/>
          </a:xfrm>
          <a:prstGeom prst="rect">
            <a:avLst/>
          </a:prstGeom>
          <a:noFill/>
          <a:ln/>
        </p:spPr>
        <p:txBody>
          <a:bodyPr wrap="square" lIns="0" tIns="0" rIns="0" bIns="0" rtlCol="0" anchor="ctr"/>
          <a:lstStyle/>
          <a:p>
            <a:pPr marL="0" indent="0">
              <a:buNone/>
            </a:pPr>
            <a:r>
              <a:rPr lang="en-US" sz="1900" b="1" kern="0" spc="100" dirty="0">
                <a:solidFill>
                  <a:srgbClr val="34D399"/>
                </a:solidFill>
                <a:latin typeface="Arial" pitchFamily="34" charset="0"/>
                <a:ea typeface="Arial" pitchFamily="34" charset="-122"/>
                <a:cs typeface="Arial" pitchFamily="34" charset="-120"/>
              </a:rPr>
              <a:t>AUTOMATE</a:t>
            </a:r>
            <a:endParaRPr lang="en-US" sz="1900" dirty="0"/>
          </a:p>
        </p:txBody>
      </p:sp>
      <p:sp>
        <p:nvSpPr>
          <p:cNvPr id="15" name="Text 13"/>
          <p:cNvSpPr txBox="1"/>
          <p:nvPr/>
        </p:nvSpPr>
        <p:spPr>
          <a:xfrm>
            <a:off x="3566160" y="3511296"/>
            <a:ext cx="5943600" cy="347472"/>
          </a:xfrm>
          <a:prstGeom prst="rect">
            <a:avLst/>
          </a:prstGeom>
          <a:noFill/>
          <a:ln/>
        </p:spPr>
        <p:txBody>
          <a:bodyPr wrap="square" lIns="0" tIns="0" rIns="0" bIns="0" rtlCol="0" anchor="ctr"/>
          <a:lstStyle/>
          <a:p>
            <a:pPr marL="0" indent="0">
              <a:buNone/>
            </a:pPr>
            <a:r>
              <a:rPr lang="en-US" sz="1200" dirty="0">
                <a:solidFill>
                  <a:srgbClr val="C7CCD1"/>
                </a:solidFill>
                <a:latin typeface="Calibri" pitchFamily="34" charset="0"/>
                <a:ea typeface="Calibri" pitchFamily="34" charset="-122"/>
                <a:cs typeface="Calibri" pitchFamily="34" charset="-120"/>
              </a:rPr>
              <a:t>Payment SUCCESS tự động kích hoạt Redeem</a:t>
            </a:r>
            <a:endParaRPr lang="en-US" sz="1200" dirty="0"/>
          </a:p>
        </p:txBody>
      </p:sp>
      <p:sp>
        <p:nvSpPr>
          <p:cNvPr id="16" name="Shape 14"/>
          <p:cNvSpPr/>
          <p:nvPr/>
        </p:nvSpPr>
        <p:spPr>
          <a:xfrm rot="10800000">
            <a:off x="2977286" y="3931920"/>
            <a:ext cx="117043" cy="146304"/>
          </a:xfrm>
          <a:prstGeom prst="triangle">
            <a:avLst/>
          </a:prstGeom>
          <a:solidFill>
            <a:srgbClr val="82888F"/>
          </a:solidFill>
          <a:ln/>
        </p:spPr>
      </p:sp>
      <p:sp>
        <p:nvSpPr>
          <p:cNvPr id="17" name="Shape 15"/>
          <p:cNvSpPr/>
          <p:nvPr/>
        </p:nvSpPr>
        <p:spPr>
          <a:xfrm>
            <a:off x="2468880" y="4105656"/>
            <a:ext cx="7315200" cy="868680"/>
          </a:xfrm>
          <a:prstGeom prst="roundRect">
            <a:avLst>
              <a:gd name="adj" fmla="val 10526"/>
            </a:avLst>
          </a:prstGeom>
          <a:solidFill>
            <a:srgbClr val="15181D"/>
          </a:solidFill>
          <a:ln w="12700">
            <a:solidFill>
              <a:srgbClr val="262B33"/>
            </a:solidFill>
            <a:prstDash val="solid"/>
          </a:ln>
        </p:spPr>
      </p:sp>
      <p:sp>
        <p:nvSpPr>
          <p:cNvPr id="18" name="Shape 16"/>
          <p:cNvSpPr/>
          <p:nvPr/>
        </p:nvSpPr>
        <p:spPr>
          <a:xfrm>
            <a:off x="2743200" y="4247388"/>
            <a:ext cx="585216" cy="585216"/>
          </a:xfrm>
          <a:prstGeom prst="ellipse">
            <a:avLst/>
          </a:prstGeom>
          <a:solidFill>
            <a:srgbClr val="1B1F26"/>
          </a:solidFill>
          <a:ln/>
        </p:spPr>
      </p:sp>
      <p:sp>
        <p:nvSpPr>
          <p:cNvPr id="19" name="Text 17"/>
          <p:cNvSpPr txBox="1"/>
          <p:nvPr/>
        </p:nvSpPr>
        <p:spPr>
          <a:xfrm>
            <a:off x="2743200" y="4247388"/>
            <a:ext cx="585216" cy="585216"/>
          </a:xfrm>
          <a:prstGeom prst="rect">
            <a:avLst/>
          </a:prstGeom>
          <a:noFill/>
          <a:ln/>
        </p:spPr>
        <p:txBody>
          <a:bodyPr wrap="square" lIns="0" tIns="0" rIns="0" bIns="0" rtlCol="0" anchor="ctr"/>
          <a:lstStyle/>
          <a:p>
            <a:pPr marL="0" indent="0" algn="ctr">
              <a:buNone/>
            </a:pPr>
            <a:r>
              <a:rPr lang="en-US" sz="1500" b="1" dirty="0">
                <a:solidFill>
                  <a:srgbClr val="F5A623"/>
                </a:solidFill>
                <a:latin typeface="Arial" pitchFamily="34" charset="0"/>
                <a:ea typeface="Arial" pitchFamily="34" charset="-122"/>
                <a:cs typeface="Arial" pitchFamily="34" charset="-120"/>
              </a:rPr>
              <a:t>03</a:t>
            </a:r>
            <a:endParaRPr lang="en-US" sz="1500" dirty="0"/>
          </a:p>
        </p:txBody>
      </p:sp>
      <p:sp>
        <p:nvSpPr>
          <p:cNvPr id="20" name="Text 18"/>
          <p:cNvSpPr txBox="1"/>
          <p:nvPr/>
        </p:nvSpPr>
        <p:spPr>
          <a:xfrm>
            <a:off x="3566160" y="4197096"/>
            <a:ext cx="2743200" cy="384048"/>
          </a:xfrm>
          <a:prstGeom prst="rect">
            <a:avLst/>
          </a:prstGeom>
          <a:noFill/>
          <a:ln/>
        </p:spPr>
        <p:txBody>
          <a:bodyPr wrap="square" lIns="0" tIns="0" rIns="0" bIns="0" rtlCol="0" anchor="ctr"/>
          <a:lstStyle/>
          <a:p>
            <a:pPr marL="0" indent="0">
              <a:buNone/>
            </a:pPr>
            <a:r>
              <a:rPr lang="en-US" sz="1900" b="1" kern="0" spc="100" dirty="0">
                <a:solidFill>
                  <a:srgbClr val="F5A623"/>
                </a:solidFill>
                <a:latin typeface="Arial" pitchFamily="34" charset="0"/>
                <a:ea typeface="Arial" pitchFamily="34" charset="-122"/>
                <a:cs typeface="Arial" pitchFamily="34" charset="-120"/>
              </a:rPr>
              <a:t>LISTEN</a:t>
            </a:r>
            <a:endParaRPr lang="en-US" sz="1900" dirty="0"/>
          </a:p>
        </p:txBody>
      </p:sp>
      <p:sp>
        <p:nvSpPr>
          <p:cNvPr id="21" name="Text 19"/>
          <p:cNvSpPr txBox="1"/>
          <p:nvPr/>
        </p:nvSpPr>
        <p:spPr>
          <a:xfrm>
            <a:off x="3566160" y="4581144"/>
            <a:ext cx="5943600" cy="347472"/>
          </a:xfrm>
          <a:prstGeom prst="rect">
            <a:avLst/>
          </a:prstGeom>
          <a:noFill/>
          <a:ln/>
        </p:spPr>
        <p:txBody>
          <a:bodyPr wrap="square" lIns="0" tIns="0" rIns="0" bIns="0" rtlCol="0" anchor="ctr"/>
          <a:lstStyle/>
          <a:p>
            <a:pPr marL="0" indent="0">
              <a:buNone/>
            </a:pPr>
            <a:r>
              <a:rPr lang="en-US" sz="1200" dirty="0">
                <a:solidFill>
                  <a:srgbClr val="C7CCD1"/>
                </a:solidFill>
                <a:latin typeface="Calibri" pitchFamily="34" charset="0"/>
                <a:ea typeface="Calibri" pitchFamily="34" charset="-122"/>
                <a:cs typeface="Calibri" pitchFamily="34" charset="-120"/>
              </a:rPr>
              <a:t>QR Feedback ngắn gọn, hỏi đúng trọng tâm</a:t>
            </a:r>
            <a:endParaRPr lang="en-US" sz="1200" dirty="0"/>
          </a:p>
        </p:txBody>
      </p:sp>
      <p:sp>
        <p:nvSpPr>
          <p:cNvPr id="22" name="Shape 20"/>
          <p:cNvSpPr/>
          <p:nvPr/>
        </p:nvSpPr>
        <p:spPr>
          <a:xfrm>
            <a:off x="2468880" y="5266944"/>
            <a:ext cx="7315200" cy="640080"/>
          </a:xfrm>
          <a:prstGeom prst="roundRect">
            <a:avLst>
              <a:gd name="adj" fmla="val 12857"/>
            </a:avLst>
          </a:prstGeom>
          <a:solidFill>
            <a:srgbClr val="3A2E14"/>
          </a:solidFill>
          <a:ln w="12700">
            <a:solidFill>
              <a:srgbClr val="F5A623"/>
            </a:solidFill>
            <a:prstDash val="solid"/>
          </a:ln>
        </p:spPr>
      </p:sp>
      <p:sp>
        <p:nvSpPr>
          <p:cNvPr id="23" name="Text 21"/>
          <p:cNvSpPr txBox="1"/>
          <p:nvPr/>
        </p:nvSpPr>
        <p:spPr>
          <a:xfrm>
            <a:off x="2788920" y="5266944"/>
            <a:ext cx="6675120" cy="640080"/>
          </a:xfrm>
          <a:prstGeom prst="rect">
            <a:avLst/>
          </a:prstGeom>
          <a:noFill/>
          <a:ln/>
        </p:spPr>
        <p:txBody>
          <a:bodyPr wrap="square" lIns="0" tIns="0" rIns="0" bIns="0" rtlCol="0" anchor="ctr"/>
          <a:lstStyle/>
          <a:p>
            <a:pPr marL="0" indent="0" algn="l">
              <a:buNone/>
            </a:pPr>
            <a:r>
              <a:rPr lang="en-US" sz="1300" i="1" dirty="0">
                <a:solidFill>
                  <a:srgbClr val="FFE8C2"/>
                </a:solidFill>
                <a:latin typeface="Arial" pitchFamily="34" charset="0"/>
                <a:ea typeface="Arial" pitchFamily="34" charset="-122"/>
                <a:cs typeface="Arial" pitchFamily="34" charset="-120"/>
              </a:rPr>
              <a:t>Không phải 3 sáng kiến riêng biệt — mà là một luồng vận hành liền mạch, từ bán hàng đến vận hành đến trải nghiệm khách.</a:t>
            </a:r>
            <a:endParaRPr lang="en-US" sz="1300" dirty="0"/>
          </a:p>
        </p:txBody>
      </p:sp>
      <p:sp>
        <p:nvSpPr>
          <p:cNvPr id="24" name="Shape 22"/>
          <p:cNvSpPr/>
          <p:nvPr/>
        </p:nvSpPr>
        <p:spPr>
          <a:xfrm>
            <a:off x="640080" y="6382512"/>
            <a:ext cx="10908792" cy="0"/>
          </a:xfrm>
          <a:prstGeom prst="line">
            <a:avLst/>
          </a:prstGeom>
          <a:noFill/>
          <a:ln w="9525">
            <a:solidFill>
              <a:srgbClr val="262B33"/>
            </a:solidFill>
            <a:prstDash val="solid"/>
          </a:ln>
        </p:spPr>
      </p:sp>
      <p:sp>
        <p:nvSpPr>
          <p:cNvPr id="25" name="Text 23"/>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Calibri" pitchFamily="34" charset="0"/>
                <a:ea typeface="Calibri" pitchFamily="34" charset="-122"/>
                <a:cs typeface="Calibri" pitchFamily="34" charset="-120"/>
              </a:rPr>
              <a:t>THE SYSTEM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itchFamily="34" charset="0"/>
                <a:ea typeface="Arial" pitchFamily="34" charset="-122"/>
                <a:cs typeface="Arial" pitchFamily="34" charset="-120"/>
              </a:rPr>
              <a:t>LOBBY LOOP</a:t>
            </a:r>
            <a:endParaRPr lang="en-US" sz="1050" dirty="0"/>
          </a:p>
        </p:txBody>
      </p:sp>
      <p:sp>
        <p:nvSpPr>
          <p:cNvPr id="3" name="Text 1"/>
          <p:cNvSpPr txBox="1"/>
          <p:nvPr/>
        </p:nvSpPr>
        <p:spPr>
          <a:xfrm>
            <a:off x="-1837766" y="658368"/>
            <a:ext cx="6400801" cy="292608"/>
          </a:xfrm>
          <a:prstGeom prst="rect">
            <a:avLst/>
          </a:prstGeom>
          <a:noFill/>
          <a:ln/>
        </p:spPr>
        <p:txBody>
          <a:bodyPr wrap="square" lIns="0" tIns="0" rIns="0" bIns="0" rtlCol="0" anchor="ctr"/>
          <a:lstStyle/>
          <a:p>
            <a:pPr marL="0" indent="0" algn="ctr">
              <a:buNone/>
            </a:pPr>
            <a:r>
              <a:rPr lang="en-US" sz="2800" b="1" kern="0" spc="220" dirty="0">
                <a:solidFill>
                  <a:schemeClr val="bg1"/>
                </a:solidFill>
                <a:latin typeface="Arial" pitchFamily="34" charset="0"/>
                <a:ea typeface="Arial" pitchFamily="34" charset="-122"/>
                <a:cs typeface="Arial" pitchFamily="34" charset="-120"/>
              </a:rPr>
              <a:t>SO SÁNH</a:t>
            </a:r>
            <a:endParaRPr lang="en-US" sz="2800" dirty="0">
              <a:solidFill>
                <a:schemeClr val="bg1"/>
              </a:solidFill>
            </a:endParaRPr>
          </a:p>
        </p:txBody>
      </p:sp>
      <p:sp>
        <p:nvSpPr>
          <p:cNvPr id="40" name="Text 38"/>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Calibri" pitchFamily="34" charset="0"/>
                <a:ea typeface="Calibri" pitchFamily="34" charset="-122"/>
                <a:cs typeface="Calibri" pitchFamily="34" charset="-120"/>
              </a:rPr>
              <a:t>BEFORE VS AFTER</a:t>
            </a:r>
            <a:endParaRPr lang="en-US" sz="900" dirty="0"/>
          </a:p>
        </p:txBody>
      </p:sp>
      <p:pic>
        <p:nvPicPr>
          <p:cNvPr id="49" name="Picture 48">
            <a:extLst>
              <a:ext uri="{FF2B5EF4-FFF2-40B4-BE49-F238E27FC236}">
                <a16:creationId xmlns:a16="http://schemas.microsoft.com/office/drawing/2014/main" id="{9B165ED2-CFCC-48A5-D40B-E8E54F4ADC89}"/>
              </a:ext>
            </a:extLst>
          </p:cNvPr>
          <p:cNvPicPr>
            <a:picLocks noChangeAspect="1"/>
          </p:cNvPicPr>
          <p:nvPr/>
        </p:nvPicPr>
        <p:blipFill>
          <a:blip r:embed="rId3"/>
          <a:stretch>
            <a:fillRect/>
          </a:stretch>
        </p:blipFill>
        <p:spPr>
          <a:xfrm>
            <a:off x="0" y="0"/>
            <a:ext cx="1200374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283464" y="415605"/>
            <a:ext cx="8229600" cy="292608"/>
          </a:xfrm>
          <a:prstGeom prst="rect">
            <a:avLst/>
          </a:prstGeom>
          <a:noFill/>
          <a:ln/>
        </p:spPr>
        <p:txBody>
          <a:bodyPr wrap="square" lIns="0" tIns="0" rIns="0" bIns="0" rtlCol="0" anchor="ctr"/>
          <a:lstStyle/>
          <a:p>
            <a:pPr marL="0" indent="0">
              <a:buNone/>
            </a:pPr>
            <a:r>
              <a:rPr lang="en-US" sz="2800" b="1" kern="0" spc="220" dirty="0">
                <a:solidFill>
                  <a:srgbClr val="F5A623"/>
                </a:solidFill>
                <a:latin typeface="Arial" panose="020B0604020202020204" pitchFamily="34" charset="0"/>
                <a:ea typeface="Arial" pitchFamily="34" charset="-122"/>
                <a:cs typeface="Arial" panose="020B0604020202020204" pitchFamily="34" charset="0"/>
              </a:rPr>
              <a:t>GIÁ TRỊ MANG LẠI</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640080" y="786384"/>
            <a:ext cx="10881360" cy="960120"/>
          </a:xfrm>
          <a:prstGeom prst="rect">
            <a:avLst/>
          </a:prstGeom>
          <a:noFill/>
          <a:ln/>
        </p:spPr>
        <p:txBody>
          <a:bodyPr wrap="square" lIns="0" tIns="0" rIns="0" bIns="0" rtlCol="0" anchor="ctr"/>
          <a:lstStyle/>
          <a:p>
            <a:pPr marL="0" indent="0">
              <a:lnSpc>
                <a:spcPct val="104000"/>
              </a:lnSpc>
              <a:buNone/>
            </a:pPr>
            <a:r>
              <a:rPr lang="en-US" sz="2400" b="1" dirty="0">
                <a:solidFill>
                  <a:srgbClr val="FFFFFF"/>
                </a:solidFill>
                <a:latin typeface="Arial" panose="020B0604020202020204" pitchFamily="34" charset="0"/>
                <a:ea typeface="Arial" pitchFamily="34" charset="-122"/>
                <a:cs typeface="Arial" panose="020B0604020202020204" pitchFamily="34" charset="0"/>
              </a:rPr>
              <a:t>Tác động tới vận hành &amp; kinh doanh</a:t>
            </a:r>
            <a:endParaRPr lang="en-US" sz="2400" dirty="0">
              <a:latin typeface="Arial" panose="020B0604020202020204" pitchFamily="34" charset="0"/>
              <a:cs typeface="Arial" panose="020B0604020202020204" pitchFamily="34" charset="0"/>
            </a:endParaRPr>
          </a:p>
        </p:txBody>
      </p:sp>
      <p:sp>
        <p:nvSpPr>
          <p:cNvPr id="5" name="Shape 3"/>
          <p:cNvSpPr/>
          <p:nvPr/>
        </p:nvSpPr>
        <p:spPr>
          <a:xfrm>
            <a:off x="640080" y="2286000"/>
            <a:ext cx="2029968" cy="3291840"/>
          </a:xfrm>
          <a:prstGeom prst="roundRect">
            <a:avLst>
              <a:gd name="adj" fmla="val 5405"/>
            </a:avLst>
          </a:prstGeom>
          <a:solidFill>
            <a:srgbClr val="15181D"/>
          </a:solidFill>
          <a:ln w="12700">
            <a:solidFill>
              <a:srgbClr val="262B33"/>
            </a:solidFill>
            <a:prstDash val="solid"/>
          </a:ln>
        </p:spPr>
      </p:sp>
      <p:sp>
        <p:nvSpPr>
          <p:cNvPr id="6" name="Shape 4"/>
          <p:cNvSpPr/>
          <p:nvPr/>
        </p:nvSpPr>
        <p:spPr>
          <a:xfrm>
            <a:off x="1271016" y="2606040"/>
            <a:ext cx="768096" cy="768096"/>
          </a:xfrm>
          <a:prstGeom prst="ellipse">
            <a:avLst/>
          </a:prstGeom>
          <a:solidFill>
            <a:srgbClr val="0F2A22"/>
          </a:solidFill>
          <a:ln w="15875">
            <a:solidFill>
              <a:srgbClr val="34D399"/>
            </a:solidFill>
            <a:prstDash val="solid"/>
          </a:ln>
        </p:spPr>
      </p:sp>
      <p:sp>
        <p:nvSpPr>
          <p:cNvPr id="7" name="Text 5"/>
          <p:cNvSpPr txBox="1"/>
          <p:nvPr/>
        </p:nvSpPr>
        <p:spPr>
          <a:xfrm>
            <a:off x="1271016" y="2606040"/>
            <a:ext cx="768096" cy="768096"/>
          </a:xfrm>
          <a:prstGeom prst="rect">
            <a:avLst/>
          </a:prstGeom>
          <a:noFill/>
          <a:ln/>
        </p:spPr>
        <p:txBody>
          <a:bodyPr wrap="square" lIns="0" tIns="0" rIns="0" bIns="0" rtlCol="0" anchor="ctr"/>
          <a:lstStyle/>
          <a:p>
            <a:pPr marL="0" indent="0" algn="ctr">
              <a:buNone/>
            </a:pPr>
            <a:r>
              <a:rPr lang="en-US" sz="3000" b="1" dirty="0">
                <a:solidFill>
                  <a:srgbClr val="34D399"/>
                </a:solidFill>
                <a:latin typeface="Arial" panose="020B0604020202020204" pitchFamily="34" charset="0"/>
                <a:ea typeface="Arial" pitchFamily="34" charset="-122"/>
                <a:cs typeface="Arial" panose="020B0604020202020204" pitchFamily="34" charset="0"/>
              </a:rPr>
              <a:t>↑</a:t>
            </a:r>
            <a:endParaRPr lang="en-US" sz="3000" dirty="0">
              <a:latin typeface="Arial" panose="020B0604020202020204" pitchFamily="34" charset="0"/>
              <a:cs typeface="Arial" panose="020B0604020202020204" pitchFamily="34" charset="0"/>
            </a:endParaRPr>
          </a:p>
        </p:txBody>
      </p:sp>
      <p:sp>
        <p:nvSpPr>
          <p:cNvPr id="8" name="Text 6"/>
          <p:cNvSpPr txBox="1"/>
          <p:nvPr/>
        </p:nvSpPr>
        <p:spPr>
          <a:xfrm>
            <a:off x="77724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Arial" panose="020B0604020202020204" pitchFamily="34" charset="0"/>
                <a:ea typeface="Arial" pitchFamily="34" charset="-122"/>
                <a:cs typeface="Arial" panose="020B0604020202020204" pitchFamily="34" charset="0"/>
              </a:rPr>
              <a:t>Doanh thu</a:t>
            </a:r>
            <a:endParaRPr lang="en-US" sz="1300" dirty="0">
              <a:latin typeface="Arial" panose="020B0604020202020204" pitchFamily="34" charset="0"/>
              <a:cs typeface="Arial" panose="020B0604020202020204" pitchFamily="34" charset="0"/>
            </a:endParaRPr>
          </a:p>
        </p:txBody>
      </p:sp>
      <p:sp>
        <p:nvSpPr>
          <p:cNvPr id="9" name="Shape 7"/>
          <p:cNvSpPr/>
          <p:nvPr/>
        </p:nvSpPr>
        <p:spPr>
          <a:xfrm>
            <a:off x="1380744" y="4297680"/>
            <a:ext cx="548640" cy="0"/>
          </a:xfrm>
          <a:prstGeom prst="line">
            <a:avLst/>
          </a:prstGeom>
          <a:noFill/>
          <a:ln w="15875">
            <a:solidFill>
              <a:srgbClr val="262B33"/>
            </a:solidFill>
            <a:prstDash val="solid"/>
          </a:ln>
        </p:spPr>
      </p:sp>
      <p:sp>
        <p:nvSpPr>
          <p:cNvPr id="10" name="Text 8"/>
          <p:cNvSpPr txBox="1"/>
          <p:nvPr/>
        </p:nvSpPr>
        <p:spPr>
          <a:xfrm>
            <a:off x="77724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Arial" panose="020B0604020202020204" pitchFamily="34" charset="0"/>
                <a:ea typeface="Calibri" pitchFamily="34" charset="-122"/>
                <a:cs typeface="Arial" panose="020B0604020202020204" pitchFamily="34" charset="0"/>
              </a:rPr>
              <a:t>Nhiều cơ hội bán hàng hơn</a:t>
            </a:r>
            <a:endParaRPr lang="en-US" sz="1200" dirty="0">
              <a:solidFill>
                <a:schemeClr val="bg1"/>
              </a:solidFill>
              <a:latin typeface="Arial" panose="020B0604020202020204" pitchFamily="34" charset="0"/>
              <a:cs typeface="Arial" panose="020B0604020202020204" pitchFamily="34" charset="0"/>
            </a:endParaRPr>
          </a:p>
        </p:txBody>
      </p:sp>
      <p:sp>
        <p:nvSpPr>
          <p:cNvPr id="11" name="Shape 9"/>
          <p:cNvSpPr/>
          <p:nvPr/>
        </p:nvSpPr>
        <p:spPr>
          <a:xfrm>
            <a:off x="2834640" y="2286000"/>
            <a:ext cx="2029968" cy="3291840"/>
          </a:xfrm>
          <a:prstGeom prst="roundRect">
            <a:avLst>
              <a:gd name="adj" fmla="val 5405"/>
            </a:avLst>
          </a:prstGeom>
          <a:solidFill>
            <a:srgbClr val="15181D"/>
          </a:solidFill>
          <a:ln w="12700">
            <a:solidFill>
              <a:srgbClr val="262B33"/>
            </a:solidFill>
            <a:prstDash val="solid"/>
          </a:ln>
        </p:spPr>
      </p:sp>
      <p:sp>
        <p:nvSpPr>
          <p:cNvPr id="12" name="Shape 10"/>
          <p:cNvSpPr/>
          <p:nvPr/>
        </p:nvSpPr>
        <p:spPr>
          <a:xfrm>
            <a:off x="3465576" y="2606040"/>
            <a:ext cx="768096" cy="768096"/>
          </a:xfrm>
          <a:prstGeom prst="ellipse">
            <a:avLst/>
          </a:prstGeom>
          <a:solidFill>
            <a:srgbClr val="3A2E14"/>
          </a:solidFill>
          <a:ln w="15875">
            <a:solidFill>
              <a:srgbClr val="F5A623"/>
            </a:solidFill>
            <a:prstDash val="solid"/>
          </a:ln>
        </p:spPr>
      </p:sp>
      <p:sp>
        <p:nvSpPr>
          <p:cNvPr id="13" name="Text 11"/>
          <p:cNvSpPr txBox="1"/>
          <p:nvPr/>
        </p:nvSpPr>
        <p:spPr>
          <a:xfrm>
            <a:off x="3465576" y="2606040"/>
            <a:ext cx="768096" cy="768096"/>
          </a:xfrm>
          <a:prstGeom prst="rect">
            <a:avLst/>
          </a:prstGeom>
          <a:noFill/>
          <a:ln/>
        </p:spPr>
        <p:txBody>
          <a:bodyPr wrap="square" lIns="0" tIns="0" rIns="0" bIns="0" rtlCol="0" anchor="ctr"/>
          <a:lstStyle/>
          <a:p>
            <a:pPr marL="0" indent="0" algn="ctr">
              <a:buNone/>
            </a:pPr>
            <a:r>
              <a:rPr lang="en-US" sz="3000" b="1" dirty="0">
                <a:solidFill>
                  <a:srgbClr val="F5A623"/>
                </a:solidFill>
                <a:latin typeface="Arial" panose="020B0604020202020204" pitchFamily="34" charset="0"/>
                <a:ea typeface="Arial" pitchFamily="34" charset="-122"/>
                <a:cs typeface="Arial" panose="020B0604020202020204" pitchFamily="34" charset="0"/>
              </a:rPr>
              <a:t>↓</a:t>
            </a:r>
            <a:endParaRPr lang="en-US" sz="3000" dirty="0">
              <a:latin typeface="Arial" panose="020B0604020202020204" pitchFamily="34" charset="0"/>
              <a:cs typeface="Arial" panose="020B0604020202020204" pitchFamily="34" charset="0"/>
            </a:endParaRPr>
          </a:p>
        </p:txBody>
      </p:sp>
      <p:sp>
        <p:nvSpPr>
          <p:cNvPr id="14" name="Text 12"/>
          <p:cNvSpPr txBox="1"/>
          <p:nvPr/>
        </p:nvSpPr>
        <p:spPr>
          <a:xfrm>
            <a:off x="297180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Arial" panose="020B0604020202020204" pitchFamily="34" charset="0"/>
                <a:ea typeface="Arial" pitchFamily="34" charset="-122"/>
                <a:cs typeface="Arial" panose="020B0604020202020204" pitchFamily="34" charset="0"/>
              </a:rPr>
              <a:t>Hoạt động</a:t>
            </a:r>
            <a:endParaRPr lang="en-US" sz="1300" dirty="0">
              <a:latin typeface="Arial" panose="020B0604020202020204" pitchFamily="34" charset="0"/>
              <a:cs typeface="Arial" panose="020B0604020202020204" pitchFamily="34" charset="0"/>
            </a:endParaRPr>
          </a:p>
        </p:txBody>
      </p:sp>
      <p:sp>
        <p:nvSpPr>
          <p:cNvPr id="15" name="Shape 13"/>
          <p:cNvSpPr/>
          <p:nvPr/>
        </p:nvSpPr>
        <p:spPr>
          <a:xfrm>
            <a:off x="3575304" y="4297680"/>
            <a:ext cx="548640" cy="0"/>
          </a:xfrm>
          <a:prstGeom prst="line">
            <a:avLst/>
          </a:prstGeom>
          <a:noFill/>
          <a:ln w="15875">
            <a:solidFill>
              <a:srgbClr val="262B33"/>
            </a:solidFill>
            <a:prstDash val="solid"/>
          </a:ln>
        </p:spPr>
      </p:sp>
      <p:sp>
        <p:nvSpPr>
          <p:cNvPr id="16" name="Text 14"/>
          <p:cNvSpPr txBox="1"/>
          <p:nvPr/>
        </p:nvSpPr>
        <p:spPr>
          <a:xfrm>
            <a:off x="297180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Arial" panose="020B0604020202020204" pitchFamily="34" charset="0"/>
                <a:ea typeface="Calibri" pitchFamily="34" charset="-122"/>
                <a:cs typeface="Arial" panose="020B0604020202020204" pitchFamily="34" charset="0"/>
              </a:rPr>
              <a:t>Ít thao tác thủ công hơn</a:t>
            </a:r>
            <a:endParaRPr lang="en-US" sz="1200" dirty="0">
              <a:solidFill>
                <a:schemeClr val="bg1"/>
              </a:solidFill>
              <a:latin typeface="Arial" panose="020B0604020202020204" pitchFamily="34" charset="0"/>
              <a:cs typeface="Arial" panose="020B0604020202020204" pitchFamily="34" charset="0"/>
            </a:endParaRPr>
          </a:p>
        </p:txBody>
      </p:sp>
      <p:sp>
        <p:nvSpPr>
          <p:cNvPr id="17" name="Shape 15"/>
          <p:cNvSpPr/>
          <p:nvPr/>
        </p:nvSpPr>
        <p:spPr>
          <a:xfrm>
            <a:off x="5029200" y="2286000"/>
            <a:ext cx="2029968" cy="3291840"/>
          </a:xfrm>
          <a:prstGeom prst="roundRect">
            <a:avLst>
              <a:gd name="adj" fmla="val 5405"/>
            </a:avLst>
          </a:prstGeom>
          <a:solidFill>
            <a:srgbClr val="15181D"/>
          </a:solidFill>
          <a:ln w="12700">
            <a:solidFill>
              <a:srgbClr val="262B33"/>
            </a:solidFill>
            <a:prstDash val="solid"/>
          </a:ln>
        </p:spPr>
      </p:sp>
      <p:sp>
        <p:nvSpPr>
          <p:cNvPr id="18" name="Shape 16"/>
          <p:cNvSpPr/>
          <p:nvPr/>
        </p:nvSpPr>
        <p:spPr>
          <a:xfrm>
            <a:off x="5660136" y="2606040"/>
            <a:ext cx="768096" cy="768096"/>
          </a:xfrm>
          <a:prstGeom prst="ellipse">
            <a:avLst/>
          </a:prstGeom>
          <a:solidFill>
            <a:srgbClr val="0F2A22"/>
          </a:solidFill>
          <a:ln w="15875">
            <a:solidFill>
              <a:srgbClr val="34D399"/>
            </a:solidFill>
            <a:prstDash val="solid"/>
          </a:ln>
        </p:spPr>
      </p:sp>
      <p:sp>
        <p:nvSpPr>
          <p:cNvPr id="19" name="Text 17"/>
          <p:cNvSpPr txBox="1"/>
          <p:nvPr/>
        </p:nvSpPr>
        <p:spPr>
          <a:xfrm>
            <a:off x="5660136" y="2606040"/>
            <a:ext cx="768096" cy="768096"/>
          </a:xfrm>
          <a:prstGeom prst="rect">
            <a:avLst/>
          </a:prstGeom>
          <a:noFill/>
          <a:ln/>
        </p:spPr>
        <p:txBody>
          <a:bodyPr wrap="square" lIns="0" tIns="0" rIns="0" bIns="0" rtlCol="0" anchor="ctr"/>
          <a:lstStyle/>
          <a:p>
            <a:pPr marL="0" indent="0" algn="ctr">
              <a:buNone/>
            </a:pPr>
            <a:r>
              <a:rPr lang="en-US" sz="3000" b="1" dirty="0">
                <a:solidFill>
                  <a:srgbClr val="34D399"/>
                </a:solidFill>
                <a:latin typeface="Arial" panose="020B0604020202020204" pitchFamily="34" charset="0"/>
                <a:ea typeface="Arial" pitchFamily="34" charset="-122"/>
                <a:cs typeface="Arial" panose="020B0604020202020204" pitchFamily="34" charset="0"/>
              </a:rPr>
              <a:t>↑</a:t>
            </a:r>
            <a:endParaRPr lang="en-US" sz="3000" dirty="0">
              <a:latin typeface="Arial" panose="020B0604020202020204" pitchFamily="34" charset="0"/>
              <a:cs typeface="Arial" panose="020B0604020202020204" pitchFamily="34" charset="0"/>
            </a:endParaRPr>
          </a:p>
        </p:txBody>
      </p:sp>
      <p:sp>
        <p:nvSpPr>
          <p:cNvPr id="20" name="Text 18"/>
          <p:cNvSpPr txBox="1"/>
          <p:nvPr/>
        </p:nvSpPr>
        <p:spPr>
          <a:xfrm>
            <a:off x="516636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Arial" panose="020B0604020202020204" pitchFamily="34" charset="0"/>
                <a:ea typeface="Arial" pitchFamily="34" charset="-122"/>
                <a:cs typeface="Arial" panose="020B0604020202020204" pitchFamily="34" charset="0"/>
              </a:rPr>
              <a:t>Sự chính xác</a:t>
            </a:r>
            <a:endParaRPr lang="en-US" sz="1300" dirty="0">
              <a:latin typeface="Arial" panose="020B0604020202020204" pitchFamily="34" charset="0"/>
              <a:cs typeface="Arial" panose="020B0604020202020204" pitchFamily="34" charset="0"/>
            </a:endParaRPr>
          </a:p>
        </p:txBody>
      </p:sp>
      <p:sp>
        <p:nvSpPr>
          <p:cNvPr id="21" name="Shape 19"/>
          <p:cNvSpPr/>
          <p:nvPr/>
        </p:nvSpPr>
        <p:spPr>
          <a:xfrm>
            <a:off x="5769864" y="4297680"/>
            <a:ext cx="548640" cy="0"/>
          </a:xfrm>
          <a:prstGeom prst="line">
            <a:avLst/>
          </a:prstGeom>
          <a:noFill/>
          <a:ln w="15875">
            <a:solidFill>
              <a:srgbClr val="262B33"/>
            </a:solidFill>
            <a:prstDash val="solid"/>
          </a:ln>
        </p:spPr>
      </p:sp>
      <p:sp>
        <p:nvSpPr>
          <p:cNvPr id="22" name="Text 20"/>
          <p:cNvSpPr txBox="1"/>
          <p:nvPr/>
        </p:nvSpPr>
        <p:spPr>
          <a:xfrm>
            <a:off x="516636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Arial" panose="020B0604020202020204" pitchFamily="34" charset="0"/>
                <a:ea typeface="Calibri" pitchFamily="34" charset="-122"/>
                <a:cs typeface="Arial" panose="020B0604020202020204" pitchFamily="34" charset="0"/>
              </a:rPr>
              <a:t>Tồn kho chính xác hơn</a:t>
            </a:r>
            <a:endParaRPr lang="en-US" sz="1200" dirty="0">
              <a:solidFill>
                <a:schemeClr val="bg1"/>
              </a:solidFill>
              <a:latin typeface="Arial" panose="020B0604020202020204" pitchFamily="34" charset="0"/>
              <a:cs typeface="Arial" panose="020B0604020202020204" pitchFamily="34" charset="0"/>
            </a:endParaRPr>
          </a:p>
        </p:txBody>
      </p:sp>
      <p:sp>
        <p:nvSpPr>
          <p:cNvPr id="23" name="Shape 21"/>
          <p:cNvSpPr/>
          <p:nvPr/>
        </p:nvSpPr>
        <p:spPr>
          <a:xfrm>
            <a:off x="7223760" y="2286000"/>
            <a:ext cx="2029968" cy="3291840"/>
          </a:xfrm>
          <a:prstGeom prst="roundRect">
            <a:avLst>
              <a:gd name="adj" fmla="val 5405"/>
            </a:avLst>
          </a:prstGeom>
          <a:solidFill>
            <a:srgbClr val="15181D"/>
          </a:solidFill>
          <a:ln w="12700">
            <a:solidFill>
              <a:srgbClr val="262B33"/>
            </a:solidFill>
            <a:prstDash val="solid"/>
          </a:ln>
        </p:spPr>
      </p:sp>
      <p:sp>
        <p:nvSpPr>
          <p:cNvPr id="24" name="Shape 22"/>
          <p:cNvSpPr/>
          <p:nvPr/>
        </p:nvSpPr>
        <p:spPr>
          <a:xfrm>
            <a:off x="7854696" y="2606040"/>
            <a:ext cx="768096" cy="768096"/>
          </a:xfrm>
          <a:prstGeom prst="ellipse">
            <a:avLst/>
          </a:prstGeom>
          <a:solidFill>
            <a:srgbClr val="0F2A22"/>
          </a:solidFill>
          <a:ln w="15875">
            <a:solidFill>
              <a:srgbClr val="34D399"/>
            </a:solidFill>
            <a:prstDash val="solid"/>
          </a:ln>
        </p:spPr>
      </p:sp>
      <p:sp>
        <p:nvSpPr>
          <p:cNvPr id="25" name="Text 23"/>
          <p:cNvSpPr txBox="1"/>
          <p:nvPr/>
        </p:nvSpPr>
        <p:spPr>
          <a:xfrm>
            <a:off x="7854696" y="2606040"/>
            <a:ext cx="768096" cy="768096"/>
          </a:xfrm>
          <a:prstGeom prst="rect">
            <a:avLst/>
          </a:prstGeom>
          <a:noFill/>
          <a:ln/>
        </p:spPr>
        <p:txBody>
          <a:bodyPr wrap="square" lIns="0" tIns="0" rIns="0" bIns="0" rtlCol="0" anchor="ctr"/>
          <a:lstStyle/>
          <a:p>
            <a:pPr marL="0" indent="0" algn="ctr">
              <a:buNone/>
            </a:pPr>
            <a:r>
              <a:rPr lang="en-US" sz="3000" b="1" dirty="0">
                <a:solidFill>
                  <a:srgbClr val="34D399"/>
                </a:solidFill>
                <a:latin typeface="Arial" panose="020B0604020202020204" pitchFamily="34" charset="0"/>
                <a:ea typeface="Arial" pitchFamily="34" charset="-122"/>
                <a:cs typeface="Arial" panose="020B0604020202020204" pitchFamily="34" charset="0"/>
              </a:rPr>
              <a:t>↑</a:t>
            </a:r>
            <a:endParaRPr lang="en-US" sz="3000" dirty="0">
              <a:latin typeface="Arial" panose="020B0604020202020204" pitchFamily="34" charset="0"/>
              <a:cs typeface="Arial" panose="020B0604020202020204" pitchFamily="34" charset="0"/>
            </a:endParaRPr>
          </a:p>
        </p:txBody>
      </p:sp>
      <p:sp>
        <p:nvSpPr>
          <p:cNvPr id="26" name="Text 24"/>
          <p:cNvSpPr txBox="1"/>
          <p:nvPr/>
        </p:nvSpPr>
        <p:spPr>
          <a:xfrm>
            <a:off x="736092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Arial" panose="020B0604020202020204" pitchFamily="34" charset="0"/>
                <a:ea typeface="Arial" pitchFamily="34" charset="-122"/>
                <a:cs typeface="Arial" panose="020B0604020202020204" pitchFamily="34" charset="0"/>
              </a:rPr>
              <a:t>Trải nghiệm khách hàng</a:t>
            </a:r>
            <a:endParaRPr lang="en-US" sz="1300" dirty="0">
              <a:latin typeface="Arial" panose="020B0604020202020204" pitchFamily="34" charset="0"/>
              <a:cs typeface="Arial" panose="020B0604020202020204" pitchFamily="34" charset="0"/>
            </a:endParaRPr>
          </a:p>
        </p:txBody>
      </p:sp>
      <p:sp>
        <p:nvSpPr>
          <p:cNvPr id="27" name="Shape 25"/>
          <p:cNvSpPr/>
          <p:nvPr/>
        </p:nvSpPr>
        <p:spPr>
          <a:xfrm>
            <a:off x="7964424" y="4297680"/>
            <a:ext cx="548640" cy="0"/>
          </a:xfrm>
          <a:prstGeom prst="line">
            <a:avLst/>
          </a:prstGeom>
          <a:noFill/>
          <a:ln w="15875">
            <a:solidFill>
              <a:srgbClr val="262B33"/>
            </a:solidFill>
            <a:prstDash val="solid"/>
          </a:ln>
        </p:spPr>
      </p:sp>
      <p:sp>
        <p:nvSpPr>
          <p:cNvPr id="28" name="Text 26"/>
          <p:cNvSpPr txBox="1"/>
          <p:nvPr/>
        </p:nvSpPr>
        <p:spPr>
          <a:xfrm>
            <a:off x="736092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Arial" panose="020B0604020202020204" pitchFamily="34" charset="0"/>
                <a:ea typeface="Calibri" pitchFamily="34" charset="-122"/>
                <a:cs typeface="Arial" panose="020B0604020202020204" pitchFamily="34" charset="0"/>
              </a:rPr>
              <a:t>Tương tác nhanh hơn</a:t>
            </a:r>
            <a:endParaRPr lang="en-US" sz="1200" dirty="0">
              <a:solidFill>
                <a:schemeClr val="bg1"/>
              </a:solidFill>
              <a:latin typeface="Arial" panose="020B0604020202020204" pitchFamily="34" charset="0"/>
              <a:cs typeface="Arial" panose="020B0604020202020204" pitchFamily="34" charset="0"/>
            </a:endParaRPr>
          </a:p>
        </p:txBody>
      </p:sp>
      <p:sp>
        <p:nvSpPr>
          <p:cNvPr id="29" name="Shape 27"/>
          <p:cNvSpPr/>
          <p:nvPr/>
        </p:nvSpPr>
        <p:spPr>
          <a:xfrm>
            <a:off x="9418320" y="2286000"/>
            <a:ext cx="2029968" cy="3291840"/>
          </a:xfrm>
          <a:prstGeom prst="roundRect">
            <a:avLst>
              <a:gd name="adj" fmla="val 5405"/>
            </a:avLst>
          </a:prstGeom>
          <a:solidFill>
            <a:srgbClr val="15181D"/>
          </a:solidFill>
          <a:ln w="12700">
            <a:solidFill>
              <a:srgbClr val="262B33"/>
            </a:solidFill>
            <a:prstDash val="solid"/>
          </a:ln>
        </p:spPr>
      </p:sp>
      <p:sp>
        <p:nvSpPr>
          <p:cNvPr id="30" name="Shape 28"/>
          <p:cNvSpPr/>
          <p:nvPr/>
        </p:nvSpPr>
        <p:spPr>
          <a:xfrm>
            <a:off x="10049256" y="2606040"/>
            <a:ext cx="768096" cy="768096"/>
          </a:xfrm>
          <a:prstGeom prst="ellipse">
            <a:avLst/>
          </a:prstGeom>
          <a:solidFill>
            <a:srgbClr val="0F2A22"/>
          </a:solidFill>
          <a:ln w="15875">
            <a:solidFill>
              <a:srgbClr val="34D399"/>
            </a:solidFill>
            <a:prstDash val="solid"/>
          </a:ln>
        </p:spPr>
      </p:sp>
      <p:sp>
        <p:nvSpPr>
          <p:cNvPr id="31" name="Text 29"/>
          <p:cNvSpPr txBox="1"/>
          <p:nvPr/>
        </p:nvSpPr>
        <p:spPr>
          <a:xfrm>
            <a:off x="10049256" y="2606040"/>
            <a:ext cx="768096" cy="768096"/>
          </a:xfrm>
          <a:prstGeom prst="rect">
            <a:avLst/>
          </a:prstGeom>
          <a:noFill/>
          <a:ln/>
        </p:spPr>
        <p:txBody>
          <a:bodyPr wrap="square" lIns="0" tIns="0" rIns="0" bIns="0" rtlCol="0" anchor="ctr"/>
          <a:lstStyle/>
          <a:p>
            <a:pPr marL="0" indent="0" algn="ctr">
              <a:buNone/>
            </a:pPr>
            <a:r>
              <a:rPr lang="en-US" sz="3000" b="1" dirty="0">
                <a:solidFill>
                  <a:srgbClr val="34D399"/>
                </a:solidFill>
                <a:latin typeface="Arial" panose="020B0604020202020204" pitchFamily="34" charset="0"/>
                <a:ea typeface="Arial" pitchFamily="34" charset="-122"/>
                <a:cs typeface="Arial" panose="020B0604020202020204" pitchFamily="34" charset="0"/>
              </a:rPr>
              <a:t>↑</a:t>
            </a:r>
            <a:endParaRPr lang="en-US" sz="3000" dirty="0">
              <a:latin typeface="Arial" panose="020B0604020202020204" pitchFamily="34" charset="0"/>
              <a:cs typeface="Arial" panose="020B0604020202020204" pitchFamily="34" charset="0"/>
            </a:endParaRPr>
          </a:p>
        </p:txBody>
      </p:sp>
      <p:sp>
        <p:nvSpPr>
          <p:cNvPr id="32" name="Text 30"/>
          <p:cNvSpPr txBox="1"/>
          <p:nvPr/>
        </p:nvSpPr>
        <p:spPr>
          <a:xfrm>
            <a:off x="9555480" y="3566160"/>
            <a:ext cx="1755648" cy="685800"/>
          </a:xfrm>
          <a:prstGeom prst="rect">
            <a:avLst/>
          </a:prstGeom>
          <a:noFill/>
          <a:ln/>
        </p:spPr>
        <p:txBody>
          <a:bodyPr wrap="square" lIns="0" tIns="0" rIns="0" bIns="0" rtlCol="0" anchor="ctr"/>
          <a:lstStyle/>
          <a:p>
            <a:pPr marL="0" indent="0" algn="ctr">
              <a:lnSpc>
                <a:spcPct val="110000"/>
              </a:lnSpc>
              <a:buNone/>
            </a:pPr>
            <a:r>
              <a:rPr lang="vi-VN" sz="1300" b="1" dirty="0">
                <a:solidFill>
                  <a:srgbClr val="FFFFFF"/>
                </a:solidFill>
                <a:latin typeface="Arial" panose="020B0604020202020204" pitchFamily="34" charset="0"/>
                <a:ea typeface="Arial" pitchFamily="34" charset="-122"/>
                <a:cs typeface="Arial" panose="020B0604020202020204" pitchFamily="34" charset="0"/>
              </a:rPr>
              <a:t>Dữ liệu chính xác</a:t>
            </a:r>
            <a:endParaRPr lang="en-US" sz="1300" dirty="0">
              <a:latin typeface="Arial" panose="020B0604020202020204" pitchFamily="34" charset="0"/>
              <a:cs typeface="Arial" panose="020B0604020202020204" pitchFamily="34" charset="0"/>
            </a:endParaRPr>
          </a:p>
        </p:txBody>
      </p:sp>
      <p:sp>
        <p:nvSpPr>
          <p:cNvPr id="33" name="Shape 31"/>
          <p:cNvSpPr/>
          <p:nvPr/>
        </p:nvSpPr>
        <p:spPr>
          <a:xfrm>
            <a:off x="10158984" y="4297680"/>
            <a:ext cx="548640" cy="0"/>
          </a:xfrm>
          <a:prstGeom prst="line">
            <a:avLst/>
          </a:prstGeom>
          <a:noFill/>
          <a:ln w="15875">
            <a:solidFill>
              <a:srgbClr val="262B33"/>
            </a:solidFill>
            <a:prstDash val="solid"/>
          </a:ln>
        </p:spPr>
      </p:sp>
      <p:sp>
        <p:nvSpPr>
          <p:cNvPr id="34" name="Text 32"/>
          <p:cNvSpPr txBox="1"/>
          <p:nvPr/>
        </p:nvSpPr>
        <p:spPr>
          <a:xfrm>
            <a:off x="9555480" y="4434840"/>
            <a:ext cx="1755648" cy="914400"/>
          </a:xfrm>
          <a:prstGeom prst="rect">
            <a:avLst/>
          </a:prstGeom>
          <a:noFill/>
          <a:ln/>
        </p:spPr>
        <p:txBody>
          <a:bodyPr wrap="square" lIns="0" tIns="0" rIns="0" bIns="0" rtlCol="0" anchor="ctr"/>
          <a:lstStyle/>
          <a:p>
            <a:pPr marL="0" indent="0" algn="ctr">
              <a:lnSpc>
                <a:spcPct val="120000"/>
              </a:lnSpc>
              <a:buNone/>
            </a:pPr>
            <a:r>
              <a:rPr lang="en-US" sz="1200" dirty="0">
                <a:solidFill>
                  <a:schemeClr val="bg1"/>
                </a:solidFill>
                <a:latin typeface="Arial" panose="020B0604020202020204" pitchFamily="34" charset="0"/>
                <a:ea typeface="Calibri" pitchFamily="34" charset="-122"/>
                <a:cs typeface="Arial" panose="020B0604020202020204" pitchFamily="34" charset="0"/>
              </a:rPr>
              <a:t>Phản hồi chất lượng hơn</a:t>
            </a:r>
            <a:endParaRPr lang="en-US" sz="1200" dirty="0">
              <a:solidFill>
                <a:schemeClr val="bg1"/>
              </a:solidFill>
              <a:latin typeface="Arial" panose="020B0604020202020204" pitchFamily="34" charset="0"/>
              <a:cs typeface="Arial" panose="020B0604020202020204" pitchFamily="34" charset="0"/>
            </a:endParaRPr>
          </a:p>
        </p:txBody>
      </p:sp>
      <p:sp>
        <p:nvSpPr>
          <p:cNvPr id="35" name="Text 33"/>
          <p:cNvSpPr txBox="1"/>
          <p:nvPr/>
        </p:nvSpPr>
        <p:spPr>
          <a:xfrm>
            <a:off x="640080" y="5806440"/>
            <a:ext cx="10908792" cy="365760"/>
          </a:xfrm>
          <a:prstGeom prst="rect">
            <a:avLst/>
          </a:prstGeom>
          <a:noFill/>
          <a:ln/>
        </p:spPr>
        <p:txBody>
          <a:bodyPr wrap="square" lIns="0" tIns="0" rIns="0" bIns="0" rtlCol="0" anchor="ctr"/>
          <a:lstStyle/>
          <a:p>
            <a:pPr marL="0" indent="0" algn="ctr">
              <a:buNone/>
            </a:pPr>
            <a:r>
              <a:rPr lang="en-US" sz="1600" i="1" dirty="0">
                <a:solidFill>
                  <a:schemeClr val="bg1"/>
                </a:solidFill>
                <a:latin typeface="Arial" panose="020B0604020202020204" pitchFamily="34" charset="0"/>
                <a:ea typeface="Calibri" pitchFamily="34" charset="-122"/>
                <a:cs typeface="Arial" panose="020B0604020202020204" pitchFamily="34" charset="0"/>
              </a:rPr>
              <a:t>Xu hướng định tính dựa trên logic vận hành mới — chưa bao gồm số liệu đo lường thực tế.</a:t>
            </a:r>
            <a:endParaRPr lang="en-US" sz="1600" dirty="0">
              <a:solidFill>
                <a:schemeClr val="bg1"/>
              </a:solidFill>
              <a:latin typeface="Arial" panose="020B0604020202020204" pitchFamily="34" charset="0"/>
              <a:cs typeface="Arial" panose="020B0604020202020204" pitchFamily="34" charset="0"/>
            </a:endParaRPr>
          </a:p>
        </p:txBody>
      </p:sp>
      <p:sp>
        <p:nvSpPr>
          <p:cNvPr id="36" name="Shape 34"/>
          <p:cNvSpPr/>
          <p:nvPr/>
        </p:nvSpPr>
        <p:spPr>
          <a:xfrm>
            <a:off x="640080" y="6382512"/>
            <a:ext cx="10908792" cy="0"/>
          </a:xfrm>
          <a:prstGeom prst="line">
            <a:avLst/>
          </a:prstGeom>
          <a:noFill/>
          <a:ln w="9525">
            <a:solidFill>
              <a:srgbClr val="262B33"/>
            </a:solidFill>
            <a:prstDash val="solid"/>
          </a:ln>
        </p:spPr>
      </p:sp>
      <p:sp>
        <p:nvSpPr>
          <p:cNvPr id="37" name="Text 35"/>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BUSINESS IMPACT</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0"/>
        </a:solidFill>
        <a:effectLst/>
      </p:bgPr>
    </p:bg>
    <p:spTree>
      <p:nvGrpSpPr>
        <p:cNvPr id="1" name=""/>
        <p:cNvGrpSpPr/>
        <p:nvPr/>
      </p:nvGrpSpPr>
      <p:grpSpPr>
        <a:xfrm>
          <a:off x="0" y="0"/>
          <a:ext cx="0" cy="0"/>
          <a:chOff x="0" y="0"/>
          <a:chExt cx="0" cy="0"/>
        </a:xfrm>
      </p:grpSpPr>
      <p:sp>
        <p:nvSpPr>
          <p:cNvPr id="2" name="Text 0"/>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3" name="Text 1"/>
          <p:cNvSpPr txBox="1"/>
          <p:nvPr/>
        </p:nvSpPr>
        <p:spPr>
          <a:xfrm>
            <a:off x="327685" y="511396"/>
            <a:ext cx="8229600" cy="292608"/>
          </a:xfrm>
          <a:prstGeom prst="rect">
            <a:avLst/>
          </a:prstGeom>
          <a:noFill/>
          <a:ln/>
        </p:spPr>
        <p:txBody>
          <a:bodyPr wrap="square" lIns="0" tIns="0" rIns="0" bIns="0" rtlCol="0" anchor="ctr"/>
          <a:lstStyle/>
          <a:p>
            <a:pPr marL="0" indent="0">
              <a:buNone/>
            </a:pPr>
            <a:r>
              <a:rPr lang="en-US" sz="2800" b="1" kern="0" spc="220" dirty="0">
                <a:solidFill>
                  <a:srgbClr val="F5A623"/>
                </a:solidFill>
                <a:latin typeface="Arial" panose="020B0604020202020204" pitchFamily="34" charset="0"/>
                <a:ea typeface="Arial" pitchFamily="34" charset="-122"/>
                <a:cs typeface="Arial" panose="020B0604020202020204" pitchFamily="34" charset="0"/>
              </a:rPr>
              <a:t>LOBBY LOOP</a:t>
            </a:r>
            <a:endParaRPr lang="en-US" sz="2800" dirty="0">
              <a:latin typeface="Arial" panose="020B0604020202020204" pitchFamily="34" charset="0"/>
              <a:cs typeface="Arial" panose="020B0604020202020204" pitchFamily="34" charset="0"/>
            </a:endParaRPr>
          </a:p>
        </p:txBody>
      </p:sp>
      <p:sp>
        <p:nvSpPr>
          <p:cNvPr id="4" name="Text 2"/>
          <p:cNvSpPr txBox="1"/>
          <p:nvPr/>
        </p:nvSpPr>
        <p:spPr>
          <a:xfrm>
            <a:off x="1219200" y="941931"/>
            <a:ext cx="10972800" cy="960120"/>
          </a:xfrm>
          <a:prstGeom prst="rect">
            <a:avLst/>
          </a:prstGeom>
          <a:noFill/>
          <a:ln/>
        </p:spPr>
        <p:txBody>
          <a:bodyPr wrap="square" lIns="0" tIns="0" rIns="0" bIns="0" rtlCol="0" anchor="ctr"/>
          <a:lstStyle/>
          <a:p>
            <a:pPr marL="0" indent="0">
              <a:lnSpc>
                <a:spcPct val="104000"/>
              </a:lnSpc>
              <a:buNone/>
            </a:pPr>
            <a:r>
              <a:rPr lang="vi-VN" sz="2100" b="1" dirty="0">
                <a:solidFill>
                  <a:srgbClr val="FFFFFF"/>
                </a:solidFill>
                <a:latin typeface="Arial" panose="020B0604020202020204" pitchFamily="34" charset="0"/>
                <a:ea typeface="Arial" pitchFamily="34" charset="-122"/>
                <a:cs typeface="Arial" panose="020B0604020202020204" pitchFamily="34" charset="0"/>
              </a:rPr>
              <a:t>Vòng lặp vận </a:t>
            </a:r>
            <a:r>
              <a:rPr lang="vi-VN" sz="2100" b="1">
                <a:solidFill>
                  <a:srgbClr val="FFFFFF"/>
                </a:solidFill>
                <a:latin typeface="Arial" panose="020B0604020202020204" pitchFamily="34" charset="0"/>
                <a:ea typeface="Arial" pitchFamily="34" charset="-122"/>
                <a:cs typeface="Arial" panose="020B0604020202020204" pitchFamily="34" charset="0"/>
              </a:rPr>
              <a:t>hành khép </a:t>
            </a:r>
            <a:r>
              <a:rPr lang="vi-VN" sz="2100" b="1" dirty="0">
                <a:solidFill>
                  <a:srgbClr val="FFFFFF"/>
                </a:solidFill>
                <a:latin typeface="Arial" panose="020B0604020202020204" pitchFamily="34" charset="0"/>
                <a:ea typeface="Arial" pitchFamily="34" charset="-122"/>
                <a:cs typeface="Arial" panose="020B0604020202020204" pitchFamily="34" charset="0"/>
              </a:rPr>
              <a:t>kín</a:t>
            </a:r>
            <a:endParaRPr lang="en-US" sz="2100" dirty="0">
              <a:latin typeface="Arial" panose="020B0604020202020204" pitchFamily="34" charset="0"/>
              <a:cs typeface="Arial" panose="020B0604020202020204" pitchFamily="34" charset="0"/>
            </a:endParaRPr>
          </a:p>
        </p:txBody>
      </p:sp>
      <p:sp>
        <p:nvSpPr>
          <p:cNvPr id="5" name="Shape 3"/>
          <p:cNvSpPr/>
          <p:nvPr/>
        </p:nvSpPr>
        <p:spPr>
          <a:xfrm>
            <a:off x="6095848" y="2398471"/>
            <a:ext cx="2043668" cy="1217546"/>
          </a:xfrm>
          <a:prstGeom prst="line">
            <a:avLst/>
          </a:prstGeom>
          <a:noFill/>
          <a:ln w="22225">
            <a:solidFill>
              <a:srgbClr val="F5A623"/>
            </a:solidFill>
            <a:prstDash val="solid"/>
          </a:ln>
        </p:spPr>
      </p:sp>
      <p:sp>
        <p:nvSpPr>
          <p:cNvPr id="6" name="Shape 4"/>
          <p:cNvSpPr/>
          <p:nvPr/>
        </p:nvSpPr>
        <p:spPr>
          <a:xfrm rot="7247100">
            <a:off x="7035386" y="2924948"/>
            <a:ext cx="164592" cy="146304"/>
          </a:xfrm>
          <a:prstGeom prst="triangle">
            <a:avLst/>
          </a:prstGeom>
          <a:solidFill>
            <a:srgbClr val="F5A623"/>
          </a:solidFill>
          <a:ln/>
        </p:spPr>
      </p:sp>
      <p:sp>
        <p:nvSpPr>
          <p:cNvPr id="7" name="Shape 5"/>
          <p:cNvSpPr/>
          <p:nvPr/>
        </p:nvSpPr>
        <p:spPr>
          <a:xfrm flipH="1">
            <a:off x="7358903" y="4141797"/>
            <a:ext cx="780611" cy="918470"/>
          </a:xfrm>
          <a:prstGeom prst="line">
            <a:avLst/>
          </a:prstGeom>
          <a:noFill/>
          <a:ln w="22225">
            <a:solidFill>
              <a:srgbClr val="F5A623"/>
            </a:solidFill>
            <a:prstDash val="solid"/>
          </a:ln>
        </p:spPr>
      </p:sp>
      <p:sp>
        <p:nvSpPr>
          <p:cNvPr id="8" name="Shape 6"/>
          <p:cNvSpPr/>
          <p:nvPr/>
        </p:nvSpPr>
        <p:spPr>
          <a:xfrm rot="12580058">
            <a:off x="7666912" y="4531711"/>
            <a:ext cx="164592" cy="146304"/>
          </a:xfrm>
          <a:prstGeom prst="triangle">
            <a:avLst/>
          </a:prstGeom>
          <a:solidFill>
            <a:srgbClr val="F5A623"/>
          </a:solidFill>
          <a:ln/>
        </p:spPr>
      </p:sp>
      <p:sp>
        <p:nvSpPr>
          <p:cNvPr id="9" name="Shape 7"/>
          <p:cNvSpPr/>
          <p:nvPr/>
        </p:nvSpPr>
        <p:spPr>
          <a:xfrm>
            <a:off x="7358904" y="5586047"/>
            <a:ext cx="0" cy="0"/>
          </a:xfrm>
          <a:prstGeom prst="line">
            <a:avLst/>
          </a:prstGeom>
          <a:noFill/>
          <a:ln w="22225">
            <a:solidFill>
              <a:srgbClr val="F5A623"/>
            </a:solidFill>
            <a:prstDash val="solid"/>
          </a:ln>
        </p:spPr>
      </p:sp>
      <p:sp>
        <p:nvSpPr>
          <p:cNvPr id="10" name="Shape 8"/>
          <p:cNvSpPr/>
          <p:nvPr/>
        </p:nvSpPr>
        <p:spPr>
          <a:xfrm rot="16200000">
            <a:off x="6013552" y="5503751"/>
            <a:ext cx="164592" cy="146304"/>
          </a:xfrm>
          <a:prstGeom prst="triangle">
            <a:avLst/>
          </a:prstGeom>
          <a:solidFill>
            <a:srgbClr val="F5A623"/>
          </a:solidFill>
          <a:ln/>
        </p:spPr>
      </p:sp>
      <p:sp>
        <p:nvSpPr>
          <p:cNvPr id="11" name="Shape 9"/>
          <p:cNvSpPr/>
          <p:nvPr/>
        </p:nvSpPr>
        <p:spPr>
          <a:xfrm>
            <a:off x="4832791" y="5586047"/>
            <a:ext cx="0" cy="0"/>
          </a:xfrm>
          <a:prstGeom prst="line">
            <a:avLst/>
          </a:prstGeom>
          <a:noFill/>
          <a:ln w="22225">
            <a:solidFill>
              <a:srgbClr val="F5A623"/>
            </a:solidFill>
            <a:prstDash val="solid"/>
          </a:ln>
        </p:spPr>
      </p:sp>
      <p:sp>
        <p:nvSpPr>
          <p:cNvPr id="12" name="Shape 10"/>
          <p:cNvSpPr/>
          <p:nvPr/>
        </p:nvSpPr>
        <p:spPr>
          <a:xfrm rot="18925460">
            <a:off x="4360187" y="4527880"/>
            <a:ext cx="164592" cy="146304"/>
          </a:xfrm>
          <a:prstGeom prst="triangle">
            <a:avLst/>
          </a:prstGeom>
          <a:solidFill>
            <a:srgbClr val="F5A623"/>
          </a:solidFill>
          <a:ln/>
        </p:spPr>
      </p:sp>
      <p:sp>
        <p:nvSpPr>
          <p:cNvPr id="13" name="Shape 11"/>
          <p:cNvSpPr/>
          <p:nvPr/>
        </p:nvSpPr>
        <p:spPr>
          <a:xfrm>
            <a:off x="4014403" y="4118937"/>
            <a:ext cx="780611" cy="918470"/>
          </a:xfrm>
          <a:prstGeom prst="line">
            <a:avLst/>
          </a:prstGeom>
          <a:noFill/>
          <a:ln w="22225">
            <a:solidFill>
              <a:srgbClr val="F5A623"/>
            </a:solidFill>
            <a:prstDash val="solid"/>
          </a:ln>
        </p:spPr>
        <p:txBody>
          <a:bodyPr/>
          <a:lstStyle/>
          <a:p>
            <a:endParaRPr lang="en-US" dirty="0">
              <a:latin typeface="Arial" panose="020B0604020202020204" pitchFamily="34" charset="0"/>
              <a:cs typeface="Arial" panose="020B0604020202020204" pitchFamily="34" charset="0"/>
            </a:endParaRPr>
          </a:p>
        </p:txBody>
      </p:sp>
      <p:sp>
        <p:nvSpPr>
          <p:cNvPr id="14" name="Shape 12"/>
          <p:cNvSpPr/>
          <p:nvPr/>
        </p:nvSpPr>
        <p:spPr>
          <a:xfrm rot="3033102">
            <a:off x="4777973" y="2691059"/>
            <a:ext cx="164592" cy="146304"/>
          </a:xfrm>
          <a:prstGeom prst="triangle">
            <a:avLst/>
          </a:prstGeom>
          <a:solidFill>
            <a:srgbClr val="F5A623"/>
          </a:solidFill>
          <a:ln/>
        </p:spPr>
      </p:sp>
      <p:sp>
        <p:nvSpPr>
          <p:cNvPr id="15" name="Shape 13"/>
          <p:cNvSpPr/>
          <p:nvPr/>
        </p:nvSpPr>
        <p:spPr>
          <a:xfrm>
            <a:off x="5135728" y="3611880"/>
            <a:ext cx="1920240" cy="1097280"/>
          </a:xfrm>
          <a:prstGeom prst="roundRect">
            <a:avLst>
              <a:gd name="adj" fmla="val 50000"/>
            </a:avLst>
          </a:prstGeom>
          <a:solidFill>
            <a:srgbClr val="1B1F26"/>
          </a:solidFill>
          <a:ln w="12700">
            <a:solidFill>
              <a:srgbClr val="F5A623"/>
            </a:solidFill>
            <a:prstDash val="solid"/>
          </a:ln>
        </p:spPr>
      </p:sp>
      <p:sp>
        <p:nvSpPr>
          <p:cNvPr id="16" name="Text 14"/>
          <p:cNvSpPr txBox="1"/>
          <p:nvPr/>
        </p:nvSpPr>
        <p:spPr>
          <a:xfrm>
            <a:off x="5135728" y="3611880"/>
            <a:ext cx="1920240" cy="1097280"/>
          </a:xfrm>
          <a:prstGeom prst="rect">
            <a:avLst/>
          </a:prstGeom>
          <a:noFill/>
          <a:ln/>
        </p:spPr>
        <p:txBody>
          <a:bodyPr wrap="square" lIns="0" tIns="0" rIns="0" bIns="0" rtlCol="0" anchor="ctr"/>
          <a:lstStyle/>
          <a:p>
            <a:pPr marL="0" indent="0" algn="ctr">
              <a:lnSpc>
                <a:spcPct val="105000"/>
              </a:lnSpc>
              <a:buNone/>
            </a:pPr>
            <a:r>
              <a:rPr lang="en-US" sz="1700" b="1" dirty="0">
                <a:solidFill>
                  <a:srgbClr val="F5A623"/>
                </a:solidFill>
                <a:latin typeface="Arial" panose="020B0604020202020204" pitchFamily="34" charset="0"/>
                <a:ea typeface="Arial" pitchFamily="34" charset="-122"/>
                <a:cs typeface="Arial" panose="020B0604020202020204" pitchFamily="34" charset="0"/>
              </a:rPr>
              <a:t>LOBBY</a:t>
            </a:r>
            <a:endParaRPr lang="en-US" sz="1700" dirty="0">
              <a:latin typeface="Arial" panose="020B0604020202020204" pitchFamily="34" charset="0"/>
              <a:cs typeface="Arial" panose="020B0604020202020204" pitchFamily="34" charset="0"/>
            </a:endParaRPr>
          </a:p>
          <a:p>
            <a:pPr marL="0" indent="0" algn="ctr">
              <a:lnSpc>
                <a:spcPct val="105000"/>
              </a:lnSpc>
              <a:buNone/>
            </a:pPr>
            <a:r>
              <a:rPr lang="en-US" sz="1700" b="1" dirty="0">
                <a:solidFill>
                  <a:srgbClr val="F5A623"/>
                </a:solidFill>
                <a:latin typeface="Arial" panose="020B0604020202020204" pitchFamily="34" charset="0"/>
                <a:ea typeface="Arial" pitchFamily="34" charset="-122"/>
                <a:cs typeface="Arial" panose="020B0604020202020204" pitchFamily="34" charset="0"/>
              </a:rPr>
              <a:t>LOOP</a:t>
            </a:r>
            <a:endParaRPr lang="en-US" sz="1700" dirty="0">
              <a:latin typeface="Arial" panose="020B0604020202020204" pitchFamily="34" charset="0"/>
              <a:cs typeface="Arial" panose="020B0604020202020204" pitchFamily="34" charset="0"/>
            </a:endParaRPr>
          </a:p>
        </p:txBody>
      </p:sp>
      <p:sp>
        <p:nvSpPr>
          <p:cNvPr id="17" name="Shape 15"/>
          <p:cNvSpPr/>
          <p:nvPr/>
        </p:nvSpPr>
        <p:spPr>
          <a:xfrm>
            <a:off x="5204308" y="1872691"/>
            <a:ext cx="1783080" cy="1051560"/>
          </a:xfrm>
          <a:prstGeom prst="roundRect">
            <a:avLst>
              <a:gd name="adj" fmla="val 47826"/>
            </a:avLst>
          </a:prstGeom>
          <a:solidFill>
            <a:srgbClr val="15181D"/>
          </a:solidFill>
          <a:ln w="12700">
            <a:solidFill>
              <a:srgbClr val="262B33"/>
            </a:solidFill>
            <a:prstDash val="solid"/>
          </a:ln>
        </p:spPr>
      </p:sp>
      <p:sp>
        <p:nvSpPr>
          <p:cNvPr id="18" name="Text 16"/>
          <p:cNvSpPr txBox="1"/>
          <p:nvPr/>
        </p:nvSpPr>
        <p:spPr>
          <a:xfrm>
            <a:off x="5277460" y="2000707"/>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SELL</a:t>
            </a:r>
            <a:endParaRPr lang="en-US" sz="1250" dirty="0">
              <a:latin typeface="Arial" panose="020B0604020202020204" pitchFamily="34" charset="0"/>
              <a:cs typeface="Arial" panose="020B0604020202020204" pitchFamily="34" charset="0"/>
            </a:endParaRPr>
          </a:p>
        </p:txBody>
      </p:sp>
      <p:sp>
        <p:nvSpPr>
          <p:cNvPr id="19" name="Text 17"/>
          <p:cNvSpPr txBox="1"/>
          <p:nvPr/>
        </p:nvSpPr>
        <p:spPr>
          <a:xfrm>
            <a:off x="5277460" y="2444191"/>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Bán được nhiều hơn</a:t>
            </a:r>
            <a:endParaRPr lang="en-US" sz="1200" dirty="0">
              <a:latin typeface="Arial" panose="020B0604020202020204" pitchFamily="34" charset="0"/>
              <a:cs typeface="Arial" panose="020B0604020202020204" pitchFamily="34" charset="0"/>
            </a:endParaRPr>
          </a:p>
        </p:txBody>
      </p:sp>
      <p:sp>
        <p:nvSpPr>
          <p:cNvPr id="20" name="Shape 18"/>
          <p:cNvSpPr/>
          <p:nvPr/>
        </p:nvSpPr>
        <p:spPr>
          <a:xfrm>
            <a:off x="7247976" y="3090237"/>
            <a:ext cx="1783080" cy="1051560"/>
          </a:xfrm>
          <a:prstGeom prst="roundRect">
            <a:avLst>
              <a:gd name="adj" fmla="val 47826"/>
            </a:avLst>
          </a:prstGeom>
          <a:solidFill>
            <a:srgbClr val="15181D"/>
          </a:solidFill>
          <a:ln w="12700">
            <a:solidFill>
              <a:srgbClr val="262B33"/>
            </a:solidFill>
            <a:prstDash val="solid"/>
          </a:ln>
        </p:spPr>
      </p:sp>
      <p:sp>
        <p:nvSpPr>
          <p:cNvPr id="21" name="Text 19"/>
          <p:cNvSpPr txBox="1"/>
          <p:nvPr/>
        </p:nvSpPr>
        <p:spPr>
          <a:xfrm>
            <a:off x="7222648" y="3281006"/>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AUTOMATE</a:t>
            </a:r>
            <a:endParaRPr lang="en-US" sz="1250" dirty="0">
              <a:latin typeface="Arial" panose="020B0604020202020204" pitchFamily="34" charset="0"/>
              <a:cs typeface="Arial" panose="020B0604020202020204" pitchFamily="34" charset="0"/>
            </a:endParaRPr>
          </a:p>
        </p:txBody>
      </p:sp>
      <p:sp>
        <p:nvSpPr>
          <p:cNvPr id="22" name="Text 20"/>
          <p:cNvSpPr txBox="1"/>
          <p:nvPr/>
        </p:nvSpPr>
        <p:spPr>
          <a:xfrm>
            <a:off x="7321128" y="366173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Ghi nhận chính xác hơn</a:t>
            </a:r>
            <a:endParaRPr lang="en-US" sz="1200" dirty="0">
              <a:latin typeface="Arial" panose="020B0604020202020204" pitchFamily="34" charset="0"/>
              <a:cs typeface="Arial" panose="020B0604020202020204" pitchFamily="34" charset="0"/>
            </a:endParaRPr>
          </a:p>
        </p:txBody>
      </p:sp>
      <p:sp>
        <p:nvSpPr>
          <p:cNvPr id="23" name="Shape 21"/>
          <p:cNvSpPr/>
          <p:nvPr/>
        </p:nvSpPr>
        <p:spPr>
          <a:xfrm>
            <a:off x="6467364" y="5060267"/>
            <a:ext cx="1783080" cy="1051560"/>
          </a:xfrm>
          <a:prstGeom prst="roundRect">
            <a:avLst>
              <a:gd name="adj" fmla="val 47826"/>
            </a:avLst>
          </a:prstGeom>
          <a:solidFill>
            <a:srgbClr val="15181D"/>
          </a:solidFill>
          <a:ln w="12700">
            <a:solidFill>
              <a:srgbClr val="262B33"/>
            </a:solidFill>
            <a:prstDash val="solid"/>
          </a:ln>
        </p:spPr>
      </p:sp>
      <p:sp>
        <p:nvSpPr>
          <p:cNvPr id="24" name="Text 22"/>
          <p:cNvSpPr txBox="1"/>
          <p:nvPr/>
        </p:nvSpPr>
        <p:spPr>
          <a:xfrm>
            <a:off x="6511751" y="5236347"/>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LISTEN</a:t>
            </a:r>
            <a:endParaRPr lang="en-US" sz="1250" dirty="0">
              <a:latin typeface="Arial" panose="020B0604020202020204" pitchFamily="34" charset="0"/>
              <a:cs typeface="Arial" panose="020B0604020202020204" pitchFamily="34" charset="0"/>
            </a:endParaRPr>
          </a:p>
        </p:txBody>
      </p:sp>
      <p:sp>
        <p:nvSpPr>
          <p:cNvPr id="25" name="Text 23"/>
          <p:cNvSpPr txBox="1"/>
          <p:nvPr/>
        </p:nvSpPr>
        <p:spPr>
          <a:xfrm>
            <a:off x="6540516" y="563176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Hiểu khách tốt hơn</a:t>
            </a:r>
            <a:endParaRPr lang="en-US" sz="1200" dirty="0">
              <a:latin typeface="Arial" panose="020B0604020202020204" pitchFamily="34" charset="0"/>
              <a:cs typeface="Arial" panose="020B0604020202020204" pitchFamily="34" charset="0"/>
            </a:endParaRPr>
          </a:p>
        </p:txBody>
      </p:sp>
      <p:sp>
        <p:nvSpPr>
          <p:cNvPr id="26" name="Shape 24"/>
          <p:cNvSpPr/>
          <p:nvPr/>
        </p:nvSpPr>
        <p:spPr>
          <a:xfrm>
            <a:off x="3941251" y="5060267"/>
            <a:ext cx="1783080" cy="1051560"/>
          </a:xfrm>
          <a:prstGeom prst="roundRect">
            <a:avLst>
              <a:gd name="adj" fmla="val 47826"/>
            </a:avLst>
          </a:prstGeom>
          <a:solidFill>
            <a:srgbClr val="15181D"/>
          </a:solidFill>
          <a:ln w="12700">
            <a:solidFill>
              <a:srgbClr val="262B33"/>
            </a:solidFill>
            <a:prstDash val="solid"/>
          </a:ln>
        </p:spPr>
      </p:sp>
      <p:sp>
        <p:nvSpPr>
          <p:cNvPr id="27" name="Text 25"/>
          <p:cNvSpPr txBox="1"/>
          <p:nvPr/>
        </p:nvSpPr>
        <p:spPr>
          <a:xfrm>
            <a:off x="4014403" y="5188283"/>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IMPROVE</a:t>
            </a:r>
            <a:endParaRPr lang="en-US" sz="1250" dirty="0">
              <a:latin typeface="Arial" panose="020B0604020202020204" pitchFamily="34" charset="0"/>
              <a:cs typeface="Arial" panose="020B0604020202020204" pitchFamily="34" charset="0"/>
            </a:endParaRPr>
          </a:p>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SERVICE</a:t>
            </a:r>
            <a:endParaRPr lang="en-US" sz="1250" dirty="0">
              <a:latin typeface="Arial" panose="020B0604020202020204" pitchFamily="34" charset="0"/>
              <a:cs typeface="Arial" panose="020B0604020202020204" pitchFamily="34" charset="0"/>
            </a:endParaRPr>
          </a:p>
        </p:txBody>
      </p:sp>
      <p:sp>
        <p:nvSpPr>
          <p:cNvPr id="28" name="Text 26"/>
          <p:cNvSpPr txBox="1"/>
          <p:nvPr/>
        </p:nvSpPr>
        <p:spPr>
          <a:xfrm>
            <a:off x="4014403" y="563176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Cải thiện dịch vụ</a:t>
            </a:r>
            <a:endParaRPr lang="en-US" sz="1200" dirty="0">
              <a:latin typeface="Arial" panose="020B0604020202020204" pitchFamily="34" charset="0"/>
              <a:cs typeface="Arial" panose="020B0604020202020204" pitchFamily="34" charset="0"/>
            </a:endParaRPr>
          </a:p>
        </p:txBody>
      </p:sp>
      <p:sp>
        <p:nvSpPr>
          <p:cNvPr id="29" name="Shape 27"/>
          <p:cNvSpPr/>
          <p:nvPr/>
        </p:nvSpPr>
        <p:spPr>
          <a:xfrm>
            <a:off x="3160639" y="3090237"/>
            <a:ext cx="1783080" cy="1051560"/>
          </a:xfrm>
          <a:prstGeom prst="roundRect">
            <a:avLst>
              <a:gd name="adj" fmla="val 47826"/>
            </a:avLst>
          </a:prstGeom>
          <a:solidFill>
            <a:srgbClr val="15181D"/>
          </a:solidFill>
          <a:ln w="12700">
            <a:solidFill>
              <a:srgbClr val="262B33"/>
            </a:solidFill>
            <a:prstDash val="solid"/>
          </a:ln>
        </p:spPr>
      </p:sp>
      <p:sp>
        <p:nvSpPr>
          <p:cNvPr id="30" name="Text 28"/>
          <p:cNvSpPr txBox="1"/>
          <p:nvPr/>
        </p:nvSpPr>
        <p:spPr>
          <a:xfrm>
            <a:off x="3332271" y="3281006"/>
            <a:ext cx="163677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INCREASE</a:t>
            </a:r>
            <a:endParaRPr lang="en-US" sz="1250" dirty="0">
              <a:latin typeface="Arial" panose="020B0604020202020204" pitchFamily="34" charset="0"/>
              <a:cs typeface="Arial" panose="020B0604020202020204" pitchFamily="34" charset="0"/>
            </a:endParaRPr>
          </a:p>
          <a:p>
            <a:pPr marL="0" indent="0" algn="ctr">
              <a:lnSpc>
                <a:spcPct val="100000"/>
              </a:lnSpc>
              <a:buNone/>
            </a:pPr>
            <a:r>
              <a:rPr lang="en-US" sz="1250" b="1" dirty="0">
                <a:solidFill>
                  <a:srgbClr val="FFFFFF"/>
                </a:solidFill>
                <a:latin typeface="Arial" panose="020B0604020202020204" pitchFamily="34" charset="0"/>
                <a:ea typeface="Arial" pitchFamily="34" charset="-122"/>
                <a:cs typeface="Arial" panose="020B0604020202020204" pitchFamily="34" charset="0"/>
              </a:rPr>
              <a:t>REVENUE</a:t>
            </a:r>
            <a:endParaRPr lang="en-US" sz="1250" dirty="0">
              <a:latin typeface="Arial" panose="020B0604020202020204" pitchFamily="34" charset="0"/>
              <a:cs typeface="Arial" panose="020B0604020202020204" pitchFamily="34" charset="0"/>
            </a:endParaRPr>
          </a:p>
        </p:txBody>
      </p:sp>
      <p:sp>
        <p:nvSpPr>
          <p:cNvPr id="31" name="Text 29"/>
          <p:cNvSpPr txBox="1"/>
          <p:nvPr/>
        </p:nvSpPr>
        <p:spPr>
          <a:xfrm>
            <a:off x="3233791" y="3661737"/>
            <a:ext cx="1636776" cy="411480"/>
          </a:xfrm>
          <a:prstGeom prst="rect">
            <a:avLst/>
          </a:prstGeom>
          <a:noFill/>
          <a:ln/>
        </p:spPr>
        <p:txBody>
          <a:bodyPr wrap="square" lIns="0" tIns="0" rIns="0" bIns="0" rtlCol="0" anchor="ctr"/>
          <a:lstStyle/>
          <a:p>
            <a:pPr marL="0" indent="0" algn="ctr">
              <a:lnSpc>
                <a:spcPct val="105000"/>
              </a:lnSpc>
              <a:buNone/>
            </a:pPr>
            <a:r>
              <a:rPr lang="en-US" sz="1200" dirty="0">
                <a:solidFill>
                  <a:srgbClr val="82888F"/>
                </a:solidFill>
                <a:latin typeface="Arial" panose="020B0604020202020204" pitchFamily="34" charset="0"/>
                <a:ea typeface="Calibri" pitchFamily="34" charset="-122"/>
                <a:cs typeface="Arial" panose="020B0604020202020204" pitchFamily="34" charset="0"/>
              </a:rPr>
              <a:t>Tăng doanh thu</a:t>
            </a:r>
            <a:endParaRPr lang="en-US" sz="1200" dirty="0">
              <a:latin typeface="Arial" panose="020B0604020202020204" pitchFamily="34" charset="0"/>
              <a:cs typeface="Arial" panose="020B0604020202020204" pitchFamily="34" charset="0"/>
            </a:endParaRPr>
          </a:p>
        </p:txBody>
      </p:sp>
      <p:sp>
        <p:nvSpPr>
          <p:cNvPr id="32" name="Shape 30"/>
          <p:cNvSpPr/>
          <p:nvPr/>
        </p:nvSpPr>
        <p:spPr>
          <a:xfrm>
            <a:off x="640080" y="6382512"/>
            <a:ext cx="10908792" cy="0"/>
          </a:xfrm>
          <a:prstGeom prst="line">
            <a:avLst/>
          </a:prstGeom>
          <a:noFill/>
          <a:ln w="9525">
            <a:solidFill>
              <a:srgbClr val="262B33"/>
            </a:solidFill>
            <a:prstDash val="solid"/>
          </a:ln>
        </p:spPr>
      </p:sp>
      <p:sp>
        <p:nvSpPr>
          <p:cNvPr id="33" name="Text 31"/>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THE LOOP</a:t>
            </a:r>
            <a:endParaRPr lang="en-US" sz="900" dirty="0">
              <a:latin typeface="Arial" panose="020B0604020202020204" pitchFamily="34" charset="0"/>
              <a:cs typeface="Arial" panose="020B0604020202020204" pitchFamily="34" charset="0"/>
            </a:endParaRPr>
          </a:p>
        </p:txBody>
      </p:sp>
      <p:sp>
        <p:nvSpPr>
          <p:cNvPr id="36" name="Shape 11">
            <a:extLst>
              <a:ext uri="{FF2B5EF4-FFF2-40B4-BE49-F238E27FC236}">
                <a16:creationId xmlns:a16="http://schemas.microsoft.com/office/drawing/2014/main" id="{DE0685D5-DD4E-B889-61B4-799F6D21CCB3}"/>
              </a:ext>
            </a:extLst>
          </p:cNvPr>
          <p:cNvSpPr/>
          <p:nvPr/>
        </p:nvSpPr>
        <p:spPr>
          <a:xfrm>
            <a:off x="5746561" y="5568976"/>
            <a:ext cx="720803" cy="0"/>
          </a:xfrm>
          <a:prstGeom prst="line">
            <a:avLst/>
          </a:prstGeom>
          <a:noFill/>
          <a:ln w="22225">
            <a:solidFill>
              <a:srgbClr val="F5A623"/>
            </a:solidFill>
            <a:prstDash val="solid"/>
          </a:ln>
        </p:spPr>
        <p:txBody>
          <a:bodyPr/>
          <a:lstStyle/>
          <a:p>
            <a:endParaRPr lang="en-US" dirty="0">
              <a:latin typeface="Arial" panose="020B0604020202020204" pitchFamily="34" charset="0"/>
              <a:cs typeface="Arial" panose="020B0604020202020204" pitchFamily="34" charset="0"/>
            </a:endParaRPr>
          </a:p>
        </p:txBody>
      </p:sp>
      <p:sp>
        <p:nvSpPr>
          <p:cNvPr id="37" name="Shape 3">
            <a:extLst>
              <a:ext uri="{FF2B5EF4-FFF2-40B4-BE49-F238E27FC236}">
                <a16:creationId xmlns:a16="http://schemas.microsoft.com/office/drawing/2014/main" id="{76119793-5670-8D1C-2BBC-06192C974F1B}"/>
              </a:ext>
            </a:extLst>
          </p:cNvPr>
          <p:cNvSpPr/>
          <p:nvPr/>
        </p:nvSpPr>
        <p:spPr>
          <a:xfrm flipV="1">
            <a:off x="4385920" y="2506393"/>
            <a:ext cx="818388" cy="583844"/>
          </a:xfrm>
          <a:prstGeom prst="line">
            <a:avLst/>
          </a:prstGeom>
          <a:noFill/>
          <a:ln w="22225">
            <a:solidFill>
              <a:srgbClr val="F5A623"/>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0"/>
        </a:solidFill>
        <a:effectLst/>
      </p:bgPr>
    </p:bg>
    <p:spTree>
      <p:nvGrpSpPr>
        <p:cNvPr id="1" name=""/>
        <p:cNvGrpSpPr/>
        <p:nvPr/>
      </p:nvGrpSpPr>
      <p:grpSpPr>
        <a:xfrm>
          <a:off x="0" y="0"/>
          <a:ext cx="0" cy="0"/>
          <a:chOff x="0" y="0"/>
          <a:chExt cx="0" cy="0"/>
        </a:xfrm>
      </p:grpSpPr>
      <p:sp>
        <p:nvSpPr>
          <p:cNvPr id="2" name="Shape 0"/>
          <p:cNvSpPr/>
          <p:nvPr/>
        </p:nvSpPr>
        <p:spPr>
          <a:xfrm>
            <a:off x="305" y="4482"/>
            <a:ext cx="12191695" cy="6858000"/>
          </a:xfrm>
          <a:prstGeom prst="rect">
            <a:avLst/>
          </a:prstGeom>
          <a:solidFill>
            <a:srgbClr val="E5555C">
              <a:alpha val="4000"/>
            </a:srgbClr>
          </a:solidFill>
          <a:ln/>
        </p:spPr>
        <p:txBody>
          <a:bodyPr/>
          <a:lstStyle/>
          <a:p>
            <a:endParaRPr lang="en-US" dirty="0">
              <a:latin typeface="Arial" panose="020B0604020202020204" pitchFamily="34" charset="0"/>
              <a:cs typeface="Arial" panose="020B0604020202020204" pitchFamily="34" charset="0"/>
            </a:endParaRPr>
          </a:p>
        </p:txBody>
      </p:sp>
      <p:sp>
        <p:nvSpPr>
          <p:cNvPr id="3" name="Text 1"/>
          <p:cNvSpPr txBox="1"/>
          <p:nvPr/>
        </p:nvSpPr>
        <p:spPr>
          <a:xfrm>
            <a:off x="9875520" y="384048"/>
            <a:ext cx="1828800" cy="274320"/>
          </a:xfrm>
          <a:prstGeom prst="rect">
            <a:avLst/>
          </a:prstGeom>
          <a:noFill/>
          <a:ln/>
        </p:spPr>
        <p:txBody>
          <a:bodyPr wrap="square" lIns="0" tIns="0" rIns="0" bIns="0" rtlCol="0" anchor="ctr"/>
          <a:lstStyle/>
          <a:p>
            <a:pPr marL="0" indent="0" algn="r">
              <a:buNone/>
            </a:pPr>
            <a:r>
              <a:rPr lang="en-US" sz="1050" b="1" kern="0" spc="200" dirty="0">
                <a:solidFill>
                  <a:srgbClr val="82888F"/>
                </a:solidFill>
                <a:latin typeface="Arial" panose="020B0604020202020204" pitchFamily="34" charset="0"/>
                <a:ea typeface="Arial" pitchFamily="34" charset="-122"/>
                <a:cs typeface="Arial" panose="020B0604020202020204" pitchFamily="34" charset="0"/>
              </a:rPr>
              <a:t>LOBBY LOOP</a:t>
            </a:r>
            <a:endParaRPr lang="en-US" sz="1050" dirty="0">
              <a:latin typeface="Arial" panose="020B0604020202020204" pitchFamily="34" charset="0"/>
              <a:cs typeface="Arial" panose="020B0604020202020204" pitchFamily="34" charset="0"/>
            </a:endParaRPr>
          </a:p>
        </p:txBody>
      </p:sp>
      <p:sp>
        <p:nvSpPr>
          <p:cNvPr id="4" name="Text 2"/>
          <p:cNvSpPr txBox="1"/>
          <p:nvPr/>
        </p:nvSpPr>
        <p:spPr>
          <a:xfrm>
            <a:off x="347472" y="484632"/>
            <a:ext cx="8229600" cy="292608"/>
          </a:xfrm>
          <a:prstGeom prst="rect">
            <a:avLst/>
          </a:prstGeom>
          <a:noFill/>
          <a:ln/>
        </p:spPr>
        <p:txBody>
          <a:bodyPr wrap="square" lIns="0" tIns="0" rIns="0" bIns="0" rtlCol="0" anchor="ctr"/>
          <a:lstStyle/>
          <a:p>
            <a:pPr marL="0" indent="0">
              <a:buNone/>
            </a:pPr>
            <a:r>
              <a:rPr lang="en-US" sz="2800" b="1" kern="0" spc="220" dirty="0">
                <a:solidFill>
                  <a:srgbClr val="E5555C"/>
                </a:solidFill>
                <a:latin typeface="Arial" panose="020B0604020202020204" pitchFamily="34" charset="0"/>
                <a:ea typeface="Arial" pitchFamily="34" charset="-122"/>
                <a:cs typeface="Arial" panose="020B0604020202020204" pitchFamily="34" charset="0"/>
              </a:rPr>
              <a:t>WAKE-UP CALL</a:t>
            </a:r>
            <a:endParaRPr lang="en-US" sz="2800" dirty="0">
              <a:latin typeface="Arial" panose="020B0604020202020204" pitchFamily="34" charset="0"/>
              <a:cs typeface="Arial" panose="020B0604020202020204" pitchFamily="34" charset="0"/>
            </a:endParaRPr>
          </a:p>
        </p:txBody>
      </p:sp>
      <p:sp>
        <p:nvSpPr>
          <p:cNvPr id="5" name="Text 3"/>
          <p:cNvSpPr txBox="1"/>
          <p:nvPr/>
        </p:nvSpPr>
        <p:spPr>
          <a:xfrm>
            <a:off x="1115299" y="795527"/>
            <a:ext cx="10881360" cy="960120"/>
          </a:xfrm>
          <a:prstGeom prst="rect">
            <a:avLst/>
          </a:prstGeom>
          <a:noFill/>
          <a:ln/>
        </p:spPr>
        <p:txBody>
          <a:bodyPr wrap="square" lIns="0" tIns="0" rIns="0" bIns="0" rtlCol="0" anchor="ctr"/>
          <a:lstStyle/>
          <a:p>
            <a:pPr marL="0" indent="0">
              <a:lnSpc>
                <a:spcPct val="104000"/>
              </a:lnSpc>
              <a:buNone/>
            </a:pPr>
            <a:r>
              <a:rPr lang="vi-VN" sz="2400" b="1" dirty="0">
                <a:solidFill>
                  <a:srgbClr val="FFFFFF"/>
                </a:solidFill>
                <a:latin typeface="Arial" panose="020B0604020202020204" pitchFamily="34" charset="0"/>
                <a:ea typeface="Arial" pitchFamily="34" charset="-122"/>
                <a:cs typeface="Arial" panose="020B0604020202020204" pitchFamily="34" charset="0"/>
              </a:rPr>
              <a:t>Điều gì sẽ xảy ra nếu chúng ta không thay đổi gì?</a:t>
            </a:r>
            <a:endParaRPr lang="en-US" sz="2400" dirty="0">
              <a:latin typeface="Arial" panose="020B0604020202020204" pitchFamily="34" charset="0"/>
              <a:cs typeface="Arial" panose="020B0604020202020204" pitchFamily="34" charset="0"/>
            </a:endParaRPr>
          </a:p>
        </p:txBody>
      </p:sp>
      <p:sp>
        <p:nvSpPr>
          <p:cNvPr id="6" name="Shape 4"/>
          <p:cNvSpPr/>
          <p:nvPr/>
        </p:nvSpPr>
        <p:spPr>
          <a:xfrm>
            <a:off x="512064" y="2096218"/>
            <a:ext cx="3429000" cy="3017520"/>
          </a:xfrm>
          <a:prstGeom prst="roundRect">
            <a:avLst>
              <a:gd name="adj" fmla="val 3030"/>
            </a:avLst>
          </a:prstGeom>
          <a:solidFill>
            <a:srgbClr val="15181D"/>
          </a:solidFill>
          <a:ln w="12700">
            <a:solidFill>
              <a:srgbClr val="E5555C"/>
            </a:solidFill>
            <a:prstDash val="solid"/>
          </a:ln>
        </p:spPr>
      </p:sp>
      <p:sp>
        <p:nvSpPr>
          <p:cNvPr id="7" name="Shape 5"/>
          <p:cNvSpPr/>
          <p:nvPr/>
        </p:nvSpPr>
        <p:spPr>
          <a:xfrm>
            <a:off x="640080" y="2834640"/>
            <a:ext cx="3429000" cy="0"/>
          </a:xfrm>
          <a:prstGeom prst="line">
            <a:avLst/>
          </a:prstGeom>
          <a:noFill/>
          <a:ln w="12700">
            <a:solidFill>
              <a:srgbClr val="262B33"/>
            </a:solidFill>
            <a:prstDash val="solid"/>
          </a:ln>
        </p:spPr>
      </p:sp>
      <p:sp>
        <p:nvSpPr>
          <p:cNvPr id="8" name="Text 6"/>
          <p:cNvSpPr txBox="1"/>
          <p:nvPr/>
        </p:nvSpPr>
        <p:spPr>
          <a:xfrm>
            <a:off x="896112"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FD7D9"/>
                </a:solidFill>
                <a:latin typeface="Arial" panose="020B0604020202020204" pitchFamily="34" charset="0"/>
                <a:ea typeface="Arial" pitchFamily="34" charset="-122"/>
                <a:cs typeface="Arial" panose="020B0604020202020204" pitchFamily="34" charset="0"/>
              </a:rPr>
              <a:t>Không đồng bộ Tablet &amp; POS</a:t>
            </a:r>
            <a:endParaRPr lang="en-US" sz="1400" dirty="0">
              <a:latin typeface="Arial" panose="020B0604020202020204" pitchFamily="34" charset="0"/>
              <a:cs typeface="Arial" panose="020B0604020202020204" pitchFamily="34" charset="0"/>
            </a:endParaRPr>
          </a:p>
        </p:txBody>
      </p:sp>
      <p:sp>
        <p:nvSpPr>
          <p:cNvPr id="9" name="Shape 7"/>
          <p:cNvSpPr/>
          <p:nvPr/>
        </p:nvSpPr>
        <p:spPr>
          <a:xfrm>
            <a:off x="896112" y="3090672"/>
            <a:ext cx="73152" cy="73152"/>
          </a:xfrm>
          <a:prstGeom prst="ellipse">
            <a:avLst/>
          </a:prstGeom>
          <a:solidFill>
            <a:srgbClr val="E5555C"/>
          </a:solidFill>
          <a:ln/>
        </p:spPr>
      </p:sp>
      <p:sp>
        <p:nvSpPr>
          <p:cNvPr id="10" name="Text 8"/>
          <p:cNvSpPr txBox="1"/>
          <p:nvPr/>
        </p:nvSpPr>
        <p:spPr>
          <a:xfrm>
            <a:off x="1097280" y="3044953"/>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Tiếp tục mất cơ hội bán hàng</a:t>
            </a:r>
            <a:endParaRPr lang="en-US" sz="1200" dirty="0">
              <a:latin typeface="Arial" panose="020B0604020202020204" pitchFamily="34" charset="0"/>
              <a:cs typeface="Arial" panose="020B0604020202020204" pitchFamily="34" charset="0"/>
            </a:endParaRPr>
          </a:p>
        </p:txBody>
      </p:sp>
      <p:sp>
        <p:nvSpPr>
          <p:cNvPr id="11" name="Shape 9"/>
          <p:cNvSpPr/>
          <p:nvPr/>
        </p:nvSpPr>
        <p:spPr>
          <a:xfrm>
            <a:off x="896112" y="3749040"/>
            <a:ext cx="73152" cy="73152"/>
          </a:xfrm>
          <a:prstGeom prst="ellipse">
            <a:avLst/>
          </a:prstGeom>
          <a:solidFill>
            <a:srgbClr val="E5555C"/>
          </a:solidFill>
          <a:ln/>
        </p:spPr>
      </p:sp>
      <p:sp>
        <p:nvSpPr>
          <p:cNvPr id="12" name="Text 10"/>
          <p:cNvSpPr txBox="1"/>
          <p:nvPr/>
        </p:nvSpPr>
        <p:spPr>
          <a:xfrm>
            <a:off x="1097280"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Lobby khó đạt target</a:t>
            </a:r>
            <a:endParaRPr lang="en-US" sz="1200" dirty="0">
              <a:latin typeface="Arial" panose="020B0604020202020204" pitchFamily="34" charset="0"/>
              <a:cs typeface="Arial" panose="020B0604020202020204" pitchFamily="34" charset="0"/>
            </a:endParaRPr>
          </a:p>
        </p:txBody>
      </p:sp>
      <p:sp>
        <p:nvSpPr>
          <p:cNvPr id="13" name="Shape 11"/>
          <p:cNvSpPr/>
          <p:nvPr/>
        </p:nvSpPr>
        <p:spPr>
          <a:xfrm>
            <a:off x="896112" y="4407408"/>
            <a:ext cx="73152" cy="73152"/>
          </a:xfrm>
          <a:prstGeom prst="ellipse">
            <a:avLst/>
          </a:prstGeom>
          <a:solidFill>
            <a:srgbClr val="E5555C"/>
          </a:solidFill>
          <a:ln/>
        </p:spPr>
      </p:sp>
      <p:sp>
        <p:nvSpPr>
          <p:cNvPr id="14" name="Text 12"/>
          <p:cNvSpPr txBox="1"/>
          <p:nvPr/>
        </p:nvSpPr>
        <p:spPr>
          <a:xfrm>
            <a:off x="1097280"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Khó cạnh tranh với CO</a:t>
            </a:r>
            <a:endParaRPr lang="en-US" sz="1200" dirty="0">
              <a:latin typeface="Arial" panose="020B0604020202020204" pitchFamily="34" charset="0"/>
              <a:cs typeface="Arial" panose="020B0604020202020204" pitchFamily="34" charset="0"/>
            </a:endParaRPr>
          </a:p>
        </p:txBody>
      </p:sp>
      <p:sp>
        <p:nvSpPr>
          <p:cNvPr id="15" name="Shape 13"/>
          <p:cNvSpPr/>
          <p:nvPr/>
        </p:nvSpPr>
        <p:spPr>
          <a:xfrm>
            <a:off x="4379976" y="2057400"/>
            <a:ext cx="3429000" cy="3017520"/>
          </a:xfrm>
          <a:prstGeom prst="roundRect">
            <a:avLst>
              <a:gd name="adj" fmla="val 3030"/>
            </a:avLst>
          </a:prstGeom>
          <a:solidFill>
            <a:srgbClr val="15181D"/>
          </a:solidFill>
          <a:ln w="12700">
            <a:solidFill>
              <a:srgbClr val="E5555C"/>
            </a:solidFill>
            <a:prstDash val="solid"/>
          </a:ln>
        </p:spPr>
      </p:sp>
      <p:sp>
        <p:nvSpPr>
          <p:cNvPr id="16" name="Shape 14"/>
          <p:cNvSpPr/>
          <p:nvPr/>
        </p:nvSpPr>
        <p:spPr>
          <a:xfrm>
            <a:off x="4379976" y="2834640"/>
            <a:ext cx="3429000" cy="0"/>
          </a:xfrm>
          <a:prstGeom prst="line">
            <a:avLst/>
          </a:prstGeom>
          <a:noFill/>
          <a:ln w="12700">
            <a:solidFill>
              <a:srgbClr val="262B33"/>
            </a:solidFill>
            <a:prstDash val="solid"/>
          </a:ln>
        </p:spPr>
      </p:sp>
      <p:sp>
        <p:nvSpPr>
          <p:cNvPr id="17" name="Text 15"/>
          <p:cNvSpPr txBox="1"/>
          <p:nvPr/>
        </p:nvSpPr>
        <p:spPr>
          <a:xfrm>
            <a:off x="4636008"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FD7D9"/>
                </a:solidFill>
                <a:latin typeface="Arial" panose="020B0604020202020204" pitchFamily="34" charset="0"/>
                <a:ea typeface="Arial" pitchFamily="34" charset="-122"/>
                <a:cs typeface="Arial" panose="020B0604020202020204" pitchFamily="34" charset="0"/>
              </a:rPr>
              <a:t>Không tự động hóa Redeem</a:t>
            </a:r>
            <a:endParaRPr lang="en-US" sz="1400" dirty="0">
              <a:latin typeface="Arial" panose="020B0604020202020204" pitchFamily="34" charset="0"/>
              <a:cs typeface="Arial" panose="020B0604020202020204" pitchFamily="34" charset="0"/>
            </a:endParaRPr>
          </a:p>
        </p:txBody>
      </p:sp>
      <p:sp>
        <p:nvSpPr>
          <p:cNvPr id="18" name="Shape 16"/>
          <p:cNvSpPr/>
          <p:nvPr/>
        </p:nvSpPr>
        <p:spPr>
          <a:xfrm>
            <a:off x="4636008" y="3090672"/>
            <a:ext cx="73152" cy="73152"/>
          </a:xfrm>
          <a:prstGeom prst="ellipse">
            <a:avLst/>
          </a:prstGeom>
          <a:solidFill>
            <a:srgbClr val="E5555C"/>
          </a:solidFill>
          <a:ln/>
        </p:spPr>
      </p:sp>
      <p:sp>
        <p:nvSpPr>
          <p:cNvPr id="19" name="Text 17"/>
          <p:cNvSpPr txBox="1"/>
          <p:nvPr/>
        </p:nvSpPr>
        <p:spPr>
          <a:xfrm>
            <a:off x="4837176" y="303562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Phụ thuộc thao tác thủ công</a:t>
            </a:r>
            <a:endParaRPr lang="en-US" sz="1200" dirty="0">
              <a:latin typeface="Arial" panose="020B0604020202020204" pitchFamily="34" charset="0"/>
              <a:cs typeface="Arial" panose="020B0604020202020204" pitchFamily="34" charset="0"/>
            </a:endParaRPr>
          </a:p>
        </p:txBody>
      </p:sp>
      <p:sp>
        <p:nvSpPr>
          <p:cNvPr id="20" name="Shape 18"/>
          <p:cNvSpPr/>
          <p:nvPr/>
        </p:nvSpPr>
        <p:spPr>
          <a:xfrm>
            <a:off x="4636008" y="3749040"/>
            <a:ext cx="73152" cy="73152"/>
          </a:xfrm>
          <a:prstGeom prst="ellipse">
            <a:avLst/>
          </a:prstGeom>
          <a:solidFill>
            <a:srgbClr val="E5555C"/>
          </a:solidFill>
          <a:ln/>
        </p:spPr>
      </p:sp>
      <p:sp>
        <p:nvSpPr>
          <p:cNvPr id="21" name="Text 19"/>
          <p:cNvSpPr txBox="1"/>
          <p:nvPr/>
        </p:nvSpPr>
        <p:spPr>
          <a:xfrm>
            <a:off x="4837176"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Nguy cơ lệch tồn kho</a:t>
            </a:r>
            <a:endParaRPr lang="en-US" sz="1200" dirty="0">
              <a:latin typeface="Arial" panose="020B0604020202020204" pitchFamily="34" charset="0"/>
              <a:cs typeface="Arial" panose="020B0604020202020204" pitchFamily="34" charset="0"/>
            </a:endParaRPr>
          </a:p>
        </p:txBody>
      </p:sp>
      <p:sp>
        <p:nvSpPr>
          <p:cNvPr id="22" name="Shape 20"/>
          <p:cNvSpPr/>
          <p:nvPr/>
        </p:nvSpPr>
        <p:spPr>
          <a:xfrm>
            <a:off x="4636008" y="4407408"/>
            <a:ext cx="73152" cy="73152"/>
          </a:xfrm>
          <a:prstGeom prst="ellipse">
            <a:avLst/>
          </a:prstGeom>
          <a:solidFill>
            <a:srgbClr val="E5555C"/>
          </a:solidFill>
          <a:ln/>
        </p:spPr>
      </p:sp>
      <p:sp>
        <p:nvSpPr>
          <p:cNvPr id="23" name="Text 21"/>
          <p:cNvSpPr txBox="1"/>
          <p:nvPr/>
        </p:nvSpPr>
        <p:spPr>
          <a:xfrm>
            <a:off x="4837176"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Tốn thời gian đối soát</a:t>
            </a:r>
            <a:endParaRPr lang="en-US" sz="1200" dirty="0">
              <a:latin typeface="Arial" panose="020B0604020202020204" pitchFamily="34" charset="0"/>
              <a:cs typeface="Arial" panose="020B0604020202020204" pitchFamily="34" charset="0"/>
            </a:endParaRPr>
          </a:p>
        </p:txBody>
      </p:sp>
      <p:sp>
        <p:nvSpPr>
          <p:cNvPr id="24" name="Shape 22"/>
          <p:cNvSpPr/>
          <p:nvPr/>
        </p:nvSpPr>
        <p:spPr>
          <a:xfrm>
            <a:off x="8119872" y="2057400"/>
            <a:ext cx="3429000" cy="3017520"/>
          </a:xfrm>
          <a:prstGeom prst="roundRect">
            <a:avLst>
              <a:gd name="adj" fmla="val 3030"/>
            </a:avLst>
          </a:prstGeom>
          <a:solidFill>
            <a:srgbClr val="15181D"/>
          </a:solidFill>
          <a:ln w="12700">
            <a:solidFill>
              <a:srgbClr val="E5555C"/>
            </a:solidFill>
            <a:prstDash val="solid"/>
          </a:ln>
        </p:spPr>
      </p:sp>
      <p:sp>
        <p:nvSpPr>
          <p:cNvPr id="25" name="Shape 23"/>
          <p:cNvSpPr/>
          <p:nvPr/>
        </p:nvSpPr>
        <p:spPr>
          <a:xfrm>
            <a:off x="8119872" y="2834640"/>
            <a:ext cx="3429000" cy="0"/>
          </a:xfrm>
          <a:prstGeom prst="line">
            <a:avLst/>
          </a:prstGeom>
          <a:noFill/>
          <a:ln w="12700">
            <a:solidFill>
              <a:srgbClr val="262B33"/>
            </a:solidFill>
            <a:prstDash val="solid"/>
          </a:ln>
        </p:spPr>
      </p:sp>
      <p:sp>
        <p:nvSpPr>
          <p:cNvPr id="26" name="Text 24"/>
          <p:cNvSpPr txBox="1"/>
          <p:nvPr/>
        </p:nvSpPr>
        <p:spPr>
          <a:xfrm>
            <a:off x="8375904" y="2221992"/>
            <a:ext cx="2916936" cy="594360"/>
          </a:xfrm>
          <a:prstGeom prst="rect">
            <a:avLst/>
          </a:prstGeom>
          <a:noFill/>
          <a:ln/>
        </p:spPr>
        <p:txBody>
          <a:bodyPr wrap="square" lIns="0" tIns="0" rIns="0" bIns="0" rtlCol="0" anchor="ctr"/>
          <a:lstStyle/>
          <a:p>
            <a:pPr marL="0" indent="0">
              <a:lnSpc>
                <a:spcPct val="110000"/>
              </a:lnSpc>
              <a:buNone/>
            </a:pPr>
            <a:r>
              <a:rPr lang="en-US" sz="1400" b="1" dirty="0">
                <a:solidFill>
                  <a:srgbClr val="FFD7D9"/>
                </a:solidFill>
                <a:latin typeface="Arial" panose="020B0604020202020204" pitchFamily="34" charset="0"/>
                <a:ea typeface="Arial" pitchFamily="34" charset="-122"/>
                <a:cs typeface="Arial" panose="020B0604020202020204" pitchFamily="34" charset="0"/>
              </a:rPr>
              <a:t>Không rút gọn Feedback</a:t>
            </a:r>
            <a:endParaRPr lang="en-US" sz="1400" dirty="0">
              <a:latin typeface="Arial" panose="020B0604020202020204" pitchFamily="34" charset="0"/>
              <a:cs typeface="Arial" panose="020B0604020202020204" pitchFamily="34" charset="0"/>
            </a:endParaRPr>
          </a:p>
        </p:txBody>
      </p:sp>
      <p:sp>
        <p:nvSpPr>
          <p:cNvPr id="27" name="Shape 25"/>
          <p:cNvSpPr/>
          <p:nvPr/>
        </p:nvSpPr>
        <p:spPr>
          <a:xfrm>
            <a:off x="8375904" y="3090672"/>
            <a:ext cx="73152" cy="73152"/>
          </a:xfrm>
          <a:prstGeom prst="ellipse">
            <a:avLst/>
          </a:prstGeom>
          <a:solidFill>
            <a:srgbClr val="E5555C"/>
          </a:solidFill>
          <a:ln/>
        </p:spPr>
      </p:sp>
      <p:sp>
        <p:nvSpPr>
          <p:cNvPr id="28" name="Text 26"/>
          <p:cNvSpPr txBox="1"/>
          <p:nvPr/>
        </p:nvSpPr>
        <p:spPr>
          <a:xfrm>
            <a:off x="8577072" y="3017520"/>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Khách mất thời gian</a:t>
            </a:r>
            <a:endParaRPr lang="en-US" sz="1200" dirty="0">
              <a:latin typeface="Arial" panose="020B0604020202020204" pitchFamily="34" charset="0"/>
              <a:cs typeface="Arial" panose="020B0604020202020204" pitchFamily="34" charset="0"/>
            </a:endParaRPr>
          </a:p>
        </p:txBody>
      </p:sp>
      <p:sp>
        <p:nvSpPr>
          <p:cNvPr id="29" name="Shape 27"/>
          <p:cNvSpPr/>
          <p:nvPr/>
        </p:nvSpPr>
        <p:spPr>
          <a:xfrm>
            <a:off x="8375904" y="3749040"/>
            <a:ext cx="73152" cy="73152"/>
          </a:xfrm>
          <a:prstGeom prst="ellipse">
            <a:avLst/>
          </a:prstGeom>
          <a:solidFill>
            <a:srgbClr val="E5555C"/>
          </a:solidFill>
          <a:ln/>
        </p:spPr>
      </p:sp>
      <p:sp>
        <p:nvSpPr>
          <p:cNvPr id="30" name="Text 28"/>
          <p:cNvSpPr txBox="1"/>
          <p:nvPr/>
        </p:nvSpPr>
        <p:spPr>
          <a:xfrm>
            <a:off x="8577072" y="3675888"/>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Có thể bỏ khảo sát giữa chừng</a:t>
            </a:r>
            <a:endParaRPr lang="en-US" sz="1200" dirty="0">
              <a:latin typeface="Arial" panose="020B0604020202020204" pitchFamily="34" charset="0"/>
              <a:cs typeface="Arial" panose="020B0604020202020204" pitchFamily="34" charset="0"/>
            </a:endParaRPr>
          </a:p>
        </p:txBody>
      </p:sp>
      <p:sp>
        <p:nvSpPr>
          <p:cNvPr id="31" name="Shape 29"/>
          <p:cNvSpPr/>
          <p:nvPr/>
        </p:nvSpPr>
        <p:spPr>
          <a:xfrm>
            <a:off x="8375904" y="4407408"/>
            <a:ext cx="73152" cy="73152"/>
          </a:xfrm>
          <a:prstGeom prst="ellipse">
            <a:avLst/>
          </a:prstGeom>
          <a:solidFill>
            <a:srgbClr val="E5555C"/>
          </a:solidFill>
          <a:ln/>
        </p:spPr>
      </p:sp>
      <p:sp>
        <p:nvSpPr>
          <p:cNvPr id="32" name="Text 30"/>
          <p:cNvSpPr txBox="1"/>
          <p:nvPr/>
        </p:nvSpPr>
        <p:spPr>
          <a:xfrm>
            <a:off x="8577072" y="4334256"/>
            <a:ext cx="2715768" cy="594360"/>
          </a:xfrm>
          <a:prstGeom prst="rect">
            <a:avLst/>
          </a:prstGeom>
          <a:noFill/>
          <a:ln/>
        </p:spPr>
        <p:txBody>
          <a:bodyPr wrap="square" lIns="0" tIns="0" rIns="0" bIns="0" rtlCol="0" anchor="ctr"/>
          <a:lstStyle/>
          <a:p>
            <a:pPr marL="0" indent="0">
              <a:lnSpc>
                <a:spcPct val="115000"/>
              </a:lnSpc>
              <a:buNone/>
            </a:pPr>
            <a:r>
              <a:rPr lang="en-US" sz="1200" dirty="0">
                <a:solidFill>
                  <a:srgbClr val="C7CCD1"/>
                </a:solidFill>
                <a:latin typeface="Arial" panose="020B0604020202020204" pitchFamily="34" charset="0"/>
                <a:ea typeface="Calibri" pitchFamily="34" charset="-122"/>
                <a:cs typeface="Arial" panose="020B0604020202020204" pitchFamily="34" charset="0"/>
              </a:rPr>
              <a:t>Data kém chất lượng</a:t>
            </a:r>
            <a:endParaRPr lang="en-US" sz="1200" dirty="0">
              <a:latin typeface="Arial" panose="020B0604020202020204" pitchFamily="34" charset="0"/>
              <a:cs typeface="Arial" panose="020B0604020202020204" pitchFamily="34" charset="0"/>
            </a:endParaRPr>
          </a:p>
        </p:txBody>
      </p:sp>
      <p:sp>
        <p:nvSpPr>
          <p:cNvPr id="33" name="Shape 31"/>
          <p:cNvSpPr/>
          <p:nvPr/>
        </p:nvSpPr>
        <p:spPr>
          <a:xfrm>
            <a:off x="640080" y="5349240"/>
            <a:ext cx="10908792" cy="777240"/>
          </a:xfrm>
          <a:prstGeom prst="roundRect">
            <a:avLst>
              <a:gd name="adj" fmla="val 10588"/>
            </a:avLst>
          </a:prstGeom>
          <a:solidFill>
            <a:srgbClr val="371619"/>
          </a:solidFill>
          <a:ln w="12700">
            <a:solidFill>
              <a:srgbClr val="E5555C"/>
            </a:solidFill>
            <a:prstDash val="solid"/>
          </a:ln>
        </p:spPr>
      </p:sp>
      <p:sp>
        <p:nvSpPr>
          <p:cNvPr id="34" name="Text 32"/>
          <p:cNvSpPr txBox="1"/>
          <p:nvPr/>
        </p:nvSpPr>
        <p:spPr>
          <a:xfrm>
            <a:off x="960120" y="5349240"/>
            <a:ext cx="10268712" cy="777240"/>
          </a:xfrm>
          <a:prstGeom prst="rect">
            <a:avLst/>
          </a:prstGeom>
          <a:noFill/>
          <a:ln/>
        </p:spPr>
        <p:txBody>
          <a:bodyPr wrap="square" lIns="0" tIns="0" rIns="0" bIns="0" rtlCol="0" anchor="ctr"/>
          <a:lstStyle/>
          <a:p>
            <a:pPr marL="0" indent="0" algn="l">
              <a:buNone/>
            </a:pPr>
            <a:r>
              <a:rPr lang="en-US" sz="1600" b="1" dirty="0">
                <a:solidFill>
                  <a:srgbClr val="FFD7D9"/>
                </a:solidFill>
                <a:latin typeface="Arial" panose="020B0604020202020204" pitchFamily="34" charset="0"/>
                <a:ea typeface="Arial" pitchFamily="34" charset="-122"/>
                <a:cs typeface="Arial" panose="020B0604020202020204" pitchFamily="34" charset="0"/>
              </a:rPr>
              <a:t>Nếu không thay đổi, những điểm gãy này sẽ tiếp tục lặp lại </a:t>
            </a:r>
            <a:r>
              <a:rPr lang="en-US" sz="1600" b="1" dirty="0" err="1">
                <a:solidFill>
                  <a:srgbClr val="FFD7D9"/>
                </a:solidFill>
                <a:latin typeface="Arial" panose="020B0604020202020204" pitchFamily="34" charset="0"/>
                <a:ea typeface="Arial" pitchFamily="34" charset="-122"/>
                <a:cs typeface="Arial" panose="020B0604020202020204" pitchFamily="34" charset="0"/>
              </a:rPr>
              <a:t>mỗi</a:t>
            </a:r>
            <a:r>
              <a:rPr lang="en-US" sz="1600" b="1" dirty="0">
                <a:solidFill>
                  <a:srgbClr val="FFD7D9"/>
                </a:solidFill>
                <a:latin typeface="Arial" panose="020B0604020202020204" pitchFamily="34" charset="0"/>
                <a:ea typeface="Arial" pitchFamily="34" charset="-122"/>
                <a:cs typeface="Arial" panose="020B0604020202020204" pitchFamily="34" charset="0"/>
              </a:rPr>
              <a:t> </a:t>
            </a:r>
            <a:r>
              <a:rPr lang="en-US" sz="1600" b="1" dirty="0" err="1">
                <a:solidFill>
                  <a:srgbClr val="FFD7D9"/>
                </a:solidFill>
                <a:latin typeface="Arial" panose="020B0604020202020204" pitchFamily="34" charset="0"/>
                <a:ea typeface="Arial" pitchFamily="34" charset="-122"/>
                <a:cs typeface="Arial" panose="020B0604020202020204" pitchFamily="34" charset="0"/>
              </a:rPr>
              <a:t>ngày</a:t>
            </a:r>
            <a:r>
              <a:rPr lang="vi-VN" sz="1600" b="1" dirty="0">
                <a:solidFill>
                  <a:srgbClr val="FFD7D9"/>
                </a:solidFill>
                <a:latin typeface="Arial" panose="020B0604020202020204" pitchFamily="34" charset="0"/>
                <a:ea typeface="Arial" pitchFamily="34" charset="-122"/>
                <a:cs typeface="Arial" panose="020B0604020202020204" pitchFamily="34" charset="0"/>
              </a:rPr>
              <a:t> và trở thành một vòng lặp.</a:t>
            </a:r>
            <a:endParaRPr lang="en-US" sz="1600" dirty="0">
              <a:latin typeface="Arial" panose="020B0604020202020204" pitchFamily="34" charset="0"/>
              <a:cs typeface="Arial" panose="020B0604020202020204" pitchFamily="34" charset="0"/>
            </a:endParaRPr>
          </a:p>
        </p:txBody>
      </p:sp>
      <p:sp>
        <p:nvSpPr>
          <p:cNvPr id="35" name="Shape 33"/>
          <p:cNvSpPr/>
          <p:nvPr/>
        </p:nvSpPr>
        <p:spPr>
          <a:xfrm>
            <a:off x="640080" y="6382512"/>
            <a:ext cx="10908792" cy="0"/>
          </a:xfrm>
          <a:prstGeom prst="line">
            <a:avLst/>
          </a:prstGeom>
          <a:noFill/>
          <a:ln w="9525">
            <a:solidFill>
              <a:srgbClr val="262B33"/>
            </a:solidFill>
            <a:prstDash val="solid"/>
          </a:ln>
        </p:spPr>
      </p:sp>
      <p:sp>
        <p:nvSpPr>
          <p:cNvPr id="36" name="Text 34"/>
          <p:cNvSpPr txBox="1"/>
          <p:nvPr/>
        </p:nvSpPr>
        <p:spPr>
          <a:xfrm>
            <a:off x="640080" y="6455664"/>
            <a:ext cx="6400800" cy="274320"/>
          </a:xfrm>
          <a:prstGeom prst="rect">
            <a:avLst/>
          </a:prstGeom>
          <a:noFill/>
          <a:ln/>
        </p:spPr>
        <p:txBody>
          <a:bodyPr wrap="square" lIns="0" tIns="0" rIns="0" bIns="0" rtlCol="0" anchor="ctr"/>
          <a:lstStyle/>
          <a:p>
            <a:pPr marL="0" indent="0">
              <a:buNone/>
            </a:pPr>
            <a:r>
              <a:rPr lang="en-US" sz="900" kern="0" spc="140" dirty="0">
                <a:solidFill>
                  <a:srgbClr val="82888F"/>
                </a:solidFill>
                <a:latin typeface="Arial" panose="020B0604020202020204" pitchFamily="34" charset="0"/>
                <a:ea typeface="Calibri" pitchFamily="34" charset="-122"/>
                <a:cs typeface="Arial" panose="020B0604020202020204" pitchFamily="34" charset="0"/>
              </a:rPr>
              <a:t>WHAT IF WE DO NOTHING</a:t>
            </a:r>
            <a:endParaRPr lang="en-US" sz="900"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D10"/>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F5A623">
              <a:alpha val="8000"/>
            </a:srgbClr>
          </a:solidFill>
          <a:ln/>
        </p:spPr>
      </p:sp>
      <p:sp>
        <p:nvSpPr>
          <p:cNvPr id="3" name="Shape 1"/>
          <p:cNvSpPr/>
          <p:nvPr/>
        </p:nvSpPr>
        <p:spPr>
          <a:xfrm>
            <a:off x="-2286000" y="4389120"/>
            <a:ext cx="5029200" cy="5029200"/>
          </a:xfrm>
          <a:prstGeom prst="ellipse">
            <a:avLst/>
          </a:prstGeom>
          <a:solidFill>
            <a:srgbClr val="F5A623">
              <a:alpha val="6000"/>
            </a:srgbClr>
          </a:solidFill>
          <a:ln/>
        </p:spPr>
      </p:sp>
      <p:sp>
        <p:nvSpPr>
          <p:cNvPr id="4" name="Text 2"/>
          <p:cNvSpPr txBox="1"/>
          <p:nvPr/>
        </p:nvSpPr>
        <p:spPr>
          <a:xfrm>
            <a:off x="777240" y="1051560"/>
            <a:ext cx="10607040" cy="123444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LOBBY LOOP</a:t>
            </a:r>
            <a:endParaRPr lang="en-US" sz="6000" dirty="0"/>
          </a:p>
        </p:txBody>
      </p:sp>
      <p:sp>
        <p:nvSpPr>
          <p:cNvPr id="5" name="Shape 3"/>
          <p:cNvSpPr/>
          <p:nvPr/>
        </p:nvSpPr>
        <p:spPr>
          <a:xfrm>
            <a:off x="841248" y="2331720"/>
            <a:ext cx="2011680" cy="0"/>
          </a:xfrm>
          <a:prstGeom prst="line">
            <a:avLst/>
          </a:prstGeom>
          <a:noFill/>
          <a:ln w="31750">
            <a:solidFill>
              <a:srgbClr val="F5A623"/>
            </a:solidFill>
            <a:prstDash val="solid"/>
          </a:ln>
        </p:spPr>
      </p:sp>
      <p:sp>
        <p:nvSpPr>
          <p:cNvPr id="6" name="Text 4"/>
          <p:cNvSpPr txBox="1"/>
          <p:nvPr/>
        </p:nvSpPr>
        <p:spPr>
          <a:xfrm>
            <a:off x="822960" y="2606040"/>
            <a:ext cx="9601200" cy="1371600"/>
          </a:xfrm>
          <a:prstGeom prst="rect">
            <a:avLst/>
          </a:prstGeom>
          <a:noFill/>
          <a:ln/>
        </p:spPr>
        <p:txBody>
          <a:bodyPr wrap="square" lIns="0" tIns="0" rIns="0" bIns="0" rtlCol="0" anchor="ctr"/>
          <a:lstStyle/>
          <a:p>
            <a:pPr marL="0" indent="0">
              <a:lnSpc>
                <a:spcPct val="135000"/>
              </a:lnSpc>
              <a:buNone/>
            </a:pPr>
            <a:r>
              <a:rPr lang="en-US" sz="1700" dirty="0">
                <a:solidFill>
                  <a:srgbClr val="C7CCD1"/>
                </a:solidFill>
                <a:latin typeface="Calibri" pitchFamily="34" charset="0"/>
                <a:ea typeface="Calibri" pitchFamily="34" charset="-122"/>
                <a:cs typeface="Calibri" pitchFamily="34" charset="-120"/>
              </a:rPr>
              <a:t>Không chỉ giải quyết một vấn đề tại Lobby.</a:t>
            </a:r>
            <a:endParaRPr lang="en-US" sz="1700" dirty="0"/>
          </a:p>
          <a:p>
            <a:pPr marL="0" indent="0">
              <a:lnSpc>
                <a:spcPct val="135000"/>
              </a:lnSpc>
              <a:buNone/>
            </a:pPr>
            <a:r>
              <a:rPr lang="en-US" sz="1700" dirty="0">
                <a:solidFill>
                  <a:srgbClr val="C7CCD1"/>
                </a:solidFill>
                <a:latin typeface="Calibri" pitchFamily="34" charset="0"/>
                <a:ea typeface="Calibri" pitchFamily="34" charset="-122"/>
                <a:cs typeface="Calibri" pitchFamily="34" charset="-120"/>
              </a:rPr>
              <a:t>Chúng tôi xây dựng một luồng vận hành đơn giản hơn cho nhân viên,</a:t>
            </a:r>
            <a:endParaRPr lang="en-US" sz="1700" dirty="0"/>
          </a:p>
          <a:p>
            <a:pPr marL="0" indent="0">
              <a:lnSpc>
                <a:spcPct val="135000"/>
              </a:lnSpc>
              <a:buNone/>
            </a:pPr>
            <a:r>
              <a:rPr lang="en-US" sz="1700" dirty="0">
                <a:solidFill>
                  <a:srgbClr val="C7CCD1"/>
                </a:solidFill>
                <a:latin typeface="Calibri" pitchFamily="34" charset="0"/>
                <a:ea typeface="Calibri" pitchFamily="34" charset="-122"/>
                <a:cs typeface="Calibri" pitchFamily="34" charset="-120"/>
              </a:rPr>
              <a:t>thuận tiện hơn cho khách hàng, và hiệu quả hơn cho doanh nghiệp.</a:t>
            </a:r>
            <a:endParaRPr lang="en-US" sz="1700" dirty="0"/>
          </a:p>
        </p:txBody>
      </p:sp>
      <p:sp>
        <p:nvSpPr>
          <p:cNvPr id="7" name="Text 5"/>
          <p:cNvSpPr txBox="1"/>
          <p:nvPr/>
        </p:nvSpPr>
        <p:spPr>
          <a:xfrm>
            <a:off x="822960" y="4343400"/>
            <a:ext cx="7315200" cy="548640"/>
          </a:xfrm>
          <a:prstGeom prst="rect">
            <a:avLst/>
          </a:prstGeom>
          <a:noFill/>
          <a:ln/>
        </p:spPr>
        <p:txBody>
          <a:bodyPr wrap="square" lIns="0" tIns="0" rIns="0" bIns="0" rtlCol="0" anchor="ctr"/>
          <a:lstStyle/>
          <a:p>
            <a:pPr marL="0" indent="0">
              <a:buNone/>
            </a:pPr>
            <a:r>
              <a:rPr lang="en-US" sz="2600" b="1" kern="0" spc="100" dirty="0">
                <a:solidFill>
                  <a:srgbClr val="F5A623"/>
                </a:solidFill>
                <a:latin typeface="Arial" pitchFamily="34" charset="0"/>
                <a:ea typeface="Arial" pitchFamily="34" charset="-122"/>
                <a:cs typeface="Arial" pitchFamily="34" charset="-120"/>
              </a:rPr>
              <a:t>SELL MORE.</a:t>
            </a:r>
            <a:endParaRPr lang="en-US" sz="2600" dirty="0"/>
          </a:p>
        </p:txBody>
      </p:sp>
      <p:sp>
        <p:nvSpPr>
          <p:cNvPr id="8" name="Text 6"/>
          <p:cNvSpPr txBox="1"/>
          <p:nvPr/>
        </p:nvSpPr>
        <p:spPr>
          <a:xfrm>
            <a:off x="822960" y="4910328"/>
            <a:ext cx="7315200" cy="548640"/>
          </a:xfrm>
          <a:prstGeom prst="rect">
            <a:avLst/>
          </a:prstGeom>
          <a:noFill/>
          <a:ln/>
        </p:spPr>
        <p:txBody>
          <a:bodyPr wrap="square" lIns="0" tIns="0" rIns="0" bIns="0" rtlCol="0" anchor="ctr"/>
          <a:lstStyle/>
          <a:p>
            <a:pPr marL="0" indent="0">
              <a:buNone/>
            </a:pPr>
            <a:r>
              <a:rPr lang="en-US" sz="2600" b="1" kern="0" spc="100" dirty="0">
                <a:solidFill>
                  <a:srgbClr val="34D399"/>
                </a:solidFill>
                <a:latin typeface="Arial" pitchFamily="34" charset="0"/>
                <a:ea typeface="Arial" pitchFamily="34" charset="-122"/>
                <a:cs typeface="Arial" pitchFamily="34" charset="-120"/>
              </a:rPr>
              <a:t>WORK SMARTER.</a:t>
            </a:r>
            <a:endParaRPr lang="en-US" sz="2600" dirty="0"/>
          </a:p>
        </p:txBody>
      </p:sp>
      <p:sp>
        <p:nvSpPr>
          <p:cNvPr id="9" name="Text 7"/>
          <p:cNvSpPr txBox="1"/>
          <p:nvPr/>
        </p:nvSpPr>
        <p:spPr>
          <a:xfrm>
            <a:off x="822960" y="5477256"/>
            <a:ext cx="7315200" cy="548640"/>
          </a:xfrm>
          <a:prstGeom prst="rect">
            <a:avLst/>
          </a:prstGeom>
          <a:noFill/>
          <a:ln/>
        </p:spPr>
        <p:txBody>
          <a:bodyPr wrap="square" lIns="0" tIns="0" rIns="0" bIns="0" rtlCol="0" anchor="ctr"/>
          <a:lstStyle/>
          <a:p>
            <a:pPr marL="0" indent="0">
              <a:buNone/>
            </a:pPr>
            <a:r>
              <a:rPr lang="en-US" sz="2600" b="1" kern="0" spc="100" dirty="0">
                <a:solidFill>
                  <a:srgbClr val="FFFFFF"/>
                </a:solidFill>
                <a:latin typeface="Arial" pitchFamily="34" charset="0"/>
                <a:ea typeface="Arial" pitchFamily="34" charset="-122"/>
                <a:cs typeface="Arial" pitchFamily="34" charset="-120"/>
              </a:rPr>
              <a:t>LISTEN BETTER.</a:t>
            </a:r>
            <a:endParaRPr lang="en-US" sz="2600" dirty="0"/>
          </a:p>
        </p:txBody>
      </p:sp>
      <p:sp>
        <p:nvSpPr>
          <p:cNvPr id="10" name="Text 8"/>
          <p:cNvSpPr txBox="1"/>
          <p:nvPr/>
        </p:nvSpPr>
        <p:spPr>
          <a:xfrm>
            <a:off x="822960" y="6318504"/>
            <a:ext cx="7315200" cy="457200"/>
          </a:xfrm>
          <a:prstGeom prst="rect">
            <a:avLst/>
          </a:prstGeom>
          <a:noFill/>
          <a:ln/>
        </p:spPr>
        <p:txBody>
          <a:bodyPr wrap="square" lIns="0" tIns="0" rIns="0" bIns="0" rtlCol="0" anchor="ctr"/>
          <a:lstStyle/>
          <a:p>
            <a:pPr marL="0" indent="0">
              <a:buNone/>
            </a:pPr>
            <a:r>
              <a:rPr lang="en-US" sz="1300" b="1" kern="0" spc="300" dirty="0">
                <a:solidFill>
                  <a:srgbClr val="82888F"/>
                </a:solidFill>
                <a:latin typeface="Calibri" pitchFamily="34" charset="0"/>
                <a:ea typeface="Calibri" pitchFamily="34" charset="-122"/>
                <a:cs typeface="Calibri" pitchFamily="34" charset="-120"/>
              </a:rPr>
              <a:t>LOBBY LOOP.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TotalTime>
  <Words>2874</Words>
  <Application>Microsoft Office PowerPoint</Application>
  <PresentationFormat>Widescreen</PresentationFormat>
  <Paragraphs>250</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Nguyen Lan</cp:lastModifiedBy>
  <cp:revision>3</cp:revision>
  <dcterms:created xsi:type="dcterms:W3CDTF">2026-09-05T03:34:25Z</dcterms:created>
  <dcterms:modified xsi:type="dcterms:W3CDTF">2026-09-10T03:41:35Z</dcterms:modified>
</cp:coreProperties>
</file>